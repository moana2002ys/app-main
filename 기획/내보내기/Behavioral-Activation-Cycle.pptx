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5" d="100"/>
          <a:sy n="155" d="100"/>
        </p:scale>
        <p:origin x="208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906059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svg"/><Relationship Id="rId7" Type="http://schemas.openxmlformats.org/officeDocument/2006/relationships/image" Target="../media/image20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svg"/><Relationship Id="rId5" Type="http://schemas.openxmlformats.org/officeDocument/2006/relationships/image" Target="../media/image18.svg"/><Relationship Id="rId4" Type="http://schemas.openxmlformats.org/officeDocument/2006/relationships/image" Target="../media/image17.sv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svg"/><Relationship Id="rId5" Type="http://schemas.openxmlformats.org/officeDocument/2006/relationships/image" Target="../media/image24.svg"/><Relationship Id="rId4" Type="http://schemas.openxmlformats.org/officeDocument/2006/relationships/image" Target="../media/image23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7" Type="http://schemas.openxmlformats.org/officeDocument/2006/relationships/image" Target="../media/image30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svg"/><Relationship Id="rId5" Type="http://schemas.openxmlformats.org/officeDocument/2006/relationships/image" Target="../media/image28.svg"/><Relationship Id="rId4" Type="http://schemas.openxmlformats.org/officeDocument/2006/relationships/image" Target="../media/image27.sv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svg"/><Relationship Id="rId3" Type="http://schemas.openxmlformats.org/officeDocument/2006/relationships/image" Target="../media/image31.svg"/><Relationship Id="rId7" Type="http://schemas.openxmlformats.org/officeDocument/2006/relationships/image" Target="../media/image35.sv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svg"/><Relationship Id="rId5" Type="http://schemas.openxmlformats.org/officeDocument/2006/relationships/image" Target="../media/image33.svg"/><Relationship Id="rId4" Type="http://schemas.openxmlformats.org/officeDocument/2006/relationships/image" Target="../media/image32.sv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svg"/><Relationship Id="rId7" Type="http://schemas.openxmlformats.org/officeDocument/2006/relationships/image" Target="../media/image41.sv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svg"/><Relationship Id="rId5" Type="http://schemas.openxmlformats.org/officeDocument/2006/relationships/image" Target="../media/image39.svg"/><Relationship Id="rId4" Type="http://schemas.openxmlformats.org/officeDocument/2006/relationships/image" Target="../media/image38.sv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5303490" y="-822945"/>
            <a:ext cx="4572000" cy="4572000"/>
          </a:xfrm>
          <a:prstGeom prst="ellipse">
            <a:avLst/>
          </a:prstGeom>
          <a:solidFill>
            <a:srgbClr val="FFD360">
              <a:alpha val="25098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4755766" y="3990045"/>
            <a:ext cx="638175" cy="638175"/>
          </a:xfrm>
          <a:prstGeom prst="roundRect">
            <a:avLst>
              <a:gd name="adj" fmla="val 25791"/>
            </a:avLst>
          </a:prstGeom>
          <a:solidFill>
            <a:srgbClr val="A7D9DB">
              <a:alpha val="50196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3932523" y="823578"/>
            <a:ext cx="309562" cy="309562"/>
          </a:xfrm>
          <a:prstGeom prst="roundRect">
            <a:avLst>
              <a:gd name="adj" fmla="val 29539"/>
            </a:avLst>
          </a:prstGeom>
          <a:solidFill>
            <a:srgbClr val="F3A162">
              <a:alpha val="50196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639142" y="397966"/>
            <a:ext cx="157163" cy="157163"/>
          </a:xfrm>
          <a:prstGeom prst="roundRect">
            <a:avLst>
              <a:gd name="adj" fmla="val 26182"/>
            </a:avLst>
          </a:prstGeom>
          <a:solidFill>
            <a:srgbClr val="FFD55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877639" y="364778"/>
            <a:ext cx="86520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20" b="1" kern="0" spc="98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조각조각</a:t>
            </a:r>
            <a:endParaRPr lang="en-US" sz="1220" dirty="0"/>
          </a:p>
        </p:txBody>
      </p:sp>
      <p:sp>
        <p:nvSpPr>
          <p:cNvPr id="8" name="Text 6"/>
          <p:cNvSpPr/>
          <p:nvPr/>
        </p:nvSpPr>
        <p:spPr>
          <a:xfrm>
            <a:off x="640035" y="1398240"/>
            <a:ext cx="273370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8982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 내부 보고 · 2026.07.22 개정판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40035" y="1642393"/>
            <a:ext cx="4172880" cy="500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880" b="1" kern="0" spc="-29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행동활성화(BA) 기반</a:t>
            </a:r>
            <a:endParaRPr lang="en-US" sz="2880" dirty="0"/>
          </a:p>
        </p:txBody>
      </p:sp>
      <p:sp>
        <p:nvSpPr>
          <p:cNvPr id="10" name="Text 8"/>
          <p:cNvSpPr/>
          <p:nvPr/>
        </p:nvSpPr>
        <p:spPr>
          <a:xfrm>
            <a:off x="640035" y="2059335"/>
            <a:ext cx="4740540" cy="500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880" b="1" kern="0" spc="-29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챌린지 사이클 개선 보고</a:t>
            </a:r>
            <a:endParaRPr lang="en-US" sz="2880" dirty="0"/>
          </a:p>
        </p:txBody>
      </p:sp>
      <p:sp>
        <p:nvSpPr>
          <p:cNvPr id="11" name="Shape 9"/>
          <p:cNvSpPr/>
          <p:nvPr/>
        </p:nvSpPr>
        <p:spPr>
          <a:xfrm>
            <a:off x="639068" y="2700263"/>
            <a:ext cx="733425" cy="28575"/>
          </a:xfrm>
          <a:prstGeom prst="roundRect">
            <a:avLst>
              <a:gd name="adj" fmla="val 50000"/>
            </a:avLst>
          </a:prstGeom>
          <a:solidFill>
            <a:srgbClr val="FFD55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640035" y="2919487"/>
            <a:ext cx="1751908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1418"/>
              </a:spcBef>
              <a:buNone/>
            </a:pPr>
            <a:r>
              <a:rPr lang="en-US" sz="1440" b="1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정민 · 예슬 · 지혜</a:t>
            </a:r>
            <a:endParaRPr lang="en-US" sz="1440" dirty="0"/>
          </a:p>
        </p:txBody>
      </p:sp>
      <p:sp>
        <p:nvSpPr>
          <p:cNvPr id="13" name="Shape 11"/>
          <p:cNvSpPr/>
          <p:nvPr/>
        </p:nvSpPr>
        <p:spPr>
          <a:xfrm>
            <a:off x="639254" y="3339517"/>
            <a:ext cx="3252788" cy="323850"/>
          </a:xfrm>
          <a:prstGeom prst="roundRect">
            <a:avLst>
              <a:gd name="adj" fmla="val 50000"/>
            </a:avLst>
          </a:prstGeom>
          <a:solidFill>
            <a:srgbClr val="4A443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805011" y="3456161"/>
            <a:ext cx="90488" cy="90488"/>
          </a:xfrm>
          <a:prstGeom prst="ellipse">
            <a:avLst/>
          </a:prstGeom>
          <a:solidFill>
            <a:srgbClr val="FFD55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978173" y="3399904"/>
            <a:ext cx="3630275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FDFB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조각조각 — 은둔·고립 청년을 위한 마음 챌린지</a:t>
            </a:r>
            <a:endParaRPr lang="en-US" sz="1120" dirty="0"/>
          </a:p>
        </p:txBody>
      </p:sp>
      <p:sp>
        <p:nvSpPr>
          <p:cNvPr id="16" name="Shape 14"/>
          <p:cNvSpPr/>
          <p:nvPr/>
        </p:nvSpPr>
        <p:spPr>
          <a:xfrm>
            <a:off x="5578376" y="1154906"/>
            <a:ext cx="2833687" cy="2833687"/>
          </a:xfrm>
          <a:prstGeom prst="ellipse">
            <a:avLst/>
          </a:prstGeom>
          <a:solidFill>
            <a:srgbClr val="FFD761">
              <a:alpha val="29804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65" y="1565895"/>
            <a:ext cx="2011635" cy="2011635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5622652" y="1702073"/>
            <a:ext cx="276225" cy="276225"/>
          </a:xfrm>
          <a:prstGeom prst="roundRect">
            <a:avLst>
              <a:gd name="adj" fmla="val 29793"/>
            </a:avLst>
          </a:prstGeom>
          <a:solidFill>
            <a:srgbClr val="A8DAD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6"/>
          <p:cNvSpPr/>
          <p:nvPr/>
        </p:nvSpPr>
        <p:spPr>
          <a:xfrm>
            <a:off x="8056104" y="3404034"/>
            <a:ext cx="219075" cy="219075"/>
          </a:xfrm>
          <a:prstGeom prst="roundRect">
            <a:avLst>
              <a:gd name="adj" fmla="val 29217"/>
            </a:avLst>
          </a:prstGeom>
          <a:solidFill>
            <a:srgbClr val="A2D2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7"/>
          <p:cNvSpPr/>
          <p:nvPr/>
        </p:nvSpPr>
        <p:spPr>
          <a:xfrm>
            <a:off x="7919963" y="1429866"/>
            <a:ext cx="171450" cy="171450"/>
          </a:xfrm>
          <a:prstGeom prst="roundRect">
            <a:avLst>
              <a:gd name="adj" fmla="val 32000"/>
            </a:avLst>
          </a:prstGeom>
          <a:solidFill>
            <a:srgbClr val="F4A261"/>
          </a:solidFill>
          <a:ln/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1E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549659" y="283890"/>
            <a:ext cx="652463" cy="285750"/>
          </a:xfrm>
          <a:prstGeom prst="roundRect">
            <a:avLst>
              <a:gd name="adj" fmla="val 50000"/>
            </a:avLst>
          </a:prstGeom>
          <a:solidFill>
            <a:srgbClr val="4A443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677205" y="386246"/>
            <a:ext cx="80962" cy="80962"/>
          </a:xfrm>
          <a:prstGeom prst="roundRect">
            <a:avLst>
              <a:gd name="adj" fmla="val 28235"/>
            </a:avLst>
          </a:prstGeom>
          <a:solidFill>
            <a:srgbClr val="FFD55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822796" y="333449"/>
            <a:ext cx="385286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FDFB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도입</a:t>
            </a:r>
            <a:endParaRPr lang="en-US" sz="1080" dirty="0"/>
          </a:p>
        </p:txBody>
      </p:sp>
      <p:sp>
        <p:nvSpPr>
          <p:cNvPr id="6" name="Text 4"/>
          <p:cNvSpPr/>
          <p:nvPr/>
        </p:nvSpPr>
        <p:spPr>
          <a:xfrm>
            <a:off x="8013874" y="333449"/>
            <a:ext cx="813160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kern="0" spc="151" dirty="0">
                <a:solidFill>
                  <a:srgbClr val="B1ABA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조각조각</a:t>
            </a:r>
            <a:endParaRPr lang="en-US" sz="1080" dirty="0"/>
          </a:p>
        </p:txBody>
      </p:sp>
      <p:sp>
        <p:nvSpPr>
          <p:cNvPr id="7" name="Text 5"/>
          <p:cNvSpPr/>
          <p:nvPr/>
        </p:nvSpPr>
        <p:spPr>
          <a:xfrm>
            <a:off x="548580" y="785813"/>
            <a:ext cx="3138651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ko-KR" altLang="en-US" sz="2090" b="1" kern="0" spc="-21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목차</a:t>
            </a:r>
            <a:endParaRPr lang="en-US" sz="2090" dirty="0"/>
          </a:p>
        </p:txBody>
      </p:sp>
      <p:sp>
        <p:nvSpPr>
          <p:cNvPr id="8" name="Shape 6"/>
          <p:cNvSpPr/>
          <p:nvPr/>
        </p:nvSpPr>
        <p:spPr>
          <a:xfrm>
            <a:off x="549659" y="1323975"/>
            <a:ext cx="3948112" cy="714375"/>
          </a:xfrm>
          <a:prstGeom prst="roundRect">
            <a:avLst>
              <a:gd name="adj" fmla="val 16640"/>
            </a:avLst>
          </a:prstGeom>
          <a:solidFill>
            <a:srgbClr val="FFFFFF"/>
          </a:solidFill>
          <a:ln/>
          <a:effectLst>
            <a:outerShdw blurRad="154305" dist="51435" dir="5400000" algn="bl" rotWithShape="0">
              <a:srgbClr val="4A443A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695920" y="1470943"/>
            <a:ext cx="290513" cy="290513"/>
          </a:xfrm>
          <a:prstGeom prst="roundRect">
            <a:avLst>
              <a:gd name="adj" fmla="val 28328"/>
            </a:avLst>
          </a:prstGeom>
          <a:solidFill>
            <a:srgbClr val="FFD55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790277" y="1495425"/>
            <a:ext cx="189488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70" b="1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370" dirty="0"/>
          </a:p>
        </p:txBody>
      </p:sp>
      <p:sp>
        <p:nvSpPr>
          <p:cNvPr id="11" name="Text 9"/>
          <p:cNvSpPr/>
          <p:nvPr/>
        </p:nvSpPr>
        <p:spPr>
          <a:xfrm>
            <a:off x="1097161" y="1469901"/>
            <a:ext cx="4187391" cy="416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63"/>
              </a:lnSpc>
              <a:buNone/>
            </a:pPr>
            <a:r>
              <a:rPr lang="ko-KR" altLang="en-US" sz="1100" b="1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새 사이클 </a:t>
            </a:r>
            <a:r>
              <a:rPr lang="ko-KR" altLang="en-US" sz="1100" b="1" dirty="0" err="1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목업</a:t>
            </a:r>
            <a:r>
              <a:rPr lang="ko-KR" altLang="en-US" sz="1100" b="1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소개 </a:t>
            </a:r>
            <a:r>
              <a:rPr lang="en-US" sz="1100" b="1" dirty="0">
                <a:solidFill>
                  <a:srgbClr val="8982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(5~12장)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46228" y="1323975"/>
            <a:ext cx="3948112" cy="714375"/>
          </a:xfrm>
          <a:prstGeom prst="roundRect">
            <a:avLst>
              <a:gd name="adj" fmla="val 16640"/>
            </a:avLst>
          </a:prstGeom>
          <a:solidFill>
            <a:srgbClr val="FFFFFF"/>
          </a:solidFill>
          <a:ln/>
          <a:effectLst>
            <a:outerShdw blurRad="154305" dist="51435" dir="5400000" algn="bl" rotWithShape="0">
              <a:srgbClr val="4A443A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4792489" y="1470943"/>
            <a:ext cx="290513" cy="290513"/>
          </a:xfrm>
          <a:prstGeom prst="roundRect">
            <a:avLst>
              <a:gd name="adj" fmla="val 28328"/>
            </a:avLst>
          </a:prstGeom>
          <a:solidFill>
            <a:srgbClr val="A2D2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4886846" y="1495425"/>
            <a:ext cx="189488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70" b="1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370" dirty="0"/>
          </a:p>
        </p:txBody>
      </p:sp>
      <p:sp>
        <p:nvSpPr>
          <p:cNvPr id="15" name="Text 13"/>
          <p:cNvSpPr/>
          <p:nvPr/>
        </p:nvSpPr>
        <p:spPr>
          <a:xfrm>
            <a:off x="5193729" y="1469901"/>
            <a:ext cx="3994011" cy="416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63"/>
              </a:lnSpc>
              <a:buNone/>
            </a:pPr>
            <a:r>
              <a:rPr lang="ko-KR" altLang="en-US" sz="1100" b="1" dirty="0" err="1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온보딩</a:t>
            </a:r>
            <a:r>
              <a:rPr lang="en-US" altLang="ko-KR" sz="1100" b="1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,</a:t>
            </a:r>
            <a:r>
              <a:rPr lang="ko-KR" altLang="en-US" sz="1100" b="1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챌린지 생성 규칙 </a:t>
            </a:r>
            <a:r>
              <a:rPr lang="en-US" sz="1100" b="1" dirty="0">
                <a:solidFill>
                  <a:srgbClr val="8982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(15~18장)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9659" y="2185392"/>
            <a:ext cx="3948112" cy="714375"/>
          </a:xfrm>
          <a:prstGeom prst="roundRect">
            <a:avLst>
              <a:gd name="adj" fmla="val 16640"/>
            </a:avLst>
          </a:prstGeom>
          <a:solidFill>
            <a:srgbClr val="FFFFFF"/>
          </a:solidFill>
          <a:ln/>
          <a:effectLst>
            <a:outerShdw blurRad="154305" dist="51435" dir="5400000" algn="bl" rotWithShape="0">
              <a:srgbClr val="4A443A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695920" y="2332360"/>
            <a:ext cx="290513" cy="290513"/>
          </a:xfrm>
          <a:prstGeom prst="roundRect">
            <a:avLst>
              <a:gd name="adj" fmla="val 28328"/>
            </a:avLst>
          </a:prstGeom>
          <a:solidFill>
            <a:srgbClr val="A8DAD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790277" y="2356842"/>
            <a:ext cx="189488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70" b="1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370" dirty="0"/>
          </a:p>
        </p:txBody>
      </p:sp>
      <p:sp>
        <p:nvSpPr>
          <p:cNvPr id="19" name="Text 17"/>
          <p:cNvSpPr/>
          <p:nvPr/>
        </p:nvSpPr>
        <p:spPr>
          <a:xfrm>
            <a:off x="1097161" y="2331318"/>
            <a:ext cx="3310082" cy="416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63"/>
              </a:lnSpc>
              <a:buNone/>
            </a:pPr>
            <a:r>
              <a:rPr lang="ko-KR" altLang="en-US" sz="1100" b="1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이론 정합성 확인 </a:t>
            </a:r>
            <a:r>
              <a:rPr lang="en-US" sz="1100" b="1" dirty="0">
                <a:solidFill>
                  <a:srgbClr val="8982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(13 · 22장)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46228" y="2185392"/>
            <a:ext cx="3948112" cy="714375"/>
          </a:xfrm>
          <a:prstGeom prst="roundRect">
            <a:avLst>
              <a:gd name="adj" fmla="val 16640"/>
            </a:avLst>
          </a:prstGeom>
          <a:solidFill>
            <a:srgbClr val="FFFFFF"/>
          </a:solidFill>
          <a:ln/>
          <a:effectLst>
            <a:outerShdw blurRad="154305" dist="51435" dir="5400000" algn="bl" rotWithShape="0">
              <a:srgbClr val="4A443A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4792489" y="2332360"/>
            <a:ext cx="290513" cy="290513"/>
          </a:xfrm>
          <a:prstGeom prst="roundRect">
            <a:avLst>
              <a:gd name="adj" fmla="val 28328"/>
            </a:avLst>
          </a:prstGeom>
          <a:solidFill>
            <a:srgbClr val="F4A2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4886846" y="2356842"/>
            <a:ext cx="189488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70" b="1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370" dirty="0"/>
          </a:p>
        </p:txBody>
      </p:sp>
      <p:sp>
        <p:nvSpPr>
          <p:cNvPr id="23" name="Text 21"/>
          <p:cNvSpPr/>
          <p:nvPr/>
        </p:nvSpPr>
        <p:spPr>
          <a:xfrm>
            <a:off x="5193729" y="2331318"/>
            <a:ext cx="3959379" cy="416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63"/>
              </a:lnSpc>
              <a:buNone/>
            </a:pPr>
            <a:r>
              <a:rPr lang="ko-KR" altLang="en-US" sz="1100" b="1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최종 논의 필요 사항 </a:t>
            </a:r>
            <a:r>
              <a:rPr lang="en-US" sz="1100" b="1" dirty="0">
                <a:solidFill>
                  <a:srgbClr val="8982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(20~23장)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9659" y="3032894"/>
            <a:ext cx="3948112" cy="557213"/>
          </a:xfrm>
          <a:prstGeom prst="roundRect">
            <a:avLst>
              <a:gd name="adj" fmla="val 18051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694879" y="3218184"/>
            <a:ext cx="3712364" cy="2252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dirty="0" err="1">
                <a:solidFill>
                  <a:srgbClr val="8982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범위</a:t>
            </a:r>
            <a:r>
              <a:rPr lang="ko-KR" altLang="en-US" sz="1080" b="1" dirty="0">
                <a:solidFill>
                  <a:srgbClr val="8982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sz="1080" b="1" dirty="0">
                <a:solidFill>
                  <a:srgbClr val="8982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080" dirty="0" err="1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챌린지</a:t>
            </a:r>
            <a:r>
              <a:rPr lang="en-US" sz="1080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사이클 설계 중심 </a:t>
            </a:r>
            <a:r>
              <a:rPr lang="en-US" sz="1080" dirty="0">
                <a:solidFill>
                  <a:srgbClr val="8982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(온보딩 UX 세부는 별도 담당)</a:t>
            </a:r>
            <a:endParaRPr lang="en-US" sz="1080" dirty="0"/>
          </a:p>
        </p:txBody>
      </p:sp>
      <p:sp>
        <p:nvSpPr>
          <p:cNvPr id="26" name="Shape 24"/>
          <p:cNvSpPr/>
          <p:nvPr/>
        </p:nvSpPr>
        <p:spPr>
          <a:xfrm>
            <a:off x="4646228" y="3032894"/>
            <a:ext cx="3948112" cy="557213"/>
          </a:xfrm>
          <a:prstGeom prst="roundRect">
            <a:avLst>
              <a:gd name="adj" fmla="val 18051"/>
            </a:avLst>
          </a:prstGeom>
          <a:solidFill>
            <a:srgbClr val="4A443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4749632" y="3218184"/>
            <a:ext cx="595595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FFD55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관통 원칙</a:t>
            </a:r>
            <a:endParaRPr lang="en-US" sz="1080" dirty="0"/>
          </a:p>
        </p:txBody>
      </p:sp>
      <p:sp>
        <p:nvSpPr>
          <p:cNvPr id="28" name="Text 26"/>
          <p:cNvSpPr/>
          <p:nvPr/>
        </p:nvSpPr>
        <p:spPr>
          <a:xfrm>
            <a:off x="5392431" y="3217403"/>
            <a:ext cx="3896789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FDFB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실패라는 말 없이 · 기분 아닌 계획대로 · 아주 작게 시작</a:t>
            </a:r>
            <a:endParaRPr lang="en-US" sz="1080" dirty="0"/>
          </a:p>
        </p:txBody>
      </p:sp>
      <p:sp>
        <p:nvSpPr>
          <p:cNvPr id="29" name="Text 27"/>
          <p:cNvSpPr/>
          <p:nvPr/>
        </p:nvSpPr>
        <p:spPr>
          <a:xfrm>
            <a:off x="548580" y="4715917"/>
            <a:ext cx="2112645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8982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BA 챌린지 사이클 개선 보고</a:t>
            </a:r>
            <a:endParaRPr lang="en-US" sz="1080" dirty="0"/>
          </a:p>
        </p:txBody>
      </p:sp>
      <p:sp>
        <p:nvSpPr>
          <p:cNvPr id="30" name="Text 28"/>
          <p:cNvSpPr/>
          <p:nvPr/>
        </p:nvSpPr>
        <p:spPr>
          <a:xfrm>
            <a:off x="8159279" y="4715917"/>
            <a:ext cx="624133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8982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/ 23</a:t>
            </a:r>
            <a:endParaRPr lang="en-US" sz="10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549659" y="283890"/>
            <a:ext cx="652463" cy="285750"/>
          </a:xfrm>
          <a:prstGeom prst="roundRect">
            <a:avLst>
              <a:gd name="adj" fmla="val 50000"/>
            </a:avLst>
          </a:prstGeom>
          <a:solidFill>
            <a:srgbClr val="4A443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677205" y="386246"/>
            <a:ext cx="80962" cy="80962"/>
          </a:xfrm>
          <a:prstGeom prst="roundRect">
            <a:avLst>
              <a:gd name="adj" fmla="val 28235"/>
            </a:avLst>
          </a:prstGeom>
          <a:solidFill>
            <a:srgbClr val="FFD55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822796" y="333449"/>
            <a:ext cx="385286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FDFB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배경</a:t>
            </a:r>
            <a:endParaRPr lang="en-US" sz="1080" dirty="0"/>
          </a:p>
        </p:txBody>
      </p:sp>
      <p:sp>
        <p:nvSpPr>
          <p:cNvPr id="6" name="Text 4"/>
          <p:cNvSpPr/>
          <p:nvPr/>
        </p:nvSpPr>
        <p:spPr>
          <a:xfrm>
            <a:off x="8013874" y="333449"/>
            <a:ext cx="813160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kern="0" spc="151" dirty="0">
                <a:solidFill>
                  <a:srgbClr val="B6B1A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조각조각</a:t>
            </a:r>
            <a:endParaRPr lang="en-US" sz="1080" dirty="0"/>
          </a:p>
        </p:txBody>
      </p:sp>
      <p:sp>
        <p:nvSpPr>
          <p:cNvPr id="7" name="Text 5"/>
          <p:cNvSpPr/>
          <p:nvPr/>
        </p:nvSpPr>
        <p:spPr>
          <a:xfrm>
            <a:off x="548580" y="734318"/>
            <a:ext cx="5148099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90" b="1" kern="0" spc="-21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왜 바꾸나 — 현재 사이클의 BA 공백</a:t>
            </a:r>
            <a:endParaRPr lang="en-US" sz="2090" dirty="0"/>
          </a:p>
        </p:txBody>
      </p:sp>
      <p:sp>
        <p:nvSpPr>
          <p:cNvPr id="8" name="Text 6"/>
          <p:cNvSpPr/>
          <p:nvPr/>
        </p:nvSpPr>
        <p:spPr>
          <a:xfrm>
            <a:off x="694879" y="1281633"/>
            <a:ext cx="385286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8982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BA </a:t>
            </a:r>
            <a:r>
              <a:rPr lang="en-US" sz="1080" b="1" dirty="0" err="1">
                <a:solidFill>
                  <a:srgbClr val="8982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항목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2359000" y="1281633"/>
            <a:ext cx="385286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8982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현재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5157862" y="1281633"/>
            <a:ext cx="54925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F2C3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개선안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547688" y="1539739"/>
            <a:ext cx="8048625" cy="371475"/>
          </a:xfrm>
          <a:prstGeom prst="roundRect">
            <a:avLst>
              <a:gd name="adj" fmla="val 24615"/>
            </a:avLst>
          </a:prstGeom>
          <a:solidFill>
            <a:srgbClr val="FFFFFF"/>
          </a:solidFill>
          <a:ln/>
          <a:effectLst>
            <a:outerShdw blurRad="102870" dist="30861" dir="5400000" algn="bl" rotWithShape="0">
              <a:srgbClr val="4A443A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694879" y="1625278"/>
            <a:ext cx="165101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활동–기분 모델 교육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359000" y="1632124"/>
            <a:ext cx="385286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8982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없음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4856187" y="1613669"/>
            <a:ext cx="25914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20" dirty="0">
                <a:solidFill>
                  <a:srgbClr val="F2C3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220" dirty="0"/>
          </a:p>
        </p:txBody>
      </p:sp>
      <p:sp>
        <p:nvSpPr>
          <p:cNvPr id="15" name="Text 13"/>
          <p:cNvSpPr/>
          <p:nvPr/>
        </p:nvSpPr>
        <p:spPr>
          <a:xfrm>
            <a:off x="5157862" y="1625278"/>
            <a:ext cx="1506386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온보딩 스토리텔링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7688" y="1968773"/>
            <a:ext cx="8048625" cy="576262"/>
          </a:xfrm>
          <a:prstGeom prst="roundRect">
            <a:avLst>
              <a:gd name="adj" fmla="val 15868"/>
            </a:avLst>
          </a:prstGeom>
          <a:solidFill>
            <a:srgbClr val="FFFFFF"/>
          </a:solidFill>
          <a:ln/>
          <a:effectLst>
            <a:outerShdw blurRad="102870" dist="30861" dir="5400000" algn="bl" rotWithShape="0">
              <a:srgbClr val="4A443A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694879" y="2046982"/>
            <a:ext cx="1942386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즐거움(P)·숙달감(M) 평정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856187" y="2145060"/>
            <a:ext cx="25914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20" dirty="0">
                <a:solidFill>
                  <a:srgbClr val="F2C3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220" dirty="0"/>
          </a:p>
        </p:txBody>
      </p:sp>
      <p:sp>
        <p:nvSpPr>
          <p:cNvPr id="19" name="Text 17"/>
          <p:cNvSpPr/>
          <p:nvPr/>
        </p:nvSpPr>
        <p:spPr>
          <a:xfrm>
            <a:off x="2359000" y="2163589"/>
            <a:ext cx="1134041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8982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유사 문항 대체</a:t>
            </a:r>
            <a:endParaRPr lang="en-US" sz="1080" dirty="0"/>
          </a:p>
        </p:txBody>
      </p:sp>
      <p:sp>
        <p:nvSpPr>
          <p:cNvPr id="20" name="Text 18"/>
          <p:cNvSpPr/>
          <p:nvPr/>
        </p:nvSpPr>
        <p:spPr>
          <a:xfrm>
            <a:off x="5157862" y="2156668"/>
            <a:ext cx="1576038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표준 P/M 슬라이더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7688" y="2602595"/>
            <a:ext cx="8048625" cy="371475"/>
          </a:xfrm>
          <a:prstGeom prst="roundRect">
            <a:avLst>
              <a:gd name="adj" fmla="val 24615"/>
            </a:avLst>
          </a:prstGeom>
          <a:solidFill>
            <a:srgbClr val="FFFFFF"/>
          </a:solidFill>
          <a:ln/>
          <a:effectLst>
            <a:outerShdw blurRad="102870" dist="30861" dir="5400000" algn="bl" rotWithShape="0">
              <a:srgbClr val="4A443A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694879" y="2688134"/>
            <a:ext cx="1730819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즐거운 활동 스케줄링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2359000" y="2694980"/>
            <a:ext cx="1553401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8982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랜덤 2개 (역할 못함)</a:t>
            </a:r>
            <a:endParaRPr lang="en-US" sz="1080" dirty="0"/>
          </a:p>
        </p:txBody>
      </p:sp>
      <p:sp>
        <p:nvSpPr>
          <p:cNvPr id="24" name="Text 22"/>
          <p:cNvSpPr/>
          <p:nvPr/>
        </p:nvSpPr>
        <p:spPr>
          <a:xfrm>
            <a:off x="4856187" y="2676525"/>
            <a:ext cx="25914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20" dirty="0">
                <a:solidFill>
                  <a:srgbClr val="F2C3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220" dirty="0"/>
          </a:p>
        </p:txBody>
      </p:sp>
      <p:sp>
        <p:nvSpPr>
          <p:cNvPr id="25" name="Text 23"/>
          <p:cNvSpPr/>
          <p:nvPr/>
        </p:nvSpPr>
        <p:spPr>
          <a:xfrm>
            <a:off x="5157862" y="2688134"/>
            <a:ext cx="1380917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즐거움 슬롯 신설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47688" y="3031145"/>
            <a:ext cx="8048625" cy="371475"/>
          </a:xfrm>
          <a:prstGeom prst="roundRect">
            <a:avLst>
              <a:gd name="adj" fmla="val 24615"/>
            </a:avLst>
          </a:prstGeom>
          <a:solidFill>
            <a:srgbClr val="FFFFFF"/>
          </a:solidFill>
          <a:ln/>
          <a:effectLst>
            <a:outerShdw blurRad="102870" dist="30861" dir="5400000" algn="bl" rotWithShape="0">
              <a:srgbClr val="4A443A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694879" y="3116684"/>
            <a:ext cx="1555916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회피 활동 스케줄링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2359000" y="3123530"/>
            <a:ext cx="385286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8982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없음</a:t>
            </a:r>
            <a:endParaRPr lang="en-US" sz="1080" dirty="0"/>
          </a:p>
        </p:txBody>
      </p:sp>
      <p:sp>
        <p:nvSpPr>
          <p:cNvPr id="29" name="Text 27"/>
          <p:cNvSpPr/>
          <p:nvPr/>
        </p:nvSpPr>
        <p:spPr>
          <a:xfrm>
            <a:off x="4856187" y="3105076"/>
            <a:ext cx="25914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20" dirty="0">
                <a:solidFill>
                  <a:srgbClr val="F2C3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220" dirty="0"/>
          </a:p>
        </p:txBody>
      </p:sp>
      <p:sp>
        <p:nvSpPr>
          <p:cNvPr id="30" name="Text 28"/>
          <p:cNvSpPr/>
          <p:nvPr/>
        </p:nvSpPr>
        <p:spPr>
          <a:xfrm>
            <a:off x="5157862" y="3116684"/>
            <a:ext cx="2113516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회피 슬롯 + 수정 프롬프트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47688" y="3459696"/>
            <a:ext cx="8048625" cy="371475"/>
          </a:xfrm>
          <a:prstGeom prst="roundRect">
            <a:avLst>
              <a:gd name="adj" fmla="val 24615"/>
            </a:avLst>
          </a:prstGeom>
          <a:solidFill>
            <a:srgbClr val="FFFFFF"/>
          </a:solidFill>
          <a:ln/>
          <a:effectLst>
            <a:outerShdw blurRad="102870" dist="30861" dir="5400000" algn="bl" rotWithShape="0">
              <a:srgbClr val="4A443A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694879" y="3545235"/>
            <a:ext cx="986224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강화·피드백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2359000" y="3552081"/>
            <a:ext cx="759663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8982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통계 나열</a:t>
            </a:r>
            <a:endParaRPr lang="en-US" sz="1080" dirty="0"/>
          </a:p>
        </p:txBody>
      </p:sp>
      <p:sp>
        <p:nvSpPr>
          <p:cNvPr id="34" name="Text 32"/>
          <p:cNvSpPr/>
          <p:nvPr/>
        </p:nvSpPr>
        <p:spPr>
          <a:xfrm>
            <a:off x="4856187" y="3533626"/>
            <a:ext cx="25914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20" dirty="0">
                <a:solidFill>
                  <a:srgbClr val="F2C3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220" dirty="0"/>
          </a:p>
        </p:txBody>
      </p:sp>
      <p:sp>
        <p:nvSpPr>
          <p:cNvPr id="35" name="Text 33"/>
          <p:cNvSpPr/>
          <p:nvPr/>
        </p:nvSpPr>
        <p:spPr>
          <a:xfrm>
            <a:off x="5157862" y="3545235"/>
            <a:ext cx="223898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기분곡선 × 완료조각 그래프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547688" y="3944987"/>
            <a:ext cx="8048625" cy="400050"/>
          </a:xfrm>
          <a:prstGeom prst="roundRect">
            <a:avLst>
              <a:gd name="adj" fmla="val 22857"/>
            </a:avLst>
          </a:prstGeom>
          <a:solidFill>
            <a:srgbClr val="F5F1E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813643" y="4051697"/>
            <a:ext cx="385286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FDFBF7"/>
                </a:solidFill>
                <a:highlight>
                  <a:srgbClr val="4A443A"/>
                </a:highlight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근거</a:t>
            </a:r>
            <a:endParaRPr lang="en-US" sz="1080" dirty="0"/>
          </a:p>
        </p:txBody>
      </p:sp>
      <p:sp>
        <p:nvSpPr>
          <p:cNvPr id="38" name="Text 36"/>
          <p:cNvSpPr/>
          <p:nvPr/>
        </p:nvSpPr>
        <p:spPr>
          <a:xfrm>
            <a:off x="1257970" y="4043437"/>
            <a:ext cx="4294770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BA 8대 핵심 성분 </a:t>
            </a:r>
            <a:r>
              <a:rPr lang="en-US" sz="1120" dirty="0">
                <a:solidFill>
                  <a:srgbClr val="8982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(Huguet et al., 2016)</a:t>
            </a:r>
            <a:r>
              <a:rPr lang="en-US" sz="1120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기준 자가진단</a:t>
            </a:r>
            <a:endParaRPr lang="en-US" sz="1120" dirty="0"/>
          </a:p>
        </p:txBody>
      </p:sp>
      <p:sp>
        <p:nvSpPr>
          <p:cNvPr id="39" name="Text 37"/>
          <p:cNvSpPr/>
          <p:nvPr/>
        </p:nvSpPr>
        <p:spPr>
          <a:xfrm>
            <a:off x="548580" y="4715917"/>
            <a:ext cx="2112645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8982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BA 챌린지 사이클 개선 보고</a:t>
            </a:r>
            <a:endParaRPr lang="en-US" sz="1080" dirty="0"/>
          </a:p>
        </p:txBody>
      </p:sp>
      <p:sp>
        <p:nvSpPr>
          <p:cNvPr id="40" name="Text 38"/>
          <p:cNvSpPr/>
          <p:nvPr/>
        </p:nvSpPr>
        <p:spPr>
          <a:xfrm>
            <a:off x="8159279" y="4715917"/>
            <a:ext cx="624133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8982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/ 23</a:t>
            </a:r>
            <a:endParaRPr lang="en-US" sz="10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549064" y="283890"/>
            <a:ext cx="1114425" cy="285750"/>
          </a:xfrm>
          <a:prstGeom prst="roundRect">
            <a:avLst>
              <a:gd name="adj" fmla="val 50000"/>
            </a:avLst>
          </a:prstGeom>
          <a:solidFill>
            <a:srgbClr val="FFD55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677205" y="386246"/>
            <a:ext cx="80962" cy="80962"/>
          </a:xfrm>
          <a:prstGeom prst="roundRect">
            <a:avLst>
              <a:gd name="adj" fmla="val 28235"/>
            </a:avLst>
          </a:prstGeom>
          <a:solidFill>
            <a:srgbClr val="4A443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822796" y="333449"/>
            <a:ext cx="984290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새 사이클</a:t>
            </a:r>
            <a:endParaRPr lang="en-US" sz="1080" dirty="0"/>
          </a:p>
        </p:txBody>
      </p:sp>
      <p:sp>
        <p:nvSpPr>
          <p:cNvPr id="6" name="Text 4"/>
          <p:cNvSpPr/>
          <p:nvPr/>
        </p:nvSpPr>
        <p:spPr>
          <a:xfrm>
            <a:off x="8013874" y="333449"/>
            <a:ext cx="813160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kern="0" spc="151" dirty="0">
                <a:solidFill>
                  <a:srgbClr val="B6B1A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조각조각</a:t>
            </a:r>
            <a:endParaRPr lang="en-US" sz="1080" dirty="0"/>
          </a:p>
        </p:txBody>
      </p:sp>
      <p:sp>
        <p:nvSpPr>
          <p:cNvPr id="7" name="Text 5"/>
          <p:cNvSpPr/>
          <p:nvPr/>
        </p:nvSpPr>
        <p:spPr>
          <a:xfrm>
            <a:off x="548580" y="785813"/>
            <a:ext cx="3138651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90" b="1" kern="0" spc="-21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새 사이클 한눈에 보기</a:t>
            </a:r>
            <a:endParaRPr lang="en-US" sz="2090" dirty="0"/>
          </a:p>
        </p:txBody>
      </p:sp>
      <p:sp>
        <p:nvSpPr>
          <p:cNvPr id="8" name="Text 6"/>
          <p:cNvSpPr/>
          <p:nvPr/>
        </p:nvSpPr>
        <p:spPr>
          <a:xfrm>
            <a:off x="548580" y="1230288"/>
            <a:ext cx="3453921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405"/>
              </a:spcBef>
              <a:buNone/>
            </a:pPr>
            <a:r>
              <a:rPr lang="en-US" sz="1150" dirty="0">
                <a:solidFill>
                  <a:srgbClr val="8982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온보딩에서 시작해 매일 하나의 순환을 돈다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9585" y="1646039"/>
            <a:ext cx="1300163" cy="1243013"/>
          </a:xfrm>
          <a:prstGeom prst="roundRect">
            <a:avLst>
              <a:gd name="adj" fmla="val 9563"/>
            </a:avLst>
          </a:prstGeom>
          <a:solidFill>
            <a:srgbClr val="FFFFFF"/>
          </a:solidFill>
          <a:ln/>
          <a:effectLst>
            <a:outerShdw blurRad="154305" dist="51435" dir="5400000" algn="bl" rotWithShape="0">
              <a:srgbClr val="4A443A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768176" y="1799183"/>
            <a:ext cx="17555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20" b="1" dirty="0">
                <a:solidFill>
                  <a:srgbClr val="4A443A"/>
                </a:solidFill>
                <a:highlight>
                  <a:srgbClr val="FFD55F"/>
                </a:highlight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220" dirty="0"/>
          </a:p>
        </p:txBody>
      </p:sp>
      <p:sp>
        <p:nvSpPr>
          <p:cNvPr id="11" name="Text 9"/>
          <p:cNvSpPr/>
          <p:nvPr/>
        </p:nvSpPr>
        <p:spPr>
          <a:xfrm>
            <a:off x="676573" y="2129656"/>
            <a:ext cx="631001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567"/>
              </a:spcBef>
              <a:buNone/>
            </a:pPr>
            <a:r>
              <a:rPr lang="en-US" sz="1260" b="1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온보딩</a:t>
            </a:r>
            <a:endParaRPr lang="en-US" sz="1260" dirty="0"/>
          </a:p>
        </p:txBody>
      </p:sp>
      <p:sp>
        <p:nvSpPr>
          <p:cNvPr id="12" name="Text 10"/>
          <p:cNvSpPr/>
          <p:nvPr/>
        </p:nvSpPr>
        <p:spPr>
          <a:xfrm>
            <a:off x="676573" y="2386161"/>
            <a:ext cx="1212495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243"/>
              </a:spcBef>
              <a:buNone/>
            </a:pPr>
            <a:r>
              <a:rPr lang="en-US" sz="1080" dirty="0">
                <a:solidFill>
                  <a:srgbClr val="8982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가치 선택 · 1주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676573" y="2571304"/>
            <a:ext cx="759663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243"/>
              </a:spcBef>
              <a:buNone/>
            </a:pPr>
            <a:r>
              <a:rPr lang="en-US" sz="1080" dirty="0">
                <a:solidFill>
                  <a:srgbClr val="8982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시작 데이터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1942133" y="2130996"/>
            <a:ext cx="318730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80" b="1" dirty="0">
                <a:solidFill>
                  <a:srgbClr val="F2C3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580" dirty="0"/>
          </a:p>
        </p:txBody>
      </p:sp>
      <p:sp>
        <p:nvSpPr>
          <p:cNvPr id="15" name="Shape 13"/>
          <p:cNvSpPr/>
          <p:nvPr/>
        </p:nvSpPr>
        <p:spPr>
          <a:xfrm>
            <a:off x="2235733" y="1646039"/>
            <a:ext cx="1300163" cy="1243013"/>
          </a:xfrm>
          <a:prstGeom prst="roundRect">
            <a:avLst>
              <a:gd name="adj" fmla="val 9563"/>
            </a:avLst>
          </a:prstGeom>
          <a:solidFill>
            <a:srgbClr val="FFFFFF"/>
          </a:solidFill>
          <a:ln/>
          <a:effectLst>
            <a:outerShdw blurRad="154305" dist="51435" dir="5400000" algn="bl" rotWithShape="0">
              <a:srgbClr val="4A443A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2454325" y="1799183"/>
            <a:ext cx="17555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20" b="1" dirty="0">
                <a:solidFill>
                  <a:srgbClr val="4A443A"/>
                </a:solidFill>
                <a:highlight>
                  <a:srgbClr val="FFD55F"/>
                </a:highlight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220" dirty="0"/>
          </a:p>
        </p:txBody>
      </p:sp>
      <p:sp>
        <p:nvSpPr>
          <p:cNvPr id="17" name="Text 15"/>
          <p:cNvSpPr/>
          <p:nvPr/>
        </p:nvSpPr>
        <p:spPr>
          <a:xfrm>
            <a:off x="2362721" y="2129656"/>
            <a:ext cx="1067581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567"/>
              </a:spcBef>
              <a:buNone/>
            </a:pPr>
            <a:r>
              <a:rPr lang="en-US" sz="1260" b="1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데일리 설문</a:t>
            </a:r>
            <a:endParaRPr lang="en-US" sz="1260" dirty="0"/>
          </a:p>
        </p:txBody>
      </p:sp>
      <p:sp>
        <p:nvSpPr>
          <p:cNvPr id="18" name="Text 16"/>
          <p:cNvSpPr/>
          <p:nvPr/>
        </p:nvSpPr>
        <p:spPr>
          <a:xfrm>
            <a:off x="2362721" y="2386161"/>
            <a:ext cx="1273827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243"/>
              </a:spcBef>
              <a:buNone/>
            </a:pPr>
            <a:r>
              <a:rPr lang="en-US" sz="1080" dirty="0">
                <a:solidFill>
                  <a:srgbClr val="8982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기분 + 활동 (2문항)</a:t>
            </a:r>
            <a:endParaRPr lang="en-US" sz="1080" dirty="0"/>
          </a:p>
        </p:txBody>
      </p:sp>
      <p:sp>
        <p:nvSpPr>
          <p:cNvPr id="19" name="Text 17"/>
          <p:cNvSpPr/>
          <p:nvPr/>
        </p:nvSpPr>
        <p:spPr>
          <a:xfrm>
            <a:off x="3628281" y="2130996"/>
            <a:ext cx="318730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80" b="1" dirty="0">
                <a:solidFill>
                  <a:srgbClr val="F2C3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580" dirty="0"/>
          </a:p>
        </p:txBody>
      </p:sp>
      <p:sp>
        <p:nvSpPr>
          <p:cNvPr id="20" name="Shape 18"/>
          <p:cNvSpPr/>
          <p:nvPr/>
        </p:nvSpPr>
        <p:spPr>
          <a:xfrm>
            <a:off x="3921882" y="1646039"/>
            <a:ext cx="1300163" cy="1243013"/>
          </a:xfrm>
          <a:prstGeom prst="roundRect">
            <a:avLst>
              <a:gd name="adj" fmla="val 9563"/>
            </a:avLst>
          </a:prstGeom>
          <a:solidFill>
            <a:srgbClr val="FFFFFF"/>
          </a:solidFill>
          <a:ln/>
          <a:effectLst>
            <a:outerShdw blurRad="154305" dist="51435" dir="5400000" algn="bl" rotWithShape="0">
              <a:srgbClr val="4A443A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4140473" y="1799183"/>
            <a:ext cx="17555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20" b="1" dirty="0">
                <a:solidFill>
                  <a:srgbClr val="4A443A"/>
                </a:solidFill>
                <a:highlight>
                  <a:srgbClr val="FFD55F"/>
                </a:highlight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220" dirty="0"/>
          </a:p>
        </p:txBody>
      </p:sp>
      <p:sp>
        <p:nvSpPr>
          <p:cNvPr id="22" name="Text 20"/>
          <p:cNvSpPr/>
          <p:nvPr/>
        </p:nvSpPr>
        <p:spPr>
          <a:xfrm>
            <a:off x="4048869" y="2129656"/>
            <a:ext cx="876330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567"/>
              </a:spcBef>
              <a:buNone/>
            </a:pPr>
            <a:r>
              <a:rPr lang="en-US" sz="1260" b="1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미션 제안</a:t>
            </a:r>
            <a:endParaRPr lang="en-US" sz="1260" dirty="0"/>
          </a:p>
        </p:txBody>
      </p:sp>
      <p:sp>
        <p:nvSpPr>
          <p:cNvPr id="23" name="Text 21"/>
          <p:cNvSpPr/>
          <p:nvPr/>
        </p:nvSpPr>
        <p:spPr>
          <a:xfrm>
            <a:off x="4048869" y="2386161"/>
            <a:ext cx="1275956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243"/>
              </a:spcBef>
              <a:buNone/>
            </a:pPr>
            <a:r>
              <a:rPr lang="en-US" sz="1080" dirty="0">
                <a:solidFill>
                  <a:srgbClr val="8982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타깃2 + 즐거움1</a:t>
            </a:r>
            <a:endParaRPr lang="en-US" sz="1080" dirty="0"/>
          </a:p>
        </p:txBody>
      </p:sp>
      <p:sp>
        <p:nvSpPr>
          <p:cNvPr id="24" name="Text 22"/>
          <p:cNvSpPr/>
          <p:nvPr/>
        </p:nvSpPr>
        <p:spPr>
          <a:xfrm>
            <a:off x="4048869" y="2571304"/>
            <a:ext cx="63554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243"/>
              </a:spcBef>
              <a:buNone/>
            </a:pPr>
            <a:r>
              <a:rPr lang="en-US" sz="1080" dirty="0">
                <a:solidFill>
                  <a:srgbClr val="8982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 회피1</a:t>
            </a:r>
            <a:endParaRPr lang="en-US" sz="1080" dirty="0"/>
          </a:p>
        </p:txBody>
      </p:sp>
      <p:sp>
        <p:nvSpPr>
          <p:cNvPr id="25" name="Text 23"/>
          <p:cNvSpPr/>
          <p:nvPr/>
        </p:nvSpPr>
        <p:spPr>
          <a:xfrm>
            <a:off x="5314429" y="2130996"/>
            <a:ext cx="318730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80" b="1" dirty="0">
                <a:solidFill>
                  <a:srgbClr val="F2C3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580" dirty="0"/>
          </a:p>
        </p:txBody>
      </p:sp>
      <p:sp>
        <p:nvSpPr>
          <p:cNvPr id="26" name="Shape 24"/>
          <p:cNvSpPr/>
          <p:nvPr/>
        </p:nvSpPr>
        <p:spPr>
          <a:xfrm>
            <a:off x="5608030" y="1646039"/>
            <a:ext cx="1300163" cy="1243013"/>
          </a:xfrm>
          <a:prstGeom prst="roundRect">
            <a:avLst>
              <a:gd name="adj" fmla="val 9563"/>
            </a:avLst>
          </a:prstGeom>
          <a:solidFill>
            <a:srgbClr val="FFFFFF"/>
          </a:solidFill>
          <a:ln/>
          <a:effectLst>
            <a:outerShdw blurRad="154305" dist="51435" dir="5400000" algn="bl" rotWithShape="0">
              <a:srgbClr val="4A443A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5826621" y="1799183"/>
            <a:ext cx="17555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20" b="1" dirty="0">
                <a:solidFill>
                  <a:srgbClr val="4A443A"/>
                </a:solidFill>
                <a:highlight>
                  <a:srgbClr val="FFD55F"/>
                </a:highlight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220" dirty="0"/>
          </a:p>
        </p:txBody>
      </p:sp>
      <p:sp>
        <p:nvSpPr>
          <p:cNvPr id="28" name="Text 26"/>
          <p:cNvSpPr/>
          <p:nvPr/>
        </p:nvSpPr>
        <p:spPr>
          <a:xfrm>
            <a:off x="5735017" y="2129656"/>
            <a:ext cx="989610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567"/>
              </a:spcBef>
              <a:buNone/>
            </a:pPr>
            <a:r>
              <a:rPr lang="en-US" sz="1260" b="1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수행 · 인증</a:t>
            </a:r>
            <a:endParaRPr lang="en-US" sz="1260" dirty="0"/>
          </a:p>
        </p:txBody>
      </p:sp>
      <p:sp>
        <p:nvSpPr>
          <p:cNvPr id="29" name="Text 27"/>
          <p:cNvSpPr/>
          <p:nvPr/>
        </p:nvSpPr>
        <p:spPr>
          <a:xfrm>
            <a:off x="5735017" y="2386161"/>
            <a:ext cx="1305944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243"/>
              </a:spcBef>
              <a:buNone/>
            </a:pPr>
            <a:r>
              <a:rPr lang="en-US" sz="1080" dirty="0">
                <a:solidFill>
                  <a:srgbClr val="8982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P/M 또는 건너뜀</a:t>
            </a:r>
            <a:endParaRPr lang="en-US" sz="1080" dirty="0"/>
          </a:p>
        </p:txBody>
      </p:sp>
      <p:sp>
        <p:nvSpPr>
          <p:cNvPr id="30" name="Text 28"/>
          <p:cNvSpPr/>
          <p:nvPr/>
        </p:nvSpPr>
        <p:spPr>
          <a:xfrm>
            <a:off x="5735017" y="2571304"/>
            <a:ext cx="1194695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243"/>
              </a:spcBef>
              <a:buNone/>
            </a:pPr>
            <a:r>
              <a:rPr lang="en-US" sz="1080" dirty="0">
                <a:solidFill>
                  <a:srgbClr val="8982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(회피 프롬프트)</a:t>
            </a:r>
            <a:endParaRPr lang="en-US" sz="1080" dirty="0"/>
          </a:p>
        </p:txBody>
      </p:sp>
      <p:sp>
        <p:nvSpPr>
          <p:cNvPr id="31" name="Text 29"/>
          <p:cNvSpPr/>
          <p:nvPr/>
        </p:nvSpPr>
        <p:spPr>
          <a:xfrm>
            <a:off x="7000577" y="2130996"/>
            <a:ext cx="318730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80" b="1" dirty="0">
                <a:solidFill>
                  <a:srgbClr val="F2C3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580" dirty="0"/>
          </a:p>
        </p:txBody>
      </p:sp>
      <p:sp>
        <p:nvSpPr>
          <p:cNvPr id="32" name="Shape 30"/>
          <p:cNvSpPr/>
          <p:nvPr/>
        </p:nvSpPr>
        <p:spPr>
          <a:xfrm>
            <a:off x="7294178" y="1646039"/>
            <a:ext cx="1300163" cy="1243013"/>
          </a:xfrm>
          <a:prstGeom prst="roundRect">
            <a:avLst>
              <a:gd name="adj" fmla="val 9563"/>
            </a:avLst>
          </a:prstGeom>
          <a:solidFill>
            <a:srgbClr val="FFFFFF"/>
          </a:solidFill>
          <a:ln/>
          <a:effectLst>
            <a:outerShdw blurRad="154305" dist="51435" dir="5400000" algn="bl" rotWithShape="0">
              <a:srgbClr val="4A443A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7512769" y="1799183"/>
            <a:ext cx="17555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20" b="1" dirty="0">
                <a:solidFill>
                  <a:srgbClr val="4A443A"/>
                </a:solidFill>
                <a:highlight>
                  <a:srgbClr val="FFD55F"/>
                </a:highlight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220" dirty="0"/>
          </a:p>
        </p:txBody>
      </p:sp>
      <p:sp>
        <p:nvSpPr>
          <p:cNvPr id="34" name="Text 32"/>
          <p:cNvSpPr/>
          <p:nvPr/>
        </p:nvSpPr>
        <p:spPr>
          <a:xfrm>
            <a:off x="7421166" y="2129656"/>
            <a:ext cx="1013505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567"/>
              </a:spcBef>
              <a:buNone/>
            </a:pPr>
            <a:r>
              <a:rPr lang="en-US" sz="1260" b="1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마이페이지</a:t>
            </a:r>
            <a:endParaRPr lang="en-US" sz="1260" dirty="0"/>
          </a:p>
        </p:txBody>
      </p:sp>
      <p:sp>
        <p:nvSpPr>
          <p:cNvPr id="35" name="Text 33"/>
          <p:cNvSpPr/>
          <p:nvPr/>
        </p:nvSpPr>
        <p:spPr>
          <a:xfrm>
            <a:off x="7421166" y="2386161"/>
            <a:ext cx="1353733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243"/>
              </a:spcBef>
              <a:buNone/>
            </a:pPr>
            <a:r>
              <a:rPr lang="en-US" sz="1080" dirty="0">
                <a:solidFill>
                  <a:srgbClr val="8982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기분×활동 그래프로</a:t>
            </a:r>
            <a:endParaRPr lang="en-US" sz="1080" dirty="0"/>
          </a:p>
        </p:txBody>
      </p:sp>
      <p:sp>
        <p:nvSpPr>
          <p:cNvPr id="36" name="Text 34"/>
          <p:cNvSpPr/>
          <p:nvPr/>
        </p:nvSpPr>
        <p:spPr>
          <a:xfrm>
            <a:off x="7582942" y="2571304"/>
            <a:ext cx="385286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243"/>
              </a:spcBef>
              <a:buNone/>
            </a:pPr>
            <a:r>
              <a:rPr lang="en-US" sz="1080" dirty="0">
                <a:solidFill>
                  <a:srgbClr val="8982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강화</a:t>
            </a:r>
            <a:endParaRPr lang="en-US" sz="1080" dirty="0"/>
          </a:p>
        </p:txBody>
      </p:sp>
      <p:sp>
        <p:nvSpPr>
          <p:cNvPr id="37" name="Shape 35"/>
          <p:cNvSpPr/>
          <p:nvPr/>
        </p:nvSpPr>
        <p:spPr>
          <a:xfrm>
            <a:off x="731044" y="3314328"/>
            <a:ext cx="7681912" cy="9525"/>
          </a:xfrm>
          <a:prstGeom prst="rect">
            <a:avLst/>
          </a:prstGeom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548580" y="4715917"/>
            <a:ext cx="2112645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8982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BA 챌린지 사이클 개선 보고</a:t>
            </a:r>
            <a:endParaRPr lang="en-US" sz="1080" dirty="0"/>
          </a:p>
        </p:txBody>
      </p:sp>
      <p:sp>
        <p:nvSpPr>
          <p:cNvPr id="39" name="Text 37"/>
          <p:cNvSpPr/>
          <p:nvPr/>
        </p:nvSpPr>
        <p:spPr>
          <a:xfrm>
            <a:off x="8159279" y="4715917"/>
            <a:ext cx="624133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8982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/ 23</a:t>
            </a:r>
            <a:endParaRPr lang="en-US" sz="1080" dirty="0"/>
          </a:p>
        </p:txBody>
      </p:sp>
      <p:pic>
        <p:nvPicPr>
          <p:cNvPr id="40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044" y="3314328"/>
            <a:ext cx="7681912" cy="9525"/>
          </a:xfrm>
          <a:prstGeom prst="rect">
            <a:avLst/>
          </a:prstGeom>
        </p:spPr>
      </p:pic>
      <p:sp>
        <p:nvSpPr>
          <p:cNvPr id="41" name="Shape 38"/>
          <p:cNvSpPr/>
          <p:nvPr/>
        </p:nvSpPr>
        <p:spPr>
          <a:xfrm>
            <a:off x="3826632" y="3145296"/>
            <a:ext cx="1490663" cy="338137"/>
          </a:xfrm>
          <a:prstGeom prst="roundRect">
            <a:avLst>
              <a:gd name="adj" fmla="val 50000"/>
            </a:avLst>
          </a:prstGeom>
          <a:solidFill>
            <a:srgbClr val="FDF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" name="Text 39"/>
          <p:cNvSpPr/>
          <p:nvPr/>
        </p:nvSpPr>
        <p:spPr>
          <a:xfrm>
            <a:off x="4010174" y="3202558"/>
            <a:ext cx="1517801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20" dirty="0">
                <a:solidFill>
                  <a:srgbClr val="F2C3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↺</a:t>
            </a:r>
            <a:r>
              <a:rPr lang="en-US" sz="1190" b="1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날로 순환</a:t>
            </a:r>
            <a:endParaRPr lang="en-US" sz="12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549064" y="258217"/>
            <a:ext cx="1114425" cy="285750"/>
          </a:xfrm>
          <a:prstGeom prst="roundRect">
            <a:avLst>
              <a:gd name="adj" fmla="val 50000"/>
            </a:avLst>
          </a:prstGeom>
          <a:solidFill>
            <a:srgbClr val="FFD55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677205" y="360573"/>
            <a:ext cx="80962" cy="80962"/>
          </a:xfrm>
          <a:prstGeom prst="roundRect">
            <a:avLst>
              <a:gd name="adj" fmla="val 28235"/>
            </a:avLst>
          </a:prstGeom>
          <a:solidFill>
            <a:srgbClr val="4A443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822796" y="307777"/>
            <a:ext cx="984290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새 사이클</a:t>
            </a:r>
            <a:endParaRPr lang="en-US" sz="1080" dirty="0"/>
          </a:p>
        </p:txBody>
      </p:sp>
      <p:sp>
        <p:nvSpPr>
          <p:cNvPr id="6" name="Text 4"/>
          <p:cNvSpPr/>
          <p:nvPr/>
        </p:nvSpPr>
        <p:spPr>
          <a:xfrm>
            <a:off x="8013874" y="307777"/>
            <a:ext cx="813160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kern="0" spc="151" dirty="0">
                <a:solidFill>
                  <a:srgbClr val="B6B1A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조각조각</a:t>
            </a:r>
            <a:endParaRPr lang="en-US" sz="1080" dirty="0"/>
          </a:p>
        </p:txBody>
      </p:sp>
      <p:sp>
        <p:nvSpPr>
          <p:cNvPr id="7" name="Text 5"/>
          <p:cNvSpPr/>
          <p:nvPr/>
        </p:nvSpPr>
        <p:spPr>
          <a:xfrm>
            <a:off x="548580" y="605730"/>
            <a:ext cx="3619827" cy="3095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kern="0" spc="-18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온보딩 ① 스토리 — 4장 모두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398788" y="691455"/>
            <a:ext cx="4288869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8982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'움직이면 기분이 따라온다'를 훈계 없이 이야기로 전달</a:t>
            </a:r>
            <a:endParaRPr lang="en-US" sz="115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2662" y="1047899"/>
            <a:ext cx="1014413" cy="2262187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2186025" y="3381673"/>
            <a:ext cx="547687" cy="238125"/>
          </a:xfrm>
          <a:prstGeom prst="roundRect">
            <a:avLst>
              <a:gd name="adj" fmla="val 50000"/>
            </a:avLst>
          </a:prstGeom>
          <a:solidFill>
            <a:srgbClr val="FFD55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2276624" y="3407420"/>
            <a:ext cx="533586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567"/>
              </a:spcBef>
              <a:buNone/>
            </a:pPr>
            <a:r>
              <a:rPr lang="en-US" sz="1080" b="1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 공감</a:t>
            </a:r>
            <a:endParaRPr lang="en-US" sz="1080" dirty="0"/>
          </a:p>
        </p:txBody>
      </p:sp>
      <p:sp>
        <p:nvSpPr>
          <p:cNvPr id="12" name="Text 9"/>
          <p:cNvSpPr/>
          <p:nvPr/>
        </p:nvSpPr>
        <p:spPr>
          <a:xfrm>
            <a:off x="1728828" y="3655293"/>
            <a:ext cx="1462080" cy="5560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58"/>
              </a:lnSpc>
              <a:buNone/>
            </a:pPr>
            <a:r>
              <a:rPr lang="en-US" sz="1080" dirty="0">
                <a:solidFill>
                  <a:srgbClr val="8982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아무것도 하기 싫은</a:t>
            </a:r>
            <a:endParaRPr lang="en-US" sz="1080" dirty="0"/>
          </a:p>
          <a:p>
            <a:pPr marL="0" indent="0" algn="ctr">
              <a:lnSpc>
                <a:spcPts val="1458"/>
              </a:lnSpc>
              <a:buNone/>
            </a:pPr>
            <a:r>
              <a:rPr lang="en-US" sz="1080" dirty="0">
                <a:solidFill>
                  <a:srgbClr val="8982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날들, 조각이도</a:t>
            </a:r>
            <a:endParaRPr lang="en-US" sz="1080" dirty="0"/>
          </a:p>
          <a:p>
            <a:pPr marL="0" indent="0" algn="ctr">
              <a:lnSpc>
                <a:spcPts val="1458"/>
              </a:lnSpc>
              <a:buNone/>
            </a:pPr>
            <a:r>
              <a:rPr lang="en-US" sz="1080" dirty="0">
                <a:solidFill>
                  <a:srgbClr val="8982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그랬다</a:t>
            </a:r>
            <a:endParaRPr lang="en-US" sz="108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0725" y="1047899"/>
            <a:ext cx="1014413" cy="2262187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3529794" y="3381673"/>
            <a:ext cx="676275" cy="238125"/>
          </a:xfrm>
          <a:prstGeom prst="roundRect">
            <a:avLst>
              <a:gd name="adj" fmla="val 50000"/>
            </a:avLst>
          </a:prstGeom>
          <a:solidFill>
            <a:srgbClr val="FFD55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1"/>
          <p:cNvSpPr/>
          <p:nvPr/>
        </p:nvSpPr>
        <p:spPr>
          <a:xfrm>
            <a:off x="3621584" y="3407420"/>
            <a:ext cx="697654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567"/>
              </a:spcBef>
              <a:buNone/>
            </a:pPr>
            <a:r>
              <a:rPr lang="en-US" sz="1080" b="1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 악순환</a:t>
            </a:r>
            <a:endParaRPr lang="en-US" sz="1080" dirty="0"/>
          </a:p>
        </p:txBody>
      </p:sp>
      <p:sp>
        <p:nvSpPr>
          <p:cNvPr id="16" name="Text 12"/>
          <p:cNvSpPr/>
          <p:nvPr/>
        </p:nvSpPr>
        <p:spPr>
          <a:xfrm>
            <a:off x="3113674" y="3655293"/>
            <a:ext cx="1508514" cy="5560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58"/>
              </a:lnSpc>
              <a:buNone/>
            </a:pPr>
            <a:r>
              <a:rPr lang="en-US" sz="1080" dirty="0">
                <a:solidFill>
                  <a:srgbClr val="8982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안 움직이면 좋은</a:t>
            </a:r>
            <a:endParaRPr lang="en-US" sz="1080" dirty="0"/>
          </a:p>
          <a:p>
            <a:pPr marL="0" indent="0" algn="ctr">
              <a:lnSpc>
                <a:spcPts val="1458"/>
              </a:lnSpc>
              <a:buNone/>
            </a:pPr>
            <a:r>
              <a:rPr lang="en-US" sz="1080" dirty="0">
                <a:solidFill>
                  <a:srgbClr val="8982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일도 차단돼 더 가라앉는</a:t>
            </a:r>
            <a:endParaRPr lang="en-US" sz="1080" dirty="0"/>
          </a:p>
          <a:p>
            <a:pPr marL="0" indent="0" algn="ctr">
              <a:lnSpc>
                <a:spcPts val="1458"/>
              </a:lnSpc>
              <a:buNone/>
            </a:pPr>
            <a:r>
              <a:rPr lang="en-US" sz="1080" dirty="0">
                <a:solidFill>
                  <a:srgbClr val="8982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원리</a:t>
            </a:r>
            <a:endParaRPr lang="en-US" sz="108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8788" y="1047899"/>
            <a:ext cx="1014413" cy="2262187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4937857" y="3381673"/>
            <a:ext cx="676275" cy="238125"/>
          </a:xfrm>
          <a:prstGeom prst="roundRect">
            <a:avLst>
              <a:gd name="adj" fmla="val 50000"/>
            </a:avLst>
          </a:prstGeom>
          <a:solidFill>
            <a:srgbClr val="FFD55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4"/>
          <p:cNvSpPr/>
          <p:nvPr/>
        </p:nvSpPr>
        <p:spPr>
          <a:xfrm>
            <a:off x="5029646" y="3407420"/>
            <a:ext cx="697654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567"/>
              </a:spcBef>
              <a:buNone/>
            </a:pPr>
            <a:r>
              <a:rPr lang="en-US" sz="1080" b="1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 뒤집기</a:t>
            </a:r>
            <a:endParaRPr lang="en-US" sz="1080" dirty="0"/>
          </a:p>
        </p:txBody>
      </p:sp>
      <p:sp>
        <p:nvSpPr>
          <p:cNvPr id="20" name="Text 15"/>
          <p:cNvSpPr/>
          <p:nvPr/>
        </p:nvSpPr>
        <p:spPr>
          <a:xfrm>
            <a:off x="4497854" y="3655293"/>
            <a:ext cx="1556206" cy="5560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58"/>
              </a:lnSpc>
              <a:buNone/>
            </a:pPr>
            <a:r>
              <a:rPr lang="en-US" sz="1080" dirty="0">
                <a:solidFill>
                  <a:srgbClr val="8982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기분을 기다리지</a:t>
            </a:r>
            <a:endParaRPr lang="en-US" sz="1080" dirty="0"/>
          </a:p>
          <a:p>
            <a:pPr marL="0" indent="0" algn="ctr">
              <a:lnSpc>
                <a:spcPts val="1458"/>
              </a:lnSpc>
              <a:buNone/>
            </a:pPr>
            <a:r>
              <a:rPr lang="en-US" sz="1080" dirty="0">
                <a:solidFill>
                  <a:srgbClr val="8982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않고, 아주 작은 행동이</a:t>
            </a:r>
            <a:endParaRPr lang="en-US" sz="1080" dirty="0"/>
          </a:p>
          <a:p>
            <a:pPr marL="0" indent="0" algn="ctr">
              <a:lnSpc>
                <a:spcPts val="1458"/>
              </a:lnSpc>
              <a:buNone/>
            </a:pPr>
            <a:r>
              <a:rPr lang="en-US" sz="1080" dirty="0">
                <a:solidFill>
                  <a:srgbClr val="8982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먼저</a:t>
            </a:r>
            <a:endParaRPr lang="en-US" sz="108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6851" y="1047899"/>
            <a:ext cx="1014413" cy="2262187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6410213" y="3381673"/>
            <a:ext cx="547687" cy="238125"/>
          </a:xfrm>
          <a:prstGeom prst="roundRect">
            <a:avLst>
              <a:gd name="adj" fmla="val 50000"/>
            </a:avLst>
          </a:prstGeom>
          <a:solidFill>
            <a:srgbClr val="FFD55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17"/>
          <p:cNvSpPr/>
          <p:nvPr/>
        </p:nvSpPr>
        <p:spPr>
          <a:xfrm>
            <a:off x="6500813" y="3407420"/>
            <a:ext cx="533586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567"/>
              </a:spcBef>
              <a:buNone/>
            </a:pPr>
            <a:r>
              <a:rPr lang="en-US" sz="1080" b="1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 가치</a:t>
            </a:r>
            <a:endParaRPr lang="en-US" sz="1080" dirty="0"/>
          </a:p>
        </p:txBody>
      </p:sp>
      <p:sp>
        <p:nvSpPr>
          <p:cNvPr id="24" name="Text 18"/>
          <p:cNvSpPr/>
          <p:nvPr/>
        </p:nvSpPr>
        <p:spPr>
          <a:xfrm>
            <a:off x="5912871" y="3655293"/>
            <a:ext cx="1542373" cy="5560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58"/>
              </a:lnSpc>
              <a:buNone/>
            </a:pPr>
            <a:r>
              <a:rPr lang="en-US" sz="1080" dirty="0">
                <a:solidFill>
                  <a:srgbClr val="8982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'나에게 중요한 것'을</a:t>
            </a:r>
            <a:endParaRPr lang="en-US" sz="1080" dirty="0"/>
          </a:p>
          <a:p>
            <a:pPr marL="0" indent="0" algn="ctr">
              <a:lnSpc>
                <a:spcPts val="1458"/>
              </a:lnSpc>
              <a:buNone/>
            </a:pPr>
            <a:r>
              <a:rPr lang="en-US" sz="1080" dirty="0">
                <a:solidFill>
                  <a:srgbClr val="8982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골라 이후 조각과</a:t>
            </a:r>
            <a:endParaRPr lang="en-US" sz="1080" dirty="0"/>
          </a:p>
          <a:p>
            <a:pPr marL="0" indent="0" algn="ctr">
              <a:lnSpc>
                <a:spcPts val="1458"/>
              </a:lnSpc>
              <a:buNone/>
            </a:pPr>
            <a:r>
              <a:rPr lang="en-US" sz="1080" dirty="0">
                <a:solidFill>
                  <a:srgbClr val="8982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연결</a:t>
            </a:r>
            <a:endParaRPr lang="en-US" sz="1080" dirty="0"/>
          </a:p>
        </p:txBody>
      </p:sp>
      <p:sp>
        <p:nvSpPr>
          <p:cNvPr id="25" name="Shape 19"/>
          <p:cNvSpPr/>
          <p:nvPr/>
        </p:nvSpPr>
        <p:spPr>
          <a:xfrm>
            <a:off x="547688" y="4216450"/>
            <a:ext cx="8048625" cy="514350"/>
          </a:xfrm>
          <a:prstGeom prst="roundRect">
            <a:avLst>
              <a:gd name="adj" fmla="val 19556"/>
            </a:avLst>
          </a:prstGeom>
          <a:solidFill>
            <a:srgbClr val="FFFFFF"/>
          </a:solidFill>
          <a:ln/>
          <a:effectLst>
            <a:outerShdw blurRad="123444" dist="41148" dir="5400000" algn="bl" rotWithShape="0">
              <a:srgbClr val="4A443A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0"/>
          <p:cNvSpPr/>
          <p:nvPr/>
        </p:nvSpPr>
        <p:spPr>
          <a:xfrm>
            <a:off x="713519" y="4352181"/>
            <a:ext cx="866775" cy="242888"/>
          </a:xfrm>
          <a:prstGeom prst="roundRect">
            <a:avLst>
              <a:gd name="adj" fmla="val 50000"/>
            </a:avLst>
          </a:prstGeom>
          <a:solidFill>
            <a:srgbClr val="FFD55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1"/>
          <p:cNvSpPr/>
          <p:nvPr/>
        </p:nvSpPr>
        <p:spPr>
          <a:xfrm>
            <a:off x="813643" y="4380309"/>
            <a:ext cx="923635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설계 포인트</a:t>
            </a:r>
            <a:endParaRPr lang="en-US" sz="1080" dirty="0"/>
          </a:p>
        </p:txBody>
      </p:sp>
      <p:sp>
        <p:nvSpPr>
          <p:cNvPr id="28" name="Text 22"/>
          <p:cNvSpPr/>
          <p:nvPr/>
        </p:nvSpPr>
        <p:spPr>
          <a:xfrm>
            <a:off x="1708696" y="4277544"/>
            <a:ext cx="8633869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건너뛰기는 항상 가능(강요 없음) · 진단·치료 같은 말은 쓰지 않음 · 여기서 고른 가치가 이후 모든 조각 추천의 뿌리가</a:t>
            </a:r>
            <a:endParaRPr lang="en-US" sz="1120" dirty="0"/>
          </a:p>
        </p:txBody>
      </p:sp>
      <p:sp>
        <p:nvSpPr>
          <p:cNvPr id="29" name="Text 23"/>
          <p:cNvSpPr/>
          <p:nvPr/>
        </p:nvSpPr>
        <p:spPr>
          <a:xfrm>
            <a:off x="1875830" y="4468862"/>
            <a:ext cx="226732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됨</a:t>
            </a:r>
            <a:endParaRPr lang="en-US" sz="1120" dirty="0"/>
          </a:p>
        </p:txBody>
      </p:sp>
      <p:sp>
        <p:nvSpPr>
          <p:cNvPr id="30" name="Text 24"/>
          <p:cNvSpPr/>
          <p:nvPr/>
        </p:nvSpPr>
        <p:spPr>
          <a:xfrm>
            <a:off x="548580" y="4741664"/>
            <a:ext cx="2112645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8982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BA 챌린지 사이클 개선 보고</a:t>
            </a:r>
            <a:endParaRPr lang="en-US" sz="1080" dirty="0"/>
          </a:p>
        </p:txBody>
      </p:sp>
      <p:sp>
        <p:nvSpPr>
          <p:cNvPr id="31" name="Text 25"/>
          <p:cNvSpPr/>
          <p:nvPr/>
        </p:nvSpPr>
        <p:spPr>
          <a:xfrm>
            <a:off x="8159279" y="4741664"/>
            <a:ext cx="624133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8982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 / 23</a:t>
            </a:r>
            <a:endParaRPr lang="en-US" sz="10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549064" y="258217"/>
            <a:ext cx="1114425" cy="285750"/>
          </a:xfrm>
          <a:prstGeom prst="roundRect">
            <a:avLst>
              <a:gd name="adj" fmla="val 50000"/>
            </a:avLst>
          </a:prstGeom>
          <a:solidFill>
            <a:srgbClr val="FFD55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677205" y="360573"/>
            <a:ext cx="80962" cy="80962"/>
          </a:xfrm>
          <a:prstGeom prst="roundRect">
            <a:avLst>
              <a:gd name="adj" fmla="val 28235"/>
            </a:avLst>
          </a:prstGeom>
          <a:solidFill>
            <a:srgbClr val="4A443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822796" y="307777"/>
            <a:ext cx="984290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새 사이클</a:t>
            </a:r>
            <a:endParaRPr lang="en-US" sz="1080" dirty="0"/>
          </a:p>
        </p:txBody>
      </p:sp>
      <p:sp>
        <p:nvSpPr>
          <p:cNvPr id="6" name="Text 4"/>
          <p:cNvSpPr/>
          <p:nvPr/>
        </p:nvSpPr>
        <p:spPr>
          <a:xfrm>
            <a:off x="8013874" y="307777"/>
            <a:ext cx="813160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kern="0" spc="151" dirty="0">
                <a:solidFill>
                  <a:srgbClr val="B6B1A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조각조각</a:t>
            </a:r>
            <a:endParaRPr lang="en-US" sz="1080" dirty="0"/>
          </a:p>
        </p:txBody>
      </p:sp>
      <p:sp>
        <p:nvSpPr>
          <p:cNvPr id="7" name="Text 5"/>
          <p:cNvSpPr/>
          <p:nvPr/>
        </p:nvSpPr>
        <p:spPr>
          <a:xfrm>
            <a:off x="548580" y="605730"/>
            <a:ext cx="4599883" cy="3095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kern="0" spc="-18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온보딩 ② 시작 체크리스트 — 15문항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152677" y="691455"/>
            <a:ext cx="3962087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8982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은둔·고립 신호를 심각도 총점으로 — 최종 15문항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7613" y="1057982"/>
            <a:ext cx="3476625" cy="3648075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/>
          <a:effectLst>
            <a:outerShdw blurRad="154305" dist="51435" dir="5400000" algn="bl" rotWithShape="0">
              <a:srgbClr val="4A443A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713631" y="1221804"/>
            <a:ext cx="2047875" cy="247650"/>
          </a:xfrm>
          <a:prstGeom prst="roundRect">
            <a:avLst>
              <a:gd name="adj" fmla="val 50000"/>
            </a:avLst>
          </a:prstGeom>
          <a:solidFill>
            <a:srgbClr val="F5F1E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822796" y="1252314"/>
            <a:ext cx="2435557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어떻게 묻나 — 카페에서 말 걸듯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711919" y="1551905"/>
            <a:ext cx="3148012" cy="338137"/>
          </a:xfrm>
          <a:prstGeom prst="roundRect">
            <a:avLst>
              <a:gd name="adj" fmla="val 24338"/>
            </a:avLst>
          </a:prstGeom>
          <a:solidFill>
            <a:srgbClr val="F5F1E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831949" y="1617315"/>
            <a:ext cx="2048894" cy="2047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90" b="1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"요즘 밤낮이 바뀌었어?"</a:t>
            </a:r>
            <a:endParaRPr lang="en-US" sz="1190" dirty="0"/>
          </a:p>
        </p:txBody>
      </p:sp>
      <p:sp>
        <p:nvSpPr>
          <p:cNvPr id="14" name="Shape 12"/>
          <p:cNvSpPr/>
          <p:nvPr/>
        </p:nvSpPr>
        <p:spPr>
          <a:xfrm>
            <a:off x="711919" y="1953071"/>
            <a:ext cx="3148012" cy="338137"/>
          </a:xfrm>
          <a:prstGeom prst="roundRect">
            <a:avLst>
              <a:gd name="adj" fmla="val 24338"/>
            </a:avLst>
          </a:prstGeom>
          <a:solidFill>
            <a:srgbClr val="F5F1E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831949" y="2018481"/>
            <a:ext cx="2048894" cy="2047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90" b="1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"샤워나 목욕이 힘들어?"</a:t>
            </a:r>
            <a:endParaRPr lang="en-US" sz="1190" dirty="0"/>
          </a:p>
        </p:txBody>
      </p:sp>
      <p:sp>
        <p:nvSpPr>
          <p:cNvPr id="16" name="Shape 14"/>
          <p:cNvSpPr/>
          <p:nvPr/>
        </p:nvSpPr>
        <p:spPr>
          <a:xfrm>
            <a:off x="711919" y="2353121"/>
            <a:ext cx="3148012" cy="566738"/>
          </a:xfrm>
          <a:prstGeom prst="roundRect">
            <a:avLst>
              <a:gd name="adj" fmla="val 14521"/>
            </a:avLst>
          </a:prstGeom>
          <a:solidFill>
            <a:srgbClr val="F5F1E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831949" y="2419648"/>
            <a:ext cx="3572426" cy="431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82"/>
              </a:lnSpc>
              <a:buNone/>
            </a:pPr>
            <a:r>
              <a:rPr lang="en-US" sz="1190" b="1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"방에서 잘 안 나오거나, 아무도 못 들어오게</a:t>
            </a:r>
            <a:endParaRPr lang="en-US" sz="1190" dirty="0"/>
          </a:p>
          <a:p>
            <a:pPr marL="0" indent="0" algn="l">
              <a:lnSpc>
                <a:spcPts val="1782"/>
              </a:lnSpc>
              <a:buNone/>
            </a:pPr>
            <a:r>
              <a:rPr lang="en-US" sz="1190" b="1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해?"</a:t>
            </a:r>
            <a:endParaRPr lang="en-US" sz="1190" dirty="0"/>
          </a:p>
        </p:txBody>
      </p:sp>
      <p:sp>
        <p:nvSpPr>
          <p:cNvPr id="18" name="Text 16"/>
          <p:cNvSpPr/>
          <p:nvPr/>
        </p:nvSpPr>
        <p:spPr>
          <a:xfrm>
            <a:off x="804490" y="3036912"/>
            <a:ext cx="431624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4A443A"/>
                </a:solidFill>
                <a:highlight>
                  <a:srgbClr val="FFD55F"/>
                </a:highlight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응답</a:t>
            </a:r>
            <a:endParaRPr lang="en-US" sz="1080" dirty="0"/>
          </a:p>
        </p:txBody>
      </p:sp>
      <p:sp>
        <p:nvSpPr>
          <p:cNvPr id="19" name="Text 17"/>
          <p:cNvSpPr/>
          <p:nvPr/>
        </p:nvSpPr>
        <p:spPr>
          <a:xfrm>
            <a:off x="1441028" y="3025229"/>
            <a:ext cx="3153839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8982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전혀 아니야 0 · 가끔 그래 1 · 자주 그래 2</a:t>
            </a:r>
            <a:endParaRPr lang="en-US" sz="1120" dirty="0"/>
          </a:p>
        </p:txBody>
      </p:sp>
      <p:sp>
        <p:nvSpPr>
          <p:cNvPr id="20" name="Text 18"/>
          <p:cNvSpPr/>
          <p:nvPr/>
        </p:nvSpPr>
        <p:spPr>
          <a:xfrm>
            <a:off x="804490" y="3242593"/>
            <a:ext cx="385286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4A443A"/>
                </a:solidFill>
                <a:highlight>
                  <a:srgbClr val="FFD55F"/>
                </a:highlight>
                <a:latin typeface="Pretendard" pitchFamily="34" charset="0"/>
                <a:ea typeface="Pretendard" pitchFamily="34" charset="-122"/>
                <a:cs typeface="Pretendard" pitchFamily="34" charset="-120"/>
              </a:rPr>
              <a:t>4단계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1441028" y="3237830"/>
            <a:ext cx="1033433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8982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완전 그래 3</a:t>
            </a:r>
            <a:endParaRPr lang="en-US" sz="1120" dirty="0"/>
          </a:p>
        </p:txBody>
      </p:sp>
      <p:sp>
        <p:nvSpPr>
          <p:cNvPr id="22" name="Text 20"/>
          <p:cNvSpPr/>
          <p:nvPr/>
        </p:nvSpPr>
        <p:spPr>
          <a:xfrm>
            <a:off x="713110" y="4157811"/>
            <a:ext cx="4098682" cy="3777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12"/>
              </a:lnSpc>
              <a:buNone/>
            </a:pPr>
            <a:r>
              <a:rPr lang="en-US" sz="1080" dirty="0">
                <a:solidFill>
                  <a:srgbClr val="8982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진단 아님 — 공식 컷오프 없이 참고용으로만 쓰고, 결과</a:t>
            </a:r>
            <a:endParaRPr lang="en-US" sz="1080" dirty="0"/>
          </a:p>
          <a:p>
            <a:pPr marL="0" indent="0" algn="l">
              <a:lnSpc>
                <a:spcPts val="1512"/>
              </a:lnSpc>
              <a:buNone/>
            </a:pPr>
            <a:r>
              <a:rPr lang="en-US" sz="1080" dirty="0">
                <a:solidFill>
                  <a:srgbClr val="8982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점수는 화면에 보여주지 않는다</a:t>
            </a:r>
            <a:endParaRPr lang="en-US" sz="1080" dirty="0"/>
          </a:p>
        </p:txBody>
      </p:sp>
      <p:sp>
        <p:nvSpPr>
          <p:cNvPr id="23" name="Text 21"/>
          <p:cNvSpPr/>
          <p:nvPr/>
        </p:nvSpPr>
        <p:spPr>
          <a:xfrm>
            <a:off x="4187800" y="1067246"/>
            <a:ext cx="2621682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2C3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15개의 답이 정해주는 세 가지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188954" y="1349648"/>
            <a:ext cx="4405313" cy="552450"/>
          </a:xfrm>
          <a:prstGeom prst="roundRect">
            <a:avLst>
              <a:gd name="adj" fmla="val 18207"/>
            </a:avLst>
          </a:prstGeom>
          <a:solidFill>
            <a:srgbClr val="FFFFFF"/>
          </a:solidFill>
          <a:ln/>
          <a:effectLst>
            <a:outerShdw blurRad="123444" dist="41148" dir="5400000" algn="bl" rotWithShape="0">
              <a:srgbClr val="4A443A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4324945" y="1431354"/>
            <a:ext cx="228600" cy="228600"/>
          </a:xfrm>
          <a:prstGeom prst="roundRect">
            <a:avLst>
              <a:gd name="adj" fmla="val 28000"/>
            </a:avLst>
          </a:prstGeom>
          <a:solidFill>
            <a:srgbClr val="FFD55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4396308" y="1445419"/>
            <a:ext cx="168689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81"/>
              </a:spcBef>
              <a:buNone/>
            </a:pPr>
            <a:r>
              <a:rPr lang="en-US" sz="1150" b="1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654079" y="1421085"/>
            <a:ext cx="4973583" cy="404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13"/>
              </a:lnSpc>
              <a:buNone/>
            </a:pPr>
            <a:r>
              <a:rPr lang="en-US" sz="1150" b="1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심각도 총점 (0~45점)</a:t>
            </a:r>
            <a:r>
              <a:rPr lang="en-US" sz="1150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— 15문항을 다 더한 값으로 첫 난이도를</a:t>
            </a:r>
            <a:endParaRPr lang="en-US" sz="1150" dirty="0"/>
          </a:p>
          <a:p>
            <a:pPr marL="0" indent="0" algn="l">
              <a:lnSpc>
                <a:spcPts val="1613"/>
              </a:lnSpc>
              <a:buNone/>
            </a:pPr>
            <a:r>
              <a:rPr lang="en-US" sz="1150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정함 </a:t>
            </a:r>
            <a:r>
              <a:rPr lang="en-US" sz="1150" dirty="0">
                <a:solidFill>
                  <a:srgbClr val="8982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(규정 1 · 15장)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188954" y="1975098"/>
            <a:ext cx="4405313" cy="552450"/>
          </a:xfrm>
          <a:prstGeom prst="roundRect">
            <a:avLst>
              <a:gd name="adj" fmla="val 18207"/>
            </a:avLst>
          </a:prstGeom>
          <a:solidFill>
            <a:srgbClr val="FFFFFF"/>
          </a:solidFill>
          <a:ln/>
          <a:effectLst>
            <a:outerShdw blurRad="123444" dist="41148" dir="5400000" algn="bl" rotWithShape="0">
              <a:srgbClr val="4A443A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4324945" y="2056805"/>
            <a:ext cx="228600" cy="228600"/>
          </a:xfrm>
          <a:prstGeom prst="roundRect">
            <a:avLst>
              <a:gd name="adj" fmla="val 28000"/>
            </a:avLst>
          </a:prstGeom>
          <a:solidFill>
            <a:srgbClr val="FFD55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4396308" y="2070869"/>
            <a:ext cx="168689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81"/>
              </a:spcBef>
              <a:buNone/>
            </a:pPr>
            <a:r>
              <a:rPr lang="en-US" sz="1150" b="1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654079" y="2046536"/>
            <a:ext cx="497397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4영역 시드</a:t>
            </a:r>
            <a:r>
              <a:rPr lang="en-US" sz="1150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— 문항마다 주영역 1.0 + 보조영역 0.3~0.5 가중치로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4826645" y="2251323"/>
            <a:ext cx="2579214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점수가 쌓여 시작 트랙 후보가 됨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188954" y="2600548"/>
            <a:ext cx="4405313" cy="552450"/>
          </a:xfrm>
          <a:prstGeom prst="roundRect">
            <a:avLst>
              <a:gd name="adj" fmla="val 18207"/>
            </a:avLst>
          </a:prstGeom>
          <a:solidFill>
            <a:srgbClr val="FFFFFF"/>
          </a:solidFill>
          <a:ln/>
          <a:effectLst>
            <a:outerShdw blurRad="123444" dist="41148" dir="5400000" algn="bl" rotWithShape="0">
              <a:srgbClr val="4A443A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4324945" y="2682255"/>
            <a:ext cx="228600" cy="228600"/>
          </a:xfrm>
          <a:prstGeom prst="roundRect">
            <a:avLst>
              <a:gd name="adj" fmla="val 28000"/>
            </a:avLst>
          </a:prstGeom>
          <a:solidFill>
            <a:srgbClr val="FFD55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4396308" y="2696319"/>
            <a:ext cx="168689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81"/>
              </a:spcBef>
              <a:buNone/>
            </a:pPr>
            <a:r>
              <a:rPr lang="en-US" sz="1150" b="1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4654079" y="2671986"/>
            <a:ext cx="495646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은둔신호</a:t>
            </a:r>
            <a:r>
              <a:rPr lang="en-US" sz="1150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— 5·6·14번 세 문항만 모은 태그. 높으면 관계·사회진입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4826645" y="2876773"/>
            <a:ext cx="2879683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게이트를 잠글지 판단하는 데만 사용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4188954" y="4211836"/>
            <a:ext cx="4405313" cy="495300"/>
          </a:xfrm>
          <a:prstGeom prst="roundRect">
            <a:avLst>
              <a:gd name="adj" fmla="val 20308"/>
            </a:avLst>
          </a:prstGeom>
          <a:solidFill>
            <a:srgbClr val="4A443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7"/>
          <p:cNvSpPr/>
          <p:nvPr/>
        </p:nvSpPr>
        <p:spPr>
          <a:xfrm>
            <a:off x="4334991" y="4340423"/>
            <a:ext cx="433388" cy="238125"/>
          </a:xfrm>
          <a:prstGeom prst="roundRect">
            <a:avLst>
              <a:gd name="adj" fmla="val 50000"/>
            </a:avLst>
          </a:prstGeom>
          <a:solidFill>
            <a:srgbClr val="FFD55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/>
          <p:nvPr/>
        </p:nvSpPr>
        <p:spPr>
          <a:xfrm>
            <a:off x="4425479" y="4366171"/>
            <a:ext cx="385286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주의</a:t>
            </a:r>
            <a:endParaRPr lang="en-US" sz="1080" dirty="0"/>
          </a:p>
        </p:txBody>
      </p:sp>
      <p:sp>
        <p:nvSpPr>
          <p:cNvPr id="41" name="Text 39"/>
          <p:cNvSpPr/>
          <p:nvPr/>
        </p:nvSpPr>
        <p:spPr>
          <a:xfrm>
            <a:off x="4860652" y="4269581"/>
            <a:ext cx="4674178" cy="370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8"/>
              </a:lnSpc>
              <a:buNone/>
            </a:pPr>
            <a:r>
              <a:rPr lang="en-US" sz="1080" dirty="0">
                <a:solidFill>
                  <a:srgbClr val="FDFB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심각도 총점(15문항 합)과 은둔신호(3문항 태그)는 서로 다른 값</a:t>
            </a:r>
            <a:endParaRPr lang="en-US" sz="1080" dirty="0"/>
          </a:p>
          <a:p>
            <a:pPr marL="0" indent="0" algn="l">
              <a:lnSpc>
                <a:spcPts val="1458"/>
              </a:lnSpc>
              <a:buNone/>
            </a:pPr>
            <a:r>
              <a:rPr lang="en-US" sz="1080" dirty="0">
                <a:solidFill>
                  <a:srgbClr val="FDFB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용도를 섞지 않는다</a:t>
            </a:r>
            <a:endParaRPr lang="en-US" sz="1080" dirty="0"/>
          </a:p>
        </p:txBody>
      </p:sp>
      <p:sp>
        <p:nvSpPr>
          <p:cNvPr id="42" name="Text 40"/>
          <p:cNvSpPr/>
          <p:nvPr/>
        </p:nvSpPr>
        <p:spPr>
          <a:xfrm>
            <a:off x="548580" y="4741664"/>
            <a:ext cx="2112645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8982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BA 챌린지 사이클 개선 보고</a:t>
            </a:r>
            <a:endParaRPr lang="en-US" sz="1080" dirty="0"/>
          </a:p>
        </p:txBody>
      </p:sp>
      <p:sp>
        <p:nvSpPr>
          <p:cNvPr id="43" name="Text 41"/>
          <p:cNvSpPr/>
          <p:nvPr/>
        </p:nvSpPr>
        <p:spPr>
          <a:xfrm>
            <a:off x="8159279" y="4741664"/>
            <a:ext cx="624133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8982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 / 23</a:t>
            </a:r>
            <a:endParaRPr lang="en-US" sz="10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549064" y="258217"/>
            <a:ext cx="1114425" cy="285750"/>
          </a:xfrm>
          <a:prstGeom prst="roundRect">
            <a:avLst>
              <a:gd name="adj" fmla="val 50000"/>
            </a:avLst>
          </a:prstGeom>
          <a:solidFill>
            <a:srgbClr val="FFD55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677205" y="360573"/>
            <a:ext cx="80962" cy="80962"/>
          </a:xfrm>
          <a:prstGeom prst="roundRect">
            <a:avLst>
              <a:gd name="adj" fmla="val 28235"/>
            </a:avLst>
          </a:prstGeom>
          <a:solidFill>
            <a:srgbClr val="4A443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822796" y="307777"/>
            <a:ext cx="984290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새 사이클</a:t>
            </a:r>
            <a:endParaRPr lang="en-US" sz="1080" dirty="0"/>
          </a:p>
        </p:txBody>
      </p:sp>
      <p:sp>
        <p:nvSpPr>
          <p:cNvPr id="6" name="Text 4"/>
          <p:cNvSpPr/>
          <p:nvPr/>
        </p:nvSpPr>
        <p:spPr>
          <a:xfrm>
            <a:off x="8013874" y="307777"/>
            <a:ext cx="813160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kern="0" spc="151" dirty="0">
                <a:solidFill>
                  <a:srgbClr val="B6B1A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조각조각</a:t>
            </a:r>
            <a:endParaRPr lang="en-US" sz="108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8577" y="759135"/>
            <a:ext cx="1357313" cy="380523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245941" y="1600498"/>
            <a:ext cx="1194695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F2C3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온보딩 ③ 첫 주</a:t>
            </a:r>
            <a:endParaRPr lang="en-US" sz="1080" dirty="0"/>
          </a:p>
        </p:txBody>
      </p:sp>
      <p:sp>
        <p:nvSpPr>
          <p:cNvPr id="9" name="Text 6"/>
          <p:cNvSpPr/>
          <p:nvPr/>
        </p:nvSpPr>
        <p:spPr>
          <a:xfrm>
            <a:off x="3245941" y="1833786"/>
            <a:ext cx="5726207" cy="3095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405"/>
              </a:spcBef>
              <a:buNone/>
            </a:pPr>
            <a:r>
              <a:rPr lang="en-US" sz="1800" b="1" kern="0" spc="-18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아주 작은 고정 조각으로, 일주일의 시작 데이터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3246388" y="2329607"/>
            <a:ext cx="90488" cy="90488"/>
          </a:xfrm>
          <a:prstGeom prst="roundRect">
            <a:avLst>
              <a:gd name="adj" fmla="val 28295"/>
            </a:avLst>
          </a:prstGeom>
          <a:solidFill>
            <a:srgbClr val="FFD55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3437855" y="2288084"/>
            <a:ext cx="6689043" cy="4462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89"/>
              </a:lnSpc>
              <a:buNone/>
            </a:pPr>
            <a:r>
              <a:rPr lang="en-US" sz="1260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물 한 잔, 창문 열기처럼 </a:t>
            </a:r>
            <a:r>
              <a:rPr lang="en-US" sz="1260" b="1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실패하기가 더 어려운 조각</a:t>
            </a:r>
            <a:r>
              <a:rPr lang="en-US" sz="1260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만 7개 — 첫 만남에서 성공</a:t>
            </a:r>
            <a:endParaRPr lang="en-US" sz="1260" dirty="0"/>
          </a:p>
          <a:p>
            <a:pPr marL="0" indent="0" algn="l">
              <a:lnSpc>
                <a:spcPts val="1789"/>
              </a:lnSpc>
              <a:buNone/>
            </a:pPr>
            <a:r>
              <a:rPr lang="en-US" sz="1260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경험부터</a:t>
            </a:r>
            <a:endParaRPr lang="en-US" sz="1260" dirty="0"/>
          </a:p>
        </p:txBody>
      </p:sp>
      <p:sp>
        <p:nvSpPr>
          <p:cNvPr id="12" name="Shape 9"/>
          <p:cNvSpPr/>
          <p:nvPr/>
        </p:nvSpPr>
        <p:spPr>
          <a:xfrm>
            <a:off x="3246388" y="2886819"/>
            <a:ext cx="90488" cy="90488"/>
          </a:xfrm>
          <a:prstGeom prst="roundRect">
            <a:avLst>
              <a:gd name="adj" fmla="val 28295"/>
            </a:avLst>
          </a:prstGeom>
          <a:solidFill>
            <a:srgbClr val="FFD55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/>
          <p:nvPr/>
        </p:nvSpPr>
        <p:spPr>
          <a:xfrm>
            <a:off x="3437855" y="2845296"/>
            <a:ext cx="5942127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60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것만 누를 수 있음 — 지난 날은 체크 표시로, 다가올 날은 흐리게</a:t>
            </a:r>
            <a:endParaRPr lang="en-US" sz="1260" dirty="0"/>
          </a:p>
        </p:txBody>
      </p:sp>
      <p:sp>
        <p:nvSpPr>
          <p:cNvPr id="14" name="Shape 11"/>
          <p:cNvSpPr/>
          <p:nvPr/>
        </p:nvSpPr>
        <p:spPr>
          <a:xfrm>
            <a:off x="3246388" y="3216846"/>
            <a:ext cx="90488" cy="90488"/>
          </a:xfrm>
          <a:prstGeom prst="roundRect">
            <a:avLst>
              <a:gd name="adj" fmla="val 28295"/>
            </a:avLst>
          </a:prstGeom>
          <a:solidFill>
            <a:srgbClr val="A8DAD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/>
          <p:nvPr/>
        </p:nvSpPr>
        <p:spPr>
          <a:xfrm>
            <a:off x="3437855" y="3175322"/>
            <a:ext cx="5900723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60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일주일의 기분·완료 기록이 마이페이지 그래프의 </a:t>
            </a:r>
            <a:r>
              <a:rPr lang="en-US" sz="1260" b="1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비교 기준선</a:t>
            </a:r>
            <a:r>
              <a:rPr lang="en-US" sz="1260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됨</a:t>
            </a:r>
            <a:endParaRPr lang="en-US" sz="1260" dirty="0"/>
          </a:p>
        </p:txBody>
      </p:sp>
      <p:sp>
        <p:nvSpPr>
          <p:cNvPr id="16" name="Shape 13"/>
          <p:cNvSpPr/>
          <p:nvPr/>
        </p:nvSpPr>
        <p:spPr>
          <a:xfrm>
            <a:off x="3246388" y="3546872"/>
            <a:ext cx="90488" cy="90488"/>
          </a:xfrm>
          <a:prstGeom prst="roundRect">
            <a:avLst>
              <a:gd name="adj" fmla="val 28295"/>
            </a:avLst>
          </a:prstGeom>
          <a:solidFill>
            <a:srgbClr val="A8DAD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/>
          <p:nvPr/>
        </p:nvSpPr>
        <p:spPr>
          <a:xfrm>
            <a:off x="3437855" y="3505349"/>
            <a:ext cx="5216589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60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 기간, '나 알아가기' 카드가 매일 한 장씩 나옴 → 다음 장</a:t>
            </a:r>
            <a:endParaRPr lang="en-US" sz="1260" dirty="0"/>
          </a:p>
        </p:txBody>
      </p:sp>
      <p:sp>
        <p:nvSpPr>
          <p:cNvPr id="18" name="Text 15"/>
          <p:cNvSpPr/>
          <p:nvPr/>
        </p:nvSpPr>
        <p:spPr>
          <a:xfrm>
            <a:off x="548580" y="4741664"/>
            <a:ext cx="2112645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8982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BA 챌린지 사이클 개선 보고</a:t>
            </a:r>
            <a:endParaRPr lang="en-US" sz="1080" dirty="0"/>
          </a:p>
        </p:txBody>
      </p:sp>
      <p:sp>
        <p:nvSpPr>
          <p:cNvPr id="19" name="Text 16"/>
          <p:cNvSpPr/>
          <p:nvPr/>
        </p:nvSpPr>
        <p:spPr>
          <a:xfrm>
            <a:off x="8159279" y="4741664"/>
            <a:ext cx="624133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8982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 / 23</a:t>
            </a:r>
            <a:endParaRPr lang="en-US" sz="10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549064" y="258217"/>
            <a:ext cx="1114425" cy="285750"/>
          </a:xfrm>
          <a:prstGeom prst="roundRect">
            <a:avLst>
              <a:gd name="adj" fmla="val 50000"/>
            </a:avLst>
          </a:prstGeom>
          <a:solidFill>
            <a:srgbClr val="FFD55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677205" y="360573"/>
            <a:ext cx="80962" cy="80962"/>
          </a:xfrm>
          <a:prstGeom prst="roundRect">
            <a:avLst>
              <a:gd name="adj" fmla="val 28235"/>
            </a:avLst>
          </a:prstGeom>
          <a:solidFill>
            <a:srgbClr val="4A443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822796" y="307777"/>
            <a:ext cx="984290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새 사이클</a:t>
            </a:r>
            <a:endParaRPr lang="en-US" sz="1080" dirty="0"/>
          </a:p>
        </p:txBody>
      </p:sp>
      <p:sp>
        <p:nvSpPr>
          <p:cNvPr id="6" name="Text 4"/>
          <p:cNvSpPr/>
          <p:nvPr/>
        </p:nvSpPr>
        <p:spPr>
          <a:xfrm>
            <a:off x="8013874" y="307777"/>
            <a:ext cx="813160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kern="0" spc="151" dirty="0">
                <a:solidFill>
                  <a:srgbClr val="B6B1A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조각조각</a:t>
            </a:r>
            <a:endParaRPr lang="en-US" sz="1080" dirty="0"/>
          </a:p>
        </p:txBody>
      </p:sp>
      <p:sp>
        <p:nvSpPr>
          <p:cNvPr id="7" name="Text 5"/>
          <p:cNvSpPr/>
          <p:nvPr/>
        </p:nvSpPr>
        <p:spPr>
          <a:xfrm>
            <a:off x="548580" y="605730"/>
            <a:ext cx="4668277" cy="3095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kern="0" spc="-18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'나 알아가기' 카드 — 설문을 조각처럼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205288" y="691455"/>
            <a:ext cx="3196017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8982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고립 척도 25문항을 하루 한 장으로 쪼갬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580" y="1057982"/>
            <a:ext cx="2743200" cy="3648075"/>
          </a:xfrm>
          <a:prstGeom prst="roundRect">
            <a:avLst>
              <a:gd name="adj" fmla="val 4333"/>
            </a:avLst>
          </a:prstGeom>
          <a:solidFill>
            <a:srgbClr val="F5F1E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915256" y="1953555"/>
            <a:ext cx="2009775" cy="1390650"/>
          </a:xfrm>
          <a:prstGeom prst="roundRect">
            <a:avLst>
              <a:gd name="adj" fmla="val 9205"/>
            </a:avLst>
          </a:prstGeom>
          <a:solidFill>
            <a:srgbClr val="FFFFFF"/>
          </a:solidFill>
          <a:ln/>
          <a:effectLst>
            <a:outerShdw blurRad="205740" dist="82296" dir="5400000" algn="bl" rotWithShape="0">
              <a:srgbClr val="4A443A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1061405" y="2098104"/>
            <a:ext cx="847725" cy="238125"/>
          </a:xfrm>
          <a:prstGeom prst="roundRect">
            <a:avLst>
              <a:gd name="adj" fmla="val 50000"/>
            </a:avLst>
          </a:prstGeom>
          <a:solidFill>
            <a:srgbClr val="FFD55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1152004" y="2123852"/>
            <a:ext cx="923635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나 알아가기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1060624" y="2387575"/>
            <a:ext cx="1645302" cy="2238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486"/>
              </a:spcBef>
              <a:buNone/>
            </a:pPr>
            <a:r>
              <a:rPr lang="en-US" sz="1300" b="1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챕터 1 · 요즘의 나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60624" y="2641848"/>
            <a:ext cx="219380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243"/>
              </a:spcBef>
              <a:buNone/>
            </a:pPr>
            <a:r>
              <a:rPr lang="en-US" sz="1080" dirty="0">
                <a:solidFill>
                  <a:srgbClr val="8982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"먼저 요즘 지내는 얘기부터."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1060512" y="2905125"/>
            <a:ext cx="1719263" cy="47625"/>
          </a:xfrm>
          <a:prstGeom prst="roundRect">
            <a:avLst>
              <a:gd name="adj" fmla="val 50000"/>
            </a:avLst>
          </a:prstGeom>
          <a:solidFill>
            <a:srgbClr val="F5F1E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1061070" y="2905125"/>
            <a:ext cx="342900" cy="47625"/>
          </a:xfrm>
          <a:prstGeom prst="roundRect">
            <a:avLst>
              <a:gd name="adj" fmla="val 50000"/>
            </a:avLst>
          </a:prstGeom>
          <a:solidFill>
            <a:srgbClr val="FFD55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1060624" y="3002682"/>
            <a:ext cx="1384399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324"/>
              </a:spcBef>
              <a:buNone/>
            </a:pPr>
            <a:r>
              <a:rPr lang="en-US" sz="1080" dirty="0">
                <a:solidFill>
                  <a:srgbClr val="8982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5개 챕터 중 1번째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381435" y="3427363"/>
            <a:ext cx="3077416" cy="3777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12"/>
              </a:lnSpc>
              <a:buNone/>
            </a:pPr>
            <a:r>
              <a:rPr lang="en-US" sz="1080" dirty="0">
                <a:solidFill>
                  <a:srgbClr val="8982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홈의 오늘의 챌린지 카드와 똑같은 생김새로,</a:t>
            </a:r>
            <a:endParaRPr lang="en-US" sz="1080" dirty="0"/>
          </a:p>
          <a:p>
            <a:pPr marL="0" indent="0" algn="ctr">
              <a:lnSpc>
                <a:spcPts val="1512"/>
              </a:lnSpc>
              <a:buNone/>
            </a:pPr>
            <a:r>
              <a:rPr lang="en-US" sz="1080" dirty="0">
                <a:solidFill>
                  <a:srgbClr val="8982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매일 딱 한 장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3456496" y="1057870"/>
            <a:ext cx="5138737" cy="542925"/>
          </a:xfrm>
          <a:prstGeom prst="roundRect">
            <a:avLst>
              <a:gd name="adj" fmla="val 18526"/>
            </a:avLst>
          </a:prstGeom>
          <a:solidFill>
            <a:srgbClr val="FFFFFF"/>
          </a:solidFill>
          <a:ln/>
          <a:effectLst>
            <a:outerShdw blurRad="123444" dist="41148" dir="5400000" algn="bl" rotWithShape="0">
              <a:srgbClr val="4A443A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3594348" y="1133996"/>
            <a:ext cx="433388" cy="238125"/>
          </a:xfrm>
          <a:prstGeom prst="roundRect">
            <a:avLst>
              <a:gd name="adj" fmla="val 50000"/>
            </a:avLst>
          </a:prstGeom>
          <a:solidFill>
            <a:srgbClr val="FFD55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3684836" y="1159743"/>
            <a:ext cx="385286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81"/>
              </a:spcBef>
              <a:buNone/>
            </a:pPr>
            <a:r>
              <a:rPr lang="en-US" sz="1080" b="1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구성</a:t>
            </a:r>
            <a:endParaRPr lang="en-US" sz="1080" dirty="0"/>
          </a:p>
        </p:txBody>
      </p:sp>
      <p:sp>
        <p:nvSpPr>
          <p:cNvPr id="22" name="Text 20"/>
          <p:cNvSpPr/>
          <p:nvPr/>
        </p:nvSpPr>
        <p:spPr>
          <a:xfrm>
            <a:off x="4129162" y="1124545"/>
            <a:ext cx="5517929" cy="404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13"/>
              </a:lnSpc>
              <a:buNone/>
            </a:pPr>
            <a:r>
              <a:rPr lang="en-US" sz="1150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검증된 고립 척도 25문항</a:t>
            </a:r>
            <a:r>
              <a:rPr lang="en-US" sz="1150" dirty="0">
                <a:solidFill>
                  <a:srgbClr val="8982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(조미형 외, 2022)</a:t>
            </a:r>
            <a:r>
              <a:rPr lang="en-US" sz="1150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을 5개 챕터로 — 탭하면 그</a:t>
            </a:r>
            <a:endParaRPr lang="en-US" sz="1150" dirty="0"/>
          </a:p>
          <a:p>
            <a:pPr marL="0" indent="0" algn="l">
              <a:lnSpc>
                <a:spcPts val="1613"/>
              </a:lnSpc>
              <a:buNone/>
            </a:pPr>
            <a:r>
              <a:rPr lang="en-US" sz="1150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챕터만 진행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456496" y="1667917"/>
            <a:ext cx="5138737" cy="542925"/>
          </a:xfrm>
          <a:prstGeom prst="roundRect">
            <a:avLst>
              <a:gd name="adj" fmla="val 18526"/>
            </a:avLst>
          </a:prstGeom>
          <a:solidFill>
            <a:srgbClr val="FFFFFF"/>
          </a:solidFill>
          <a:ln/>
          <a:effectLst>
            <a:outerShdw blurRad="123444" dist="41148" dir="5400000" algn="bl" rotWithShape="0">
              <a:srgbClr val="4A443A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3594348" y="1744042"/>
            <a:ext cx="433388" cy="238125"/>
          </a:xfrm>
          <a:prstGeom prst="roundRect">
            <a:avLst>
              <a:gd name="adj" fmla="val 50000"/>
            </a:avLst>
          </a:prstGeom>
          <a:solidFill>
            <a:srgbClr val="FFD55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3684836" y="1769790"/>
            <a:ext cx="385286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81"/>
              </a:spcBef>
              <a:buNone/>
            </a:pPr>
            <a:r>
              <a:rPr lang="en-US" sz="1080" b="1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응답</a:t>
            </a:r>
            <a:endParaRPr lang="en-US" sz="1080" dirty="0"/>
          </a:p>
        </p:txBody>
      </p:sp>
      <p:sp>
        <p:nvSpPr>
          <p:cNvPr id="26" name="Text 24"/>
          <p:cNvSpPr/>
          <p:nvPr/>
        </p:nvSpPr>
        <p:spPr>
          <a:xfrm>
            <a:off x="4129162" y="1734592"/>
            <a:ext cx="5461241" cy="404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13"/>
              </a:lnSpc>
              <a:buNone/>
            </a:pPr>
            <a:r>
              <a:rPr lang="en-US" sz="1150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보통 문항은 5단계(전혀 아니야 0 ~ 완전 그래 4), '몇 명·몇 번' 문항은</a:t>
            </a:r>
            <a:endParaRPr lang="en-US" sz="1150" dirty="0"/>
          </a:p>
          <a:p>
            <a:pPr marL="0" indent="0" algn="l">
              <a:lnSpc>
                <a:spcPts val="1613"/>
              </a:lnSpc>
              <a:buNone/>
            </a:pPr>
            <a:r>
              <a:rPr lang="en-US" sz="1150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구간으로 · 긍정 문항은 점수를 뒤집어 계산</a:t>
            </a:r>
            <a:r>
              <a:rPr lang="en-US" sz="1150" dirty="0">
                <a:solidFill>
                  <a:srgbClr val="8982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(역채점, 4−응답)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3456496" y="2277963"/>
            <a:ext cx="5138737" cy="542925"/>
          </a:xfrm>
          <a:prstGeom prst="roundRect">
            <a:avLst>
              <a:gd name="adj" fmla="val 18526"/>
            </a:avLst>
          </a:prstGeom>
          <a:solidFill>
            <a:srgbClr val="FFFFFF"/>
          </a:solidFill>
          <a:ln/>
          <a:effectLst>
            <a:outerShdw blurRad="123444" dist="41148" dir="5400000" algn="bl" rotWithShape="0">
              <a:srgbClr val="4A443A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3594348" y="2354089"/>
            <a:ext cx="433388" cy="238125"/>
          </a:xfrm>
          <a:prstGeom prst="roundRect">
            <a:avLst>
              <a:gd name="adj" fmla="val 50000"/>
            </a:avLst>
          </a:prstGeom>
          <a:solidFill>
            <a:srgbClr val="FFD55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3684836" y="2379836"/>
            <a:ext cx="385286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81"/>
              </a:spcBef>
              <a:buNone/>
            </a:pPr>
            <a:r>
              <a:rPr lang="en-US" sz="1080" b="1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부담</a:t>
            </a:r>
            <a:endParaRPr lang="en-US" sz="1080" dirty="0"/>
          </a:p>
        </p:txBody>
      </p:sp>
      <p:sp>
        <p:nvSpPr>
          <p:cNvPr id="30" name="Text 28"/>
          <p:cNvSpPr/>
          <p:nvPr/>
        </p:nvSpPr>
        <p:spPr>
          <a:xfrm>
            <a:off x="4129162" y="2344638"/>
            <a:ext cx="5441022" cy="404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13"/>
              </a:lnSpc>
              <a:buNone/>
            </a:pPr>
            <a:r>
              <a:rPr lang="en-US" sz="1150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건너뛰어도, 내일 이어서 해도 됨 — 설문을 한 번에 다 시키지 않는 게</a:t>
            </a:r>
            <a:endParaRPr lang="en-US" sz="1150" dirty="0"/>
          </a:p>
          <a:p>
            <a:pPr marL="0" indent="0" algn="l">
              <a:lnSpc>
                <a:spcPts val="1613"/>
              </a:lnSpc>
              <a:buNone/>
            </a:pPr>
            <a:r>
              <a:rPr lang="en-US" sz="1150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원칙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3456496" y="2888010"/>
            <a:ext cx="5138737" cy="542925"/>
          </a:xfrm>
          <a:prstGeom prst="roundRect">
            <a:avLst>
              <a:gd name="adj" fmla="val 18526"/>
            </a:avLst>
          </a:prstGeom>
          <a:solidFill>
            <a:srgbClr val="A7DBDB">
              <a:alpha val="25098"/>
            </a:srgbClr>
          </a:solidFill>
          <a:ln/>
          <a:effectLst>
            <a:outerShdw blurRad="101600" dist="50800" dir="16200000" algn="bl" rotWithShape="0">
              <a:srgbClr val="A8DADC">
                <a:alpha val="10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3594311" y="2964135"/>
            <a:ext cx="685800" cy="238125"/>
          </a:xfrm>
          <a:prstGeom prst="roundRect">
            <a:avLst>
              <a:gd name="adj" fmla="val 50000"/>
            </a:avLst>
          </a:prstGeom>
          <a:solidFill>
            <a:srgbClr val="A8DAD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3684836" y="2989883"/>
            <a:ext cx="713326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81"/>
              </a:spcBef>
              <a:buNone/>
            </a:pPr>
            <a:r>
              <a:rPr lang="en-US" sz="1080" b="1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완성되면</a:t>
            </a:r>
            <a:endParaRPr lang="en-US" sz="1080" dirty="0"/>
          </a:p>
        </p:txBody>
      </p:sp>
      <p:sp>
        <p:nvSpPr>
          <p:cNvPr id="34" name="Text 32"/>
          <p:cNvSpPr/>
          <p:nvPr/>
        </p:nvSpPr>
        <p:spPr>
          <a:xfrm>
            <a:off x="4381500" y="2954685"/>
            <a:ext cx="5339254" cy="404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13"/>
              </a:lnSpc>
              <a:buNone/>
            </a:pPr>
            <a:r>
              <a:rPr lang="en-US" sz="1150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5챕터를 마치면 검증된 기준점 </a:t>
            </a:r>
            <a:r>
              <a:rPr lang="en-US" sz="1150" b="1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44점 / 60점</a:t>
            </a:r>
            <a:r>
              <a:rPr lang="en-US" sz="1150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으로 회복단계를 확정 →</a:t>
            </a:r>
            <a:endParaRPr lang="en-US" sz="1150" dirty="0"/>
          </a:p>
          <a:p>
            <a:pPr marL="0" indent="0" algn="l">
              <a:lnSpc>
                <a:spcPts val="1613"/>
              </a:lnSpc>
              <a:buNone/>
            </a:pPr>
            <a:r>
              <a:rPr lang="en-US" sz="1150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트랙·게이트가 이 단계를 따라감 </a:t>
            </a:r>
            <a:r>
              <a:rPr lang="en-US" sz="1150" dirty="0">
                <a:solidFill>
                  <a:srgbClr val="8982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(규정 2 · 16장)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3456310" y="4322341"/>
            <a:ext cx="6580406" cy="3777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12"/>
              </a:lnSpc>
              <a:buNone/>
            </a:pPr>
            <a:r>
              <a:rPr lang="en-US" sz="1080" dirty="0">
                <a:solidFill>
                  <a:srgbClr val="8982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 전까지는 시작 체크리스트로 잡은 잠정 단계를 사용 — 확정되는 순간 조용히 갱신되고,</a:t>
            </a:r>
            <a:endParaRPr lang="en-US" sz="1080" dirty="0"/>
          </a:p>
          <a:p>
            <a:pPr marL="0" indent="0" algn="l">
              <a:lnSpc>
                <a:spcPts val="1512"/>
              </a:lnSpc>
              <a:buNone/>
            </a:pPr>
            <a:r>
              <a:rPr lang="en-US" sz="1080" dirty="0">
                <a:solidFill>
                  <a:srgbClr val="8982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사용자에게 등급표를 보여주지 않는다</a:t>
            </a:r>
            <a:endParaRPr lang="en-US" sz="1080" dirty="0"/>
          </a:p>
        </p:txBody>
      </p:sp>
      <p:sp>
        <p:nvSpPr>
          <p:cNvPr id="36" name="Text 34"/>
          <p:cNvSpPr/>
          <p:nvPr/>
        </p:nvSpPr>
        <p:spPr>
          <a:xfrm>
            <a:off x="548580" y="4741664"/>
            <a:ext cx="2112645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8982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BA 챌린지 사이클 개선 보고</a:t>
            </a:r>
            <a:endParaRPr lang="en-US" sz="1080" dirty="0"/>
          </a:p>
        </p:txBody>
      </p:sp>
      <p:sp>
        <p:nvSpPr>
          <p:cNvPr id="37" name="Text 35"/>
          <p:cNvSpPr/>
          <p:nvPr/>
        </p:nvSpPr>
        <p:spPr>
          <a:xfrm>
            <a:off x="8159279" y="4741664"/>
            <a:ext cx="624133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8982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 / 23</a:t>
            </a:r>
            <a:endParaRPr lang="en-US" sz="10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549064" y="258217"/>
            <a:ext cx="1114425" cy="285750"/>
          </a:xfrm>
          <a:prstGeom prst="roundRect">
            <a:avLst>
              <a:gd name="adj" fmla="val 50000"/>
            </a:avLst>
          </a:prstGeom>
          <a:solidFill>
            <a:srgbClr val="FFD55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677205" y="360573"/>
            <a:ext cx="80962" cy="80962"/>
          </a:xfrm>
          <a:prstGeom prst="roundRect">
            <a:avLst>
              <a:gd name="adj" fmla="val 28235"/>
            </a:avLst>
          </a:prstGeom>
          <a:solidFill>
            <a:srgbClr val="4A443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822796" y="307777"/>
            <a:ext cx="984290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새 사이클</a:t>
            </a:r>
            <a:endParaRPr lang="en-US" sz="1080" dirty="0"/>
          </a:p>
        </p:txBody>
      </p:sp>
      <p:sp>
        <p:nvSpPr>
          <p:cNvPr id="6" name="Text 4"/>
          <p:cNvSpPr/>
          <p:nvPr/>
        </p:nvSpPr>
        <p:spPr>
          <a:xfrm>
            <a:off x="8013874" y="307777"/>
            <a:ext cx="813160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kern="0" spc="151" dirty="0">
                <a:solidFill>
                  <a:srgbClr val="B6B1A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조각조각</a:t>
            </a:r>
            <a:endParaRPr lang="en-US" sz="108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6825" y="1051136"/>
            <a:ext cx="1028700" cy="29813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40227" y="4090318"/>
            <a:ext cx="2481895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spcBef>
                <a:spcPts val="486"/>
              </a:spcBef>
              <a:buNone/>
            </a:pPr>
            <a:r>
              <a:rPr lang="en-US" sz="1080" dirty="0">
                <a:solidFill>
                  <a:srgbClr val="8982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선택 전 — 추천 버튼이 아직 없다</a:t>
            </a:r>
            <a:endParaRPr lang="en-US" sz="108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0453" y="1051136"/>
            <a:ext cx="1028700" cy="298132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241761" y="4090318"/>
            <a:ext cx="2726159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spcBef>
                <a:spcPts val="486"/>
              </a:spcBef>
              <a:buNone/>
            </a:pPr>
            <a:r>
              <a:rPr lang="en-US" sz="1080" dirty="0">
                <a:solidFill>
                  <a:srgbClr val="8982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둘 다 고르면 — '조각 추천받기' 등장</a:t>
            </a:r>
            <a:endParaRPr lang="en-US" sz="1080" dirty="0"/>
          </a:p>
        </p:txBody>
      </p:sp>
      <p:sp>
        <p:nvSpPr>
          <p:cNvPr id="11" name="Text 7"/>
          <p:cNvSpPr/>
          <p:nvPr/>
        </p:nvSpPr>
        <p:spPr>
          <a:xfrm>
            <a:off x="4905673" y="886271"/>
            <a:ext cx="1443893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F2C3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매일 아침 STEP ②</a:t>
            </a:r>
            <a:endParaRPr lang="en-US" sz="1080" dirty="0"/>
          </a:p>
        </p:txBody>
      </p:sp>
      <p:sp>
        <p:nvSpPr>
          <p:cNvPr id="12" name="Text 8"/>
          <p:cNvSpPr/>
          <p:nvPr/>
        </p:nvSpPr>
        <p:spPr>
          <a:xfrm>
            <a:off x="4905673" y="1119560"/>
            <a:ext cx="3771997" cy="3095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405"/>
              </a:spcBef>
              <a:buNone/>
            </a:pPr>
            <a:r>
              <a:rPr lang="en-US" sz="1800" b="1" kern="0" spc="-18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데일리 설문 — 탭 두 번이면 끝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4905077" y="1553877"/>
            <a:ext cx="3690937" cy="904875"/>
          </a:xfrm>
          <a:prstGeom prst="roundRect">
            <a:avLst>
              <a:gd name="adj" fmla="val 11116"/>
            </a:avLst>
          </a:prstGeom>
          <a:solidFill>
            <a:srgbClr val="FFFFFF"/>
          </a:solidFill>
          <a:ln/>
          <a:effectLst>
            <a:outerShdw blurRad="123444" dist="41148" dir="5400000" algn="bl" rotWithShape="0">
              <a:srgbClr val="4A443A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0"/>
          <p:cNvSpPr/>
          <p:nvPr/>
        </p:nvSpPr>
        <p:spPr>
          <a:xfrm>
            <a:off x="5033665" y="1690836"/>
            <a:ext cx="675501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F2C3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Q1 기분</a:t>
            </a:r>
            <a:endParaRPr lang="en-US" sz="1080" dirty="0"/>
          </a:p>
        </p:txBody>
      </p:sp>
      <p:sp>
        <p:nvSpPr>
          <p:cNvPr id="15" name="Text 11"/>
          <p:cNvSpPr/>
          <p:nvPr/>
        </p:nvSpPr>
        <p:spPr>
          <a:xfrm>
            <a:off x="5033665" y="1902396"/>
            <a:ext cx="4330757" cy="428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89"/>
              </a:lnSpc>
              <a:buNone/>
            </a:pPr>
            <a:r>
              <a:rPr lang="en-US" sz="1220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5단계에서 하나 — </a:t>
            </a:r>
            <a:r>
              <a:rPr lang="en-US" sz="1220" b="1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기록용일 뿐, 미션을 할지 말지는</a:t>
            </a:r>
            <a:endParaRPr lang="en-US" sz="1220" dirty="0"/>
          </a:p>
          <a:p>
            <a:pPr marL="0" indent="0" algn="l">
              <a:lnSpc>
                <a:spcPts val="1689"/>
              </a:lnSpc>
              <a:buNone/>
            </a:pPr>
            <a:r>
              <a:rPr lang="en-US" sz="1220" b="1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정하지 않음</a:t>
            </a:r>
            <a:r>
              <a:rPr lang="en-US" sz="1220" dirty="0">
                <a:solidFill>
                  <a:srgbClr val="8982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(계획대로 원칙)</a:t>
            </a:r>
            <a:endParaRPr lang="en-US" sz="1220" dirty="0"/>
          </a:p>
        </p:txBody>
      </p:sp>
      <p:sp>
        <p:nvSpPr>
          <p:cNvPr id="16" name="Shape 12"/>
          <p:cNvSpPr/>
          <p:nvPr/>
        </p:nvSpPr>
        <p:spPr>
          <a:xfrm>
            <a:off x="4905077" y="2547305"/>
            <a:ext cx="3690937" cy="904875"/>
          </a:xfrm>
          <a:prstGeom prst="roundRect">
            <a:avLst>
              <a:gd name="adj" fmla="val 11116"/>
            </a:avLst>
          </a:prstGeom>
          <a:solidFill>
            <a:srgbClr val="FFFFFF"/>
          </a:solidFill>
          <a:ln/>
          <a:effectLst>
            <a:outerShdw blurRad="123444" dist="41148" dir="5400000" algn="bl" rotWithShape="0">
              <a:srgbClr val="4A443A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3"/>
          <p:cNvSpPr/>
          <p:nvPr/>
        </p:nvSpPr>
        <p:spPr>
          <a:xfrm>
            <a:off x="5033665" y="2684264"/>
            <a:ext cx="675501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F2C3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Q2 영역</a:t>
            </a:r>
            <a:endParaRPr lang="en-US" sz="1080" dirty="0"/>
          </a:p>
        </p:txBody>
      </p:sp>
      <p:sp>
        <p:nvSpPr>
          <p:cNvPr id="18" name="Text 14"/>
          <p:cNvSpPr/>
          <p:nvPr/>
        </p:nvSpPr>
        <p:spPr>
          <a:xfrm>
            <a:off x="5033665" y="2895823"/>
            <a:ext cx="4317601" cy="428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89"/>
              </a:lnSpc>
              <a:buNone/>
            </a:pPr>
            <a:r>
              <a:rPr lang="en-US" sz="1220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마음 가는 영역 하나 — </a:t>
            </a:r>
            <a:r>
              <a:rPr lang="en-US" sz="1220" b="1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'잘 모르겠어요'도 정식</a:t>
            </a:r>
            <a:endParaRPr lang="en-US" sz="1220" dirty="0"/>
          </a:p>
          <a:p>
            <a:pPr marL="0" indent="0" algn="l">
              <a:lnSpc>
                <a:spcPts val="1689"/>
              </a:lnSpc>
              <a:buNone/>
            </a:pPr>
            <a:r>
              <a:rPr lang="en-US" sz="1220" b="1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답</a:t>
            </a:r>
            <a:r>
              <a:rPr lang="en-US" sz="1220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, 그러면 조각이가 대신 고름</a:t>
            </a:r>
            <a:endParaRPr lang="en-US" sz="1220" dirty="0"/>
          </a:p>
        </p:txBody>
      </p:sp>
      <p:sp>
        <p:nvSpPr>
          <p:cNvPr id="19" name="Shape 15"/>
          <p:cNvSpPr/>
          <p:nvPr/>
        </p:nvSpPr>
        <p:spPr>
          <a:xfrm>
            <a:off x="4942656" y="3576563"/>
            <a:ext cx="90488" cy="90488"/>
          </a:xfrm>
          <a:prstGeom prst="roundRect">
            <a:avLst>
              <a:gd name="adj" fmla="val 28295"/>
            </a:avLst>
          </a:prstGeom>
          <a:solidFill>
            <a:srgbClr val="A8DAD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6"/>
          <p:cNvSpPr/>
          <p:nvPr/>
        </p:nvSpPr>
        <p:spPr>
          <a:xfrm>
            <a:off x="5124971" y="3540175"/>
            <a:ext cx="4416274" cy="404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13"/>
              </a:lnSpc>
              <a:buNone/>
            </a:pPr>
            <a:r>
              <a:rPr lang="en-US" sz="1150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두 개를 다 골라야 추천 버튼이 열림 — 입력 없는 추천은</a:t>
            </a:r>
            <a:endParaRPr lang="en-US" sz="1150" dirty="0"/>
          </a:p>
          <a:p>
            <a:pPr marL="0" indent="0" algn="l">
              <a:lnSpc>
                <a:spcPts val="1613"/>
              </a:lnSpc>
              <a:buNone/>
            </a:pPr>
            <a:r>
              <a:rPr lang="en-US" sz="1150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없다</a:t>
            </a:r>
            <a:endParaRPr lang="en-US" sz="1150" dirty="0"/>
          </a:p>
        </p:txBody>
      </p:sp>
      <p:sp>
        <p:nvSpPr>
          <p:cNvPr id="21" name="Shape 17"/>
          <p:cNvSpPr/>
          <p:nvPr/>
        </p:nvSpPr>
        <p:spPr>
          <a:xfrm>
            <a:off x="4942656" y="4073575"/>
            <a:ext cx="90488" cy="90488"/>
          </a:xfrm>
          <a:prstGeom prst="roundRect">
            <a:avLst>
              <a:gd name="adj" fmla="val 28295"/>
            </a:avLst>
          </a:prstGeom>
          <a:solidFill>
            <a:srgbClr val="A8DAD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8"/>
          <p:cNvSpPr/>
          <p:nvPr/>
        </p:nvSpPr>
        <p:spPr>
          <a:xfrm>
            <a:off x="5124971" y="4037186"/>
            <a:ext cx="4152178" cy="404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13"/>
              </a:lnSpc>
              <a:buNone/>
            </a:pPr>
            <a:r>
              <a:rPr lang="en-US" sz="1150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관심사(음악·동물 …)는 매일 묻지 않고 주 1회 카드로</a:t>
            </a:r>
            <a:endParaRPr lang="en-US" sz="1150" dirty="0"/>
          </a:p>
          <a:p>
            <a:pPr marL="0" indent="0" algn="l">
              <a:lnSpc>
                <a:spcPts val="1613"/>
              </a:lnSpc>
              <a:buNone/>
            </a:pPr>
            <a:r>
              <a:rPr lang="en-US" sz="1150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갱신</a:t>
            </a:r>
            <a:endParaRPr lang="en-US" sz="1150" dirty="0"/>
          </a:p>
        </p:txBody>
      </p:sp>
      <p:sp>
        <p:nvSpPr>
          <p:cNvPr id="23" name="Text 19"/>
          <p:cNvSpPr/>
          <p:nvPr/>
        </p:nvSpPr>
        <p:spPr>
          <a:xfrm>
            <a:off x="548580" y="4741664"/>
            <a:ext cx="2112645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8982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BA 챌린지 사이클 개선 보고</a:t>
            </a:r>
            <a:endParaRPr lang="en-US" sz="1080" dirty="0"/>
          </a:p>
        </p:txBody>
      </p:sp>
      <p:sp>
        <p:nvSpPr>
          <p:cNvPr id="24" name="Text 20"/>
          <p:cNvSpPr/>
          <p:nvPr/>
        </p:nvSpPr>
        <p:spPr>
          <a:xfrm>
            <a:off x="8159279" y="4741664"/>
            <a:ext cx="624133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8982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/ 23</a:t>
            </a:r>
            <a:endParaRPr lang="en-US" sz="10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549064" y="258217"/>
            <a:ext cx="1114425" cy="285750"/>
          </a:xfrm>
          <a:prstGeom prst="roundRect">
            <a:avLst>
              <a:gd name="adj" fmla="val 50000"/>
            </a:avLst>
          </a:prstGeom>
          <a:solidFill>
            <a:srgbClr val="FFD55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677205" y="360573"/>
            <a:ext cx="80962" cy="80962"/>
          </a:xfrm>
          <a:prstGeom prst="roundRect">
            <a:avLst>
              <a:gd name="adj" fmla="val 28235"/>
            </a:avLst>
          </a:prstGeom>
          <a:solidFill>
            <a:srgbClr val="4A443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822796" y="307777"/>
            <a:ext cx="984290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새 사이클</a:t>
            </a:r>
            <a:endParaRPr lang="en-US" sz="1080" dirty="0"/>
          </a:p>
        </p:txBody>
      </p:sp>
      <p:sp>
        <p:nvSpPr>
          <p:cNvPr id="6" name="Text 4"/>
          <p:cNvSpPr/>
          <p:nvPr/>
        </p:nvSpPr>
        <p:spPr>
          <a:xfrm>
            <a:off x="8013874" y="307777"/>
            <a:ext cx="813160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kern="0" spc="151" dirty="0">
                <a:solidFill>
                  <a:srgbClr val="B6B1A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조각조각</a:t>
            </a:r>
            <a:endParaRPr lang="en-US" sz="1080" dirty="0"/>
          </a:p>
        </p:txBody>
      </p:sp>
      <p:sp>
        <p:nvSpPr>
          <p:cNvPr id="7" name="Text 5"/>
          <p:cNvSpPr/>
          <p:nvPr/>
        </p:nvSpPr>
        <p:spPr>
          <a:xfrm>
            <a:off x="548580" y="1070149"/>
            <a:ext cx="1443893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F2C3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③ 조각 제안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548580" y="1303437"/>
            <a:ext cx="4029321" cy="3095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405"/>
              </a:spcBef>
              <a:buNone/>
            </a:pPr>
            <a:r>
              <a:rPr lang="en-US" sz="1800" b="1" kern="0" spc="-18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후보는 네 장, 조절은 사용자 손에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9027" y="1773585"/>
            <a:ext cx="90488" cy="90488"/>
          </a:xfrm>
          <a:prstGeom prst="roundRect">
            <a:avLst>
              <a:gd name="adj" fmla="val 28295"/>
            </a:avLst>
          </a:prstGeom>
          <a:solidFill>
            <a:srgbClr val="FFD55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731341" y="1737196"/>
            <a:ext cx="5750101" cy="431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13"/>
              </a:lnSpc>
              <a:buNone/>
            </a:pPr>
            <a:r>
              <a:rPr lang="en-US" sz="1220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생활 리듬 · 자기 돌봄 · 즐거움 · 작은 용기 — </a:t>
            </a:r>
            <a:r>
              <a:rPr lang="en-US" sz="1220" b="1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게이트를 통과한 항목만</a:t>
            </a:r>
            <a:endParaRPr lang="en-US" sz="1220" dirty="0"/>
          </a:p>
          <a:p>
            <a:pPr marL="0" indent="0" algn="l">
              <a:lnSpc>
                <a:spcPts val="1713"/>
              </a:lnSpc>
              <a:buNone/>
            </a:pPr>
            <a:r>
              <a:rPr lang="en-US" sz="1220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후보에 오름 </a:t>
            </a:r>
            <a:r>
              <a:rPr lang="en-US" sz="1220" dirty="0">
                <a:solidFill>
                  <a:srgbClr val="8982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(규정 2 · 16장)</a:t>
            </a:r>
            <a:endParaRPr lang="en-US" sz="1220" dirty="0"/>
          </a:p>
        </p:txBody>
      </p:sp>
      <p:sp>
        <p:nvSpPr>
          <p:cNvPr id="11" name="Shape 9"/>
          <p:cNvSpPr/>
          <p:nvPr/>
        </p:nvSpPr>
        <p:spPr>
          <a:xfrm>
            <a:off x="549027" y="2296195"/>
            <a:ext cx="90488" cy="90488"/>
          </a:xfrm>
          <a:prstGeom prst="roundRect">
            <a:avLst>
              <a:gd name="adj" fmla="val 28295"/>
            </a:avLst>
          </a:prstGeom>
          <a:solidFill>
            <a:srgbClr val="FFD55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731341" y="2259806"/>
            <a:ext cx="580504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20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카드를 열면 난이도·시간대·장소를 바로 조절 — 시스템 제안은 출발점일</a:t>
            </a:r>
            <a:endParaRPr lang="en-US" sz="1220" dirty="0"/>
          </a:p>
        </p:txBody>
      </p:sp>
      <p:sp>
        <p:nvSpPr>
          <p:cNvPr id="13" name="Text 11"/>
          <p:cNvSpPr/>
          <p:nvPr/>
        </p:nvSpPr>
        <p:spPr>
          <a:xfrm>
            <a:off x="914623" y="2477393"/>
            <a:ext cx="243081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20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뿐</a:t>
            </a:r>
            <a:endParaRPr lang="en-US" sz="1220" dirty="0"/>
          </a:p>
        </p:txBody>
      </p:sp>
      <p:sp>
        <p:nvSpPr>
          <p:cNvPr id="14" name="Shape 12"/>
          <p:cNvSpPr/>
          <p:nvPr/>
        </p:nvSpPr>
        <p:spPr>
          <a:xfrm>
            <a:off x="549027" y="2818805"/>
            <a:ext cx="90488" cy="90488"/>
          </a:xfrm>
          <a:prstGeom prst="roundRect">
            <a:avLst>
              <a:gd name="adj" fmla="val 28295"/>
            </a:avLst>
          </a:prstGeom>
          <a:solidFill>
            <a:srgbClr val="A8DAD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731341" y="2782416"/>
            <a:ext cx="5895886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20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난이도가 오를 땐 이유를 함께 — </a:t>
            </a:r>
            <a:r>
              <a:rPr lang="en-US" sz="1220" dirty="0">
                <a:solidFill>
                  <a:srgbClr val="8982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"'가볍게'를 이틀 연속 잘 해내서, 이번엔</a:t>
            </a:r>
            <a:endParaRPr lang="en-US" sz="1220" dirty="0"/>
          </a:p>
        </p:txBody>
      </p:sp>
      <p:sp>
        <p:nvSpPr>
          <p:cNvPr id="16" name="Text 14"/>
          <p:cNvSpPr/>
          <p:nvPr/>
        </p:nvSpPr>
        <p:spPr>
          <a:xfrm>
            <a:off x="914623" y="3000003"/>
            <a:ext cx="176970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20" dirty="0">
                <a:solidFill>
                  <a:srgbClr val="8982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'보통'부터 추천해요"</a:t>
            </a:r>
            <a:endParaRPr lang="en-US" sz="1220" dirty="0"/>
          </a:p>
        </p:txBody>
      </p:sp>
      <p:sp>
        <p:nvSpPr>
          <p:cNvPr id="17" name="Shape 15"/>
          <p:cNvSpPr/>
          <p:nvPr/>
        </p:nvSpPr>
        <p:spPr>
          <a:xfrm>
            <a:off x="549027" y="3341415"/>
            <a:ext cx="90488" cy="90488"/>
          </a:xfrm>
          <a:prstGeom prst="roundRect">
            <a:avLst>
              <a:gd name="adj" fmla="val 28295"/>
            </a:avLst>
          </a:prstGeom>
          <a:solidFill>
            <a:srgbClr val="F4A2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731341" y="3305026"/>
            <a:ext cx="5859222" cy="431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13"/>
              </a:lnSpc>
              <a:buNone/>
            </a:pPr>
            <a:r>
              <a:rPr lang="en-US" sz="1220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계속 미뤄진 조각은 </a:t>
            </a:r>
            <a:r>
              <a:rPr lang="en-US" sz="1220" b="1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더 작게 쪼개서</a:t>
            </a:r>
            <a:r>
              <a:rPr lang="en-US" sz="1220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다시 — 배지: "계속 미뤄왔던 조각,</a:t>
            </a:r>
            <a:endParaRPr lang="en-US" sz="1220" dirty="0"/>
          </a:p>
          <a:p>
            <a:pPr marL="0" indent="0" algn="l">
              <a:lnSpc>
                <a:spcPts val="1713"/>
              </a:lnSpc>
              <a:buNone/>
            </a:pPr>
            <a:r>
              <a:rPr lang="en-US" sz="1220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더 작게 쪼갰어요"</a:t>
            </a:r>
            <a:endParaRPr lang="en-US" sz="1220" dirty="0"/>
          </a:p>
        </p:txBody>
      </p:sp>
      <p:sp>
        <p:nvSpPr>
          <p:cNvPr id="19" name="Shape 17"/>
          <p:cNvSpPr/>
          <p:nvPr/>
        </p:nvSpPr>
        <p:spPr>
          <a:xfrm>
            <a:off x="549027" y="3864025"/>
            <a:ext cx="90488" cy="90488"/>
          </a:xfrm>
          <a:prstGeom prst="roundRect">
            <a:avLst>
              <a:gd name="adj" fmla="val 28295"/>
            </a:avLst>
          </a:prstGeom>
          <a:solidFill>
            <a:srgbClr val="F4A2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731341" y="3827636"/>
            <a:ext cx="5649106" cy="431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13"/>
              </a:lnSpc>
              <a:buNone/>
            </a:pPr>
            <a:r>
              <a:rPr lang="en-US" sz="1220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난이도 숫자(L1~L4)는 어디에도 안 보임 — 항상 말로 표현 </a:t>
            </a:r>
            <a:r>
              <a:rPr lang="en-US" sz="1220" dirty="0">
                <a:solidFill>
                  <a:srgbClr val="8982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(규정 3 ·</a:t>
            </a:r>
            <a:endParaRPr lang="en-US" sz="1220" dirty="0"/>
          </a:p>
          <a:p>
            <a:pPr marL="0" indent="0" algn="l">
              <a:lnSpc>
                <a:spcPts val="1713"/>
              </a:lnSpc>
              <a:buNone/>
            </a:pPr>
            <a:r>
              <a:rPr lang="en-US" sz="1220" dirty="0">
                <a:solidFill>
                  <a:srgbClr val="8982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17장)</a:t>
            </a:r>
            <a:endParaRPr lang="en-US" sz="1220" dirty="0"/>
          </a:p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4856" y="1051136"/>
            <a:ext cx="938212" cy="2981325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5431776" y="4090318"/>
            <a:ext cx="1344446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spcBef>
                <a:spcPts val="486"/>
              </a:spcBef>
              <a:buNone/>
            </a:pPr>
            <a:r>
              <a:rPr lang="en-US" sz="1080" dirty="0">
                <a:solidFill>
                  <a:srgbClr val="8982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오늘의 후보 네 장</a:t>
            </a:r>
            <a:endParaRPr lang="en-US" sz="1080" dirty="0"/>
          </a:p>
        </p:txBody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0425" y="1051136"/>
            <a:ext cx="938212" cy="2981325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6460301" y="4090318"/>
            <a:ext cx="2438460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spcBef>
                <a:spcPts val="486"/>
              </a:spcBef>
              <a:buNone/>
            </a:pPr>
            <a:r>
              <a:rPr lang="en-US" sz="1080" dirty="0">
                <a:solidFill>
                  <a:srgbClr val="8982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펼치면 — 난이도·시간·장소 조절</a:t>
            </a:r>
            <a:endParaRPr lang="en-US" sz="1080" dirty="0"/>
          </a:p>
        </p:txBody>
      </p:sp>
      <p:sp>
        <p:nvSpPr>
          <p:cNvPr id="25" name="Text 21"/>
          <p:cNvSpPr/>
          <p:nvPr/>
        </p:nvSpPr>
        <p:spPr>
          <a:xfrm>
            <a:off x="548580" y="4741664"/>
            <a:ext cx="2112645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8982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BA 챌린지 사이클 개선 보고</a:t>
            </a:r>
            <a:endParaRPr lang="en-US" sz="1080" dirty="0"/>
          </a:p>
        </p:txBody>
      </p:sp>
      <p:sp>
        <p:nvSpPr>
          <p:cNvPr id="26" name="Text 22"/>
          <p:cNvSpPr/>
          <p:nvPr/>
        </p:nvSpPr>
        <p:spPr>
          <a:xfrm>
            <a:off x="8159279" y="4741664"/>
            <a:ext cx="624133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8982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 / 23</a:t>
            </a:r>
            <a:endParaRPr lang="en-US" sz="10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549064" y="258217"/>
            <a:ext cx="1114425" cy="285750"/>
          </a:xfrm>
          <a:prstGeom prst="roundRect">
            <a:avLst>
              <a:gd name="adj" fmla="val 50000"/>
            </a:avLst>
          </a:prstGeom>
          <a:solidFill>
            <a:srgbClr val="FFD55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677205" y="360573"/>
            <a:ext cx="80962" cy="80962"/>
          </a:xfrm>
          <a:prstGeom prst="roundRect">
            <a:avLst>
              <a:gd name="adj" fmla="val 28235"/>
            </a:avLst>
          </a:prstGeom>
          <a:solidFill>
            <a:srgbClr val="4A443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822796" y="307777"/>
            <a:ext cx="984290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새 사이클</a:t>
            </a:r>
            <a:endParaRPr lang="en-US" sz="1080" dirty="0"/>
          </a:p>
        </p:txBody>
      </p:sp>
      <p:sp>
        <p:nvSpPr>
          <p:cNvPr id="6" name="Text 4"/>
          <p:cNvSpPr/>
          <p:nvPr/>
        </p:nvSpPr>
        <p:spPr>
          <a:xfrm>
            <a:off x="8013874" y="307777"/>
            <a:ext cx="813160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kern="0" spc="151" dirty="0">
                <a:solidFill>
                  <a:srgbClr val="B6B1A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조각조각</a:t>
            </a:r>
            <a:endParaRPr lang="en-US" sz="1080" dirty="0"/>
          </a:p>
        </p:txBody>
      </p:sp>
      <p:sp>
        <p:nvSpPr>
          <p:cNvPr id="7" name="Text 5"/>
          <p:cNvSpPr/>
          <p:nvPr/>
        </p:nvSpPr>
        <p:spPr>
          <a:xfrm>
            <a:off x="548580" y="605730"/>
            <a:ext cx="4397797" cy="3095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kern="0" spc="-18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완료 인증 — 남길 때도, 건너뛸 때도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997226" y="691455"/>
            <a:ext cx="143035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8982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 가지 상태 전부</a:t>
            </a:r>
            <a:endParaRPr lang="en-US" sz="115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6430" y="1036700"/>
            <a:ext cx="766763" cy="2366963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2417862" y="3464049"/>
            <a:ext cx="723900" cy="238125"/>
          </a:xfrm>
          <a:prstGeom prst="roundRect">
            <a:avLst>
              <a:gd name="adj" fmla="val 50000"/>
            </a:avLst>
          </a:prstGeom>
          <a:solidFill>
            <a:srgbClr val="FFD55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2509614" y="3489796"/>
            <a:ext cx="759663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486"/>
              </a:spcBef>
              <a:buNone/>
            </a:pPr>
            <a:r>
              <a:rPr lang="en-US" sz="1080" b="1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완료 직후</a:t>
            </a:r>
            <a:endParaRPr lang="en-US" sz="1080" dirty="0"/>
          </a:p>
        </p:txBody>
      </p:sp>
      <p:sp>
        <p:nvSpPr>
          <p:cNvPr id="12" name="Text 9"/>
          <p:cNvSpPr/>
          <p:nvPr/>
        </p:nvSpPr>
        <p:spPr>
          <a:xfrm>
            <a:off x="1771750" y="3732535"/>
            <a:ext cx="2016197" cy="370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58"/>
              </a:lnSpc>
              <a:buNone/>
            </a:pPr>
            <a:r>
              <a:rPr lang="en-US" sz="1080" dirty="0">
                <a:solidFill>
                  <a:srgbClr val="8982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즐거움·뿌듯함 슬라이더 —</a:t>
            </a:r>
            <a:endParaRPr lang="en-US" sz="1080" dirty="0"/>
          </a:p>
          <a:p>
            <a:pPr marL="0" indent="0" algn="ctr">
              <a:lnSpc>
                <a:spcPts val="1458"/>
              </a:lnSpc>
              <a:buNone/>
            </a:pPr>
            <a:r>
              <a:rPr lang="en-US" sz="1080" dirty="0">
                <a:solidFill>
                  <a:srgbClr val="8982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손대기 전엔 숫자가 없다</a:t>
            </a:r>
            <a:endParaRPr lang="en-US" sz="108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88544" y="1036700"/>
            <a:ext cx="766763" cy="2366963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4274269" y="3464049"/>
            <a:ext cx="595313" cy="238125"/>
          </a:xfrm>
          <a:prstGeom prst="roundRect">
            <a:avLst>
              <a:gd name="adj" fmla="val 50000"/>
            </a:avLst>
          </a:prstGeom>
          <a:solidFill>
            <a:srgbClr val="A8DAD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1"/>
          <p:cNvSpPr/>
          <p:nvPr/>
        </p:nvSpPr>
        <p:spPr>
          <a:xfrm>
            <a:off x="4364831" y="3489796"/>
            <a:ext cx="595595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486"/>
              </a:spcBef>
              <a:buNone/>
            </a:pPr>
            <a:r>
              <a:rPr lang="en-US" sz="1080" b="1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입력 후</a:t>
            </a:r>
            <a:endParaRPr lang="en-US" sz="1080" dirty="0"/>
          </a:p>
        </p:txBody>
      </p:sp>
      <p:sp>
        <p:nvSpPr>
          <p:cNvPr id="16" name="Text 12"/>
          <p:cNvSpPr/>
          <p:nvPr/>
        </p:nvSpPr>
        <p:spPr>
          <a:xfrm>
            <a:off x="3586996" y="3732535"/>
            <a:ext cx="1969859" cy="5560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58"/>
              </a:lnSpc>
              <a:buNone/>
            </a:pPr>
            <a:r>
              <a:rPr lang="en-US" sz="1080" dirty="0">
                <a:solidFill>
                  <a:srgbClr val="8982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"조각을 맞춘 날 기분이 한</a:t>
            </a:r>
            <a:endParaRPr lang="en-US" sz="1080" dirty="0"/>
          </a:p>
          <a:p>
            <a:pPr marL="0" indent="0" algn="ctr">
              <a:lnSpc>
                <a:spcPts val="1458"/>
              </a:lnSpc>
              <a:buNone/>
            </a:pPr>
            <a:r>
              <a:rPr lang="en-US" sz="1080" dirty="0">
                <a:solidFill>
                  <a:srgbClr val="8982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칸 높았어요" — 따뜻한 한</a:t>
            </a:r>
            <a:endParaRPr lang="en-US" sz="1080" dirty="0"/>
          </a:p>
          <a:p>
            <a:pPr marL="0" indent="0" algn="ctr">
              <a:lnSpc>
                <a:spcPts val="1458"/>
              </a:lnSpc>
              <a:buNone/>
            </a:pPr>
            <a:r>
              <a:rPr lang="en-US" sz="1080" dirty="0">
                <a:solidFill>
                  <a:srgbClr val="8982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줄 요약</a:t>
            </a:r>
            <a:endParaRPr lang="en-US" sz="108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35402" y="1036700"/>
            <a:ext cx="1057275" cy="2366963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6083089" y="3464049"/>
            <a:ext cx="561975" cy="238125"/>
          </a:xfrm>
          <a:prstGeom prst="roundRect">
            <a:avLst>
              <a:gd name="adj" fmla="val 50000"/>
            </a:avLst>
          </a:prstGeom>
          <a:solidFill>
            <a:srgbClr val="F4A2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4"/>
          <p:cNvSpPr/>
          <p:nvPr/>
        </p:nvSpPr>
        <p:spPr>
          <a:xfrm>
            <a:off x="6174804" y="3489796"/>
            <a:ext cx="54925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486"/>
              </a:spcBef>
              <a:buNone/>
            </a:pPr>
            <a:r>
              <a:rPr lang="en-US" sz="1080" b="1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건너뜀</a:t>
            </a:r>
            <a:endParaRPr lang="en-US" sz="1080" dirty="0"/>
          </a:p>
        </p:txBody>
      </p:sp>
      <p:sp>
        <p:nvSpPr>
          <p:cNvPr id="20" name="Text 15"/>
          <p:cNvSpPr/>
          <p:nvPr/>
        </p:nvSpPr>
        <p:spPr>
          <a:xfrm>
            <a:off x="5379110" y="3732535"/>
            <a:ext cx="1969859" cy="5560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58"/>
              </a:lnSpc>
              <a:buNone/>
            </a:pPr>
            <a:r>
              <a:rPr lang="en-US" sz="1080" dirty="0">
                <a:solidFill>
                  <a:srgbClr val="8982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첫 문장은 "괜찮아요, 그럴</a:t>
            </a:r>
            <a:endParaRPr lang="en-US" sz="1080" dirty="0"/>
          </a:p>
          <a:p>
            <a:pPr marL="0" indent="0" algn="ctr">
              <a:lnSpc>
                <a:spcPts val="1458"/>
              </a:lnSpc>
              <a:buNone/>
            </a:pPr>
            <a:r>
              <a:rPr lang="en-US" sz="1080" dirty="0">
                <a:solidFill>
                  <a:srgbClr val="8982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 있어요" — 사유는 비난</a:t>
            </a:r>
            <a:endParaRPr lang="en-US" sz="1080" dirty="0"/>
          </a:p>
          <a:p>
            <a:pPr marL="0" indent="0" algn="ctr">
              <a:lnSpc>
                <a:spcPts val="1458"/>
              </a:lnSpc>
              <a:buNone/>
            </a:pPr>
            <a:r>
              <a:rPr lang="en-US" sz="1080" dirty="0">
                <a:solidFill>
                  <a:srgbClr val="8982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없는 칩으로</a:t>
            </a:r>
            <a:endParaRPr lang="en-US" sz="1080" dirty="0"/>
          </a:p>
        </p:txBody>
      </p:sp>
      <p:sp>
        <p:nvSpPr>
          <p:cNvPr id="21" name="Shape 16"/>
          <p:cNvSpPr/>
          <p:nvPr/>
        </p:nvSpPr>
        <p:spPr>
          <a:xfrm>
            <a:off x="547688" y="4293171"/>
            <a:ext cx="8048625" cy="523875"/>
          </a:xfrm>
          <a:prstGeom prst="roundRect">
            <a:avLst>
              <a:gd name="adj" fmla="val 19200"/>
            </a:avLst>
          </a:prstGeom>
          <a:solidFill>
            <a:srgbClr val="FFFFFF"/>
          </a:solidFill>
          <a:ln/>
          <a:effectLst>
            <a:outerShdw blurRad="123444" dist="41148" dir="5400000" algn="bl" rotWithShape="0">
              <a:srgbClr val="4A443A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7"/>
          <p:cNvSpPr/>
          <p:nvPr/>
        </p:nvSpPr>
        <p:spPr>
          <a:xfrm>
            <a:off x="713631" y="4433664"/>
            <a:ext cx="452437" cy="242888"/>
          </a:xfrm>
          <a:prstGeom prst="roundRect">
            <a:avLst>
              <a:gd name="adj" fmla="val 50000"/>
            </a:avLst>
          </a:prstGeom>
          <a:solidFill>
            <a:srgbClr val="FFD55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18"/>
          <p:cNvSpPr/>
          <p:nvPr/>
        </p:nvSpPr>
        <p:spPr>
          <a:xfrm>
            <a:off x="813643" y="4461793"/>
            <a:ext cx="385286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규칙</a:t>
            </a:r>
            <a:endParaRPr lang="en-US" sz="1080" dirty="0"/>
          </a:p>
        </p:txBody>
      </p:sp>
      <p:sp>
        <p:nvSpPr>
          <p:cNvPr id="24" name="Text 19"/>
          <p:cNvSpPr/>
          <p:nvPr/>
        </p:nvSpPr>
        <p:spPr>
          <a:xfrm>
            <a:off x="1294581" y="4359548"/>
            <a:ext cx="9168832" cy="3908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20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P/M은 0~10, </a:t>
            </a:r>
            <a:r>
              <a:rPr lang="en-US" sz="1120" b="1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초기값 없음</a:t>
            </a:r>
            <a:r>
              <a:rPr lang="en-US" sz="1120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(대충 응답 방지) · 점수는 내부 5밴드로만 쓰고 화면 비노출 · 건너뜀 사유는 다음 제안 조정에만</a:t>
            </a:r>
            <a:endParaRPr lang="en-US" sz="1120" dirty="0"/>
          </a:p>
          <a:p>
            <a:pPr marL="0" indent="0" algn="l">
              <a:lnSpc>
                <a:spcPts val="1540"/>
              </a:lnSpc>
              <a:buNone/>
            </a:pPr>
            <a:r>
              <a:rPr lang="en-US" sz="1120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 — 어디에도 '실패'라는 말은 없다</a:t>
            </a:r>
            <a:endParaRPr lang="en-US" sz="1120" dirty="0"/>
          </a:p>
        </p:txBody>
      </p:sp>
      <p:sp>
        <p:nvSpPr>
          <p:cNvPr id="25" name="Text 20"/>
          <p:cNvSpPr/>
          <p:nvPr/>
        </p:nvSpPr>
        <p:spPr>
          <a:xfrm>
            <a:off x="548580" y="4741664"/>
            <a:ext cx="2112645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8982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BA 챌린지 사이클 개선 보고</a:t>
            </a:r>
            <a:endParaRPr lang="en-US" sz="1080" dirty="0"/>
          </a:p>
        </p:txBody>
      </p:sp>
      <p:sp>
        <p:nvSpPr>
          <p:cNvPr id="26" name="Text 21"/>
          <p:cNvSpPr/>
          <p:nvPr/>
        </p:nvSpPr>
        <p:spPr>
          <a:xfrm>
            <a:off x="8159279" y="4741664"/>
            <a:ext cx="624133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8982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 / 23</a:t>
            </a:r>
            <a:endParaRPr lang="en-US" sz="10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549064" y="258217"/>
            <a:ext cx="1114425" cy="285750"/>
          </a:xfrm>
          <a:prstGeom prst="roundRect">
            <a:avLst>
              <a:gd name="adj" fmla="val 50000"/>
            </a:avLst>
          </a:prstGeom>
          <a:solidFill>
            <a:srgbClr val="FFD55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677205" y="360573"/>
            <a:ext cx="80962" cy="80962"/>
          </a:xfrm>
          <a:prstGeom prst="roundRect">
            <a:avLst>
              <a:gd name="adj" fmla="val 28235"/>
            </a:avLst>
          </a:prstGeom>
          <a:solidFill>
            <a:srgbClr val="4A443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822796" y="307777"/>
            <a:ext cx="984290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새 사이클</a:t>
            </a:r>
            <a:endParaRPr lang="en-US" sz="1080" dirty="0"/>
          </a:p>
        </p:txBody>
      </p:sp>
      <p:sp>
        <p:nvSpPr>
          <p:cNvPr id="6" name="Text 4"/>
          <p:cNvSpPr/>
          <p:nvPr/>
        </p:nvSpPr>
        <p:spPr>
          <a:xfrm>
            <a:off x="8013874" y="307777"/>
            <a:ext cx="813160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kern="0" spc="151" dirty="0">
                <a:solidFill>
                  <a:srgbClr val="B6B1A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조각조각</a:t>
            </a:r>
            <a:endParaRPr lang="en-US" sz="1080" dirty="0"/>
          </a:p>
        </p:txBody>
      </p:sp>
      <p:sp>
        <p:nvSpPr>
          <p:cNvPr id="7" name="Text 5"/>
          <p:cNvSpPr/>
          <p:nvPr/>
        </p:nvSpPr>
        <p:spPr>
          <a:xfrm>
            <a:off x="548580" y="1471464"/>
            <a:ext cx="1561624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F2C3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⑤ 마이페이지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548580" y="1704752"/>
            <a:ext cx="4842406" cy="3095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405"/>
              </a:spcBef>
              <a:buNone/>
            </a:pPr>
            <a:r>
              <a:rPr lang="en-US" sz="1800" b="1" kern="0" spc="-18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"움직이면 정말 나아져?"를 내 데이터로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9027" y="2200573"/>
            <a:ext cx="90488" cy="90488"/>
          </a:xfrm>
          <a:prstGeom prst="roundRect">
            <a:avLst>
              <a:gd name="adj" fmla="val 28295"/>
            </a:avLst>
          </a:prstGeom>
          <a:solidFill>
            <a:srgbClr val="FFD55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740494" y="2159050"/>
            <a:ext cx="6536196" cy="4462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89"/>
              </a:lnSpc>
              <a:buNone/>
            </a:pPr>
            <a:r>
              <a:rPr lang="en-US" sz="1260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그래프: 기분 곡선 위에 완료한 조각을 겹쳐 그림 — </a:t>
            </a:r>
            <a:r>
              <a:rPr lang="en-US" sz="1260" b="1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"움직인 날, 기분이</a:t>
            </a:r>
            <a:endParaRPr lang="en-US" sz="1260" dirty="0"/>
          </a:p>
          <a:p>
            <a:pPr marL="0" indent="0" algn="l">
              <a:lnSpc>
                <a:spcPts val="1789"/>
              </a:lnSpc>
              <a:buNone/>
            </a:pPr>
            <a:r>
              <a:rPr lang="en-US" sz="1260" b="1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올라갔어요"</a:t>
            </a:r>
            <a:r>
              <a:rPr lang="en-US" sz="1260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 눈에 보임</a:t>
            </a:r>
            <a:endParaRPr lang="en-US" sz="1260" dirty="0"/>
          </a:p>
        </p:txBody>
      </p:sp>
      <p:sp>
        <p:nvSpPr>
          <p:cNvPr id="11" name="Shape 9"/>
          <p:cNvSpPr/>
          <p:nvPr/>
        </p:nvSpPr>
        <p:spPr>
          <a:xfrm>
            <a:off x="549027" y="2768054"/>
            <a:ext cx="90488" cy="90488"/>
          </a:xfrm>
          <a:prstGeom prst="roundRect">
            <a:avLst>
              <a:gd name="adj" fmla="val 28295"/>
            </a:avLst>
          </a:prstGeom>
          <a:solidFill>
            <a:srgbClr val="FFD55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740494" y="2726531"/>
            <a:ext cx="6023870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60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비교 기준선은 온보딩 첫 주 — 남과 비교하지 않고 </a:t>
            </a:r>
            <a:r>
              <a:rPr lang="en-US" sz="1260" b="1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과거의 나</a:t>
            </a:r>
            <a:r>
              <a:rPr lang="en-US" sz="1260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와만 비교</a:t>
            </a:r>
            <a:endParaRPr lang="en-US" sz="1260" dirty="0"/>
          </a:p>
        </p:txBody>
      </p:sp>
      <p:sp>
        <p:nvSpPr>
          <p:cNvPr id="13" name="Shape 11"/>
          <p:cNvSpPr/>
          <p:nvPr/>
        </p:nvSpPr>
        <p:spPr>
          <a:xfrm>
            <a:off x="549027" y="3108350"/>
            <a:ext cx="90488" cy="90488"/>
          </a:xfrm>
          <a:prstGeom prst="roundRect">
            <a:avLst>
              <a:gd name="adj" fmla="val 28295"/>
            </a:avLst>
          </a:prstGeom>
          <a:solidFill>
            <a:srgbClr val="A8DAD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740494" y="3066827"/>
            <a:ext cx="6577504" cy="4462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89"/>
              </a:lnSpc>
              <a:buNone/>
            </a:pPr>
            <a:r>
              <a:rPr lang="en-US" sz="1260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영역별 완료 수와 즐거움·뿌듯함 평균 → "나는 어떤 조각에서 즐거움이 큰가"</a:t>
            </a:r>
            <a:endParaRPr lang="en-US" sz="1260" dirty="0"/>
          </a:p>
          <a:p>
            <a:pPr marL="0" indent="0" algn="l">
              <a:lnSpc>
                <a:spcPts val="1789"/>
              </a:lnSpc>
              <a:buNone/>
            </a:pPr>
            <a:r>
              <a:rPr lang="en-US" sz="1260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자기발견</a:t>
            </a:r>
            <a:endParaRPr lang="en-US" sz="1260" dirty="0"/>
          </a:p>
        </p:txBody>
      </p:sp>
      <p:sp>
        <p:nvSpPr>
          <p:cNvPr id="15" name="Shape 13"/>
          <p:cNvSpPr/>
          <p:nvPr/>
        </p:nvSpPr>
        <p:spPr>
          <a:xfrm>
            <a:off x="549027" y="3675831"/>
            <a:ext cx="90488" cy="90488"/>
          </a:xfrm>
          <a:prstGeom prst="roundRect">
            <a:avLst>
              <a:gd name="adj" fmla="val 28295"/>
            </a:avLst>
          </a:prstGeom>
          <a:solidFill>
            <a:srgbClr val="F4A2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740494" y="3634308"/>
            <a:ext cx="5646204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60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연속 참여·모은 조각은 </a:t>
            </a:r>
            <a:r>
              <a:rPr lang="en-US" sz="1260" b="1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기록일 뿐</a:t>
            </a:r>
            <a:r>
              <a:rPr lang="en-US" sz="1260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— 끊겨도 경고·차감·잔소리 없음</a:t>
            </a:r>
            <a:endParaRPr lang="en-US" sz="1260" dirty="0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9936" y="759135"/>
            <a:ext cx="1433513" cy="3805237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548580" y="4741664"/>
            <a:ext cx="2112645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8982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BA 챌린지 사이클 개선 보고</a:t>
            </a:r>
            <a:endParaRPr lang="en-US" sz="1080" dirty="0"/>
          </a:p>
        </p:txBody>
      </p:sp>
      <p:sp>
        <p:nvSpPr>
          <p:cNvPr id="19" name="Text 16"/>
          <p:cNvSpPr/>
          <p:nvPr/>
        </p:nvSpPr>
        <p:spPr>
          <a:xfrm>
            <a:off x="8159279" y="4741664"/>
            <a:ext cx="624133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8982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 / 23</a:t>
            </a:r>
            <a:endParaRPr lang="en-US" sz="108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1E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547874" y="283890"/>
            <a:ext cx="1243013" cy="285750"/>
          </a:xfrm>
          <a:prstGeom prst="roundRect">
            <a:avLst>
              <a:gd name="adj" fmla="val 50000"/>
            </a:avLst>
          </a:prstGeom>
          <a:solidFill>
            <a:srgbClr val="A8DAD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677205" y="386246"/>
            <a:ext cx="80962" cy="80962"/>
          </a:xfrm>
          <a:prstGeom prst="roundRect">
            <a:avLst>
              <a:gd name="adj" fmla="val 28235"/>
            </a:avLst>
          </a:prstGeom>
          <a:solidFill>
            <a:srgbClr val="4A443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822796" y="333449"/>
            <a:ext cx="114835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 이론 정합성</a:t>
            </a:r>
            <a:endParaRPr lang="en-US" sz="1080" dirty="0"/>
          </a:p>
        </p:txBody>
      </p:sp>
      <p:sp>
        <p:nvSpPr>
          <p:cNvPr id="6" name="Text 4"/>
          <p:cNvSpPr/>
          <p:nvPr/>
        </p:nvSpPr>
        <p:spPr>
          <a:xfrm>
            <a:off x="8013874" y="333449"/>
            <a:ext cx="813160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kern="0" spc="151" dirty="0">
                <a:solidFill>
                  <a:srgbClr val="B1ABA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조각조각</a:t>
            </a:r>
            <a:endParaRPr lang="en-US" sz="1080" dirty="0"/>
          </a:p>
        </p:txBody>
      </p:sp>
      <p:sp>
        <p:nvSpPr>
          <p:cNvPr id="7" name="Text 5"/>
          <p:cNvSpPr/>
          <p:nvPr/>
        </p:nvSpPr>
        <p:spPr>
          <a:xfrm>
            <a:off x="548580" y="687660"/>
            <a:ext cx="5681804" cy="3381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80" b="1" kern="0" spc="-20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새 사이클 ↔ BA 사이클 </a:t>
            </a:r>
            <a:r>
              <a:rPr lang="en-US" sz="1220" b="1" kern="0" spc="-20" dirty="0">
                <a:solidFill>
                  <a:srgbClr val="8982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흐름 순서 그대로 1:1 매핑</a:t>
            </a:r>
            <a:endParaRPr lang="en-US" sz="1980" dirty="0"/>
          </a:p>
        </p:txBody>
      </p:sp>
      <p:sp>
        <p:nvSpPr>
          <p:cNvPr id="8" name="Shape 6"/>
          <p:cNvSpPr/>
          <p:nvPr/>
        </p:nvSpPr>
        <p:spPr>
          <a:xfrm>
            <a:off x="549250" y="1159297"/>
            <a:ext cx="2595563" cy="1595437"/>
          </a:xfrm>
          <a:prstGeom prst="roundRect">
            <a:avLst>
              <a:gd name="adj" fmla="val 6304"/>
            </a:avLst>
          </a:prstGeom>
          <a:solidFill>
            <a:srgbClr val="FFFFFF"/>
          </a:solidFill>
          <a:ln/>
          <a:effectLst>
            <a:outerShdw blurRad="102870" dist="30861" dir="5400000" algn="bl" rotWithShape="0">
              <a:srgbClr val="4A443A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746075" y="1259160"/>
            <a:ext cx="161627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4A443A"/>
                </a:solidFill>
                <a:highlight>
                  <a:srgbClr val="FFD55F"/>
                </a:highlight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969169" y="1240706"/>
            <a:ext cx="61465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20" b="1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온보딩</a:t>
            </a:r>
            <a:endParaRPr lang="en-US" sz="1220" dirty="0"/>
          </a:p>
        </p:txBody>
      </p:sp>
      <p:sp>
        <p:nvSpPr>
          <p:cNvPr id="11" name="Text 9"/>
          <p:cNvSpPr/>
          <p:nvPr/>
        </p:nvSpPr>
        <p:spPr>
          <a:xfrm>
            <a:off x="676573" y="1500262"/>
            <a:ext cx="3039591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284"/>
              </a:spcBef>
              <a:buNone/>
            </a:pPr>
            <a:r>
              <a:rPr lang="en-US" sz="1080" dirty="0">
                <a:solidFill>
                  <a:srgbClr val="8982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스토리 4장 · 가치 선택 · 시작 체크리스트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675456" y="2012454"/>
            <a:ext cx="2343150" cy="666750"/>
          </a:xfrm>
          <a:prstGeom prst="rect">
            <a:avLst/>
          </a:prstGeom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740569" y="2094681"/>
            <a:ext cx="300060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4A443A"/>
                </a:solidFill>
                <a:highlight>
                  <a:srgbClr val="A8DADC"/>
                </a:highlight>
                <a:latin typeface="Pretendard" pitchFamily="34" charset="0"/>
                <a:ea typeface="Pretendard" pitchFamily="34" charset="-122"/>
                <a:cs typeface="Pretendard" pitchFamily="34" charset="-120"/>
              </a:rPr>
              <a:t>BA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1046262" y="2089845"/>
            <a:ext cx="1778414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심리교육 · 가치 명료화</a:t>
            </a:r>
            <a:endParaRPr lang="en-US" sz="1120" dirty="0"/>
          </a:p>
        </p:txBody>
      </p:sp>
      <p:sp>
        <p:nvSpPr>
          <p:cNvPr id="15" name="Text 13"/>
          <p:cNvSpPr/>
          <p:nvPr/>
        </p:nvSpPr>
        <p:spPr>
          <a:xfrm>
            <a:off x="676573" y="2316925"/>
            <a:ext cx="2624004" cy="3639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3"/>
              </a:lnSpc>
              <a:buNone/>
            </a:pPr>
            <a:r>
              <a:rPr lang="en-US" sz="1080" dirty="0">
                <a:solidFill>
                  <a:srgbClr val="8982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활동–기분 모델, 성분 1·2 (Huguet</a:t>
            </a:r>
            <a:endParaRPr lang="en-US" sz="1080" dirty="0"/>
          </a:p>
          <a:p>
            <a:pPr marL="0" indent="0" algn="l">
              <a:lnSpc>
                <a:spcPts val="1403"/>
              </a:lnSpc>
              <a:buNone/>
            </a:pPr>
            <a:r>
              <a:rPr lang="en-US" sz="1080" dirty="0">
                <a:solidFill>
                  <a:srgbClr val="8982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2016)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3274182" y="1159297"/>
            <a:ext cx="2595563" cy="1595437"/>
          </a:xfrm>
          <a:prstGeom prst="roundRect">
            <a:avLst>
              <a:gd name="adj" fmla="val 6304"/>
            </a:avLst>
          </a:prstGeom>
          <a:solidFill>
            <a:srgbClr val="FFFFFF"/>
          </a:solidFill>
          <a:ln/>
          <a:effectLst>
            <a:outerShdw blurRad="102870" dist="30861" dir="5400000" algn="bl" rotWithShape="0">
              <a:srgbClr val="4A443A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3470970" y="1259160"/>
            <a:ext cx="161627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4A443A"/>
                </a:solidFill>
                <a:highlight>
                  <a:srgbClr val="FFD55F"/>
                </a:highlight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3694063" y="1240706"/>
            <a:ext cx="103885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20" b="1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데일리 설문</a:t>
            </a:r>
            <a:endParaRPr lang="en-US" sz="1220" dirty="0"/>
          </a:p>
        </p:txBody>
      </p:sp>
      <p:sp>
        <p:nvSpPr>
          <p:cNvPr id="19" name="Text 17"/>
          <p:cNvSpPr/>
          <p:nvPr/>
        </p:nvSpPr>
        <p:spPr>
          <a:xfrm>
            <a:off x="3401467" y="1500262"/>
            <a:ext cx="1642497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284"/>
              </a:spcBef>
              <a:buNone/>
            </a:pPr>
            <a:r>
              <a:rPr lang="en-US" sz="1080" dirty="0">
                <a:solidFill>
                  <a:srgbClr val="8982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기분 + 활동, 딱 2문항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3400388" y="2192052"/>
            <a:ext cx="2343150" cy="485775"/>
          </a:xfrm>
          <a:prstGeom prst="rect">
            <a:avLst/>
          </a:prstGeom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3465463" y="2272903"/>
            <a:ext cx="300060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4A443A"/>
                </a:solidFill>
                <a:highlight>
                  <a:srgbClr val="A8DADC"/>
                </a:highlight>
                <a:latin typeface="Pretendard" pitchFamily="34" charset="0"/>
                <a:ea typeface="Pretendard" pitchFamily="34" charset="-122"/>
                <a:cs typeface="Pretendard" pitchFamily="34" charset="-120"/>
              </a:rPr>
              <a:t>BA</a:t>
            </a:r>
            <a:endParaRPr lang="en-US" sz="1080" dirty="0"/>
          </a:p>
        </p:txBody>
      </p:sp>
      <p:sp>
        <p:nvSpPr>
          <p:cNvPr id="22" name="Text 20"/>
          <p:cNvSpPr/>
          <p:nvPr/>
        </p:nvSpPr>
        <p:spPr>
          <a:xfrm>
            <a:off x="3771156" y="2268066"/>
            <a:ext cx="1513255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기분·활동 모니터링</a:t>
            </a:r>
            <a:endParaRPr lang="en-US" sz="1120" dirty="0"/>
          </a:p>
        </p:txBody>
      </p:sp>
      <p:sp>
        <p:nvSpPr>
          <p:cNvPr id="23" name="Text 21"/>
          <p:cNvSpPr/>
          <p:nvPr/>
        </p:nvSpPr>
        <p:spPr>
          <a:xfrm>
            <a:off x="3401467" y="2495104"/>
            <a:ext cx="1428996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162"/>
              </a:spcBef>
              <a:buNone/>
            </a:pPr>
            <a:r>
              <a:rPr lang="en-US" sz="1080" dirty="0">
                <a:solidFill>
                  <a:srgbClr val="8982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성분 3·4 (Martell)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5999150" y="1159297"/>
            <a:ext cx="2595563" cy="1595437"/>
          </a:xfrm>
          <a:prstGeom prst="roundRect">
            <a:avLst>
              <a:gd name="adj" fmla="val 6304"/>
            </a:avLst>
          </a:prstGeom>
          <a:solidFill>
            <a:srgbClr val="FFFFFF"/>
          </a:solidFill>
          <a:ln/>
          <a:effectLst>
            <a:outerShdw blurRad="102870" dist="30861" dir="5400000" algn="bl" rotWithShape="0">
              <a:srgbClr val="4A443A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6195938" y="1259160"/>
            <a:ext cx="161627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4A443A"/>
                </a:solidFill>
                <a:highlight>
                  <a:srgbClr val="FFD55F"/>
                </a:highlight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080" dirty="0"/>
          </a:p>
        </p:txBody>
      </p:sp>
      <p:sp>
        <p:nvSpPr>
          <p:cNvPr id="26" name="Text 24"/>
          <p:cNvSpPr/>
          <p:nvPr/>
        </p:nvSpPr>
        <p:spPr>
          <a:xfrm>
            <a:off x="6419031" y="1240706"/>
            <a:ext cx="853016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20" b="1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조각 제안</a:t>
            </a:r>
            <a:endParaRPr lang="en-US" sz="1220" dirty="0"/>
          </a:p>
        </p:txBody>
      </p:sp>
      <p:sp>
        <p:nvSpPr>
          <p:cNvPr id="27" name="Text 25"/>
          <p:cNvSpPr/>
          <p:nvPr/>
        </p:nvSpPr>
        <p:spPr>
          <a:xfrm>
            <a:off x="6126435" y="1500262"/>
            <a:ext cx="2962974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284"/>
              </a:spcBef>
              <a:buNone/>
            </a:pPr>
            <a:r>
              <a:rPr lang="en-US" sz="1080" dirty="0">
                <a:solidFill>
                  <a:srgbClr val="8982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타깃 2 + 즐거움 1 + 회피 1 · '가볍게' 기본</a:t>
            </a:r>
            <a:endParaRPr lang="en-US" sz="1080" dirty="0"/>
          </a:p>
        </p:txBody>
      </p:sp>
      <p:sp>
        <p:nvSpPr>
          <p:cNvPr id="28" name="Shape 26"/>
          <p:cNvSpPr/>
          <p:nvPr/>
        </p:nvSpPr>
        <p:spPr>
          <a:xfrm>
            <a:off x="6125356" y="2012454"/>
            <a:ext cx="2343150" cy="666750"/>
          </a:xfrm>
          <a:prstGeom prst="rect">
            <a:avLst/>
          </a:prstGeom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6190431" y="2094681"/>
            <a:ext cx="300060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4A443A"/>
                </a:solidFill>
                <a:highlight>
                  <a:srgbClr val="A8DADC"/>
                </a:highlight>
                <a:latin typeface="Pretendard" pitchFamily="34" charset="0"/>
                <a:ea typeface="Pretendard" pitchFamily="34" charset="-122"/>
                <a:cs typeface="Pretendard" pitchFamily="34" charset="-120"/>
              </a:rPr>
              <a:t>BA</a:t>
            </a:r>
            <a:endParaRPr lang="en-US" sz="1080" dirty="0"/>
          </a:p>
        </p:txBody>
      </p:sp>
      <p:sp>
        <p:nvSpPr>
          <p:cNvPr id="30" name="Text 28"/>
          <p:cNvSpPr/>
          <p:nvPr/>
        </p:nvSpPr>
        <p:spPr>
          <a:xfrm>
            <a:off x="6496124" y="2089845"/>
            <a:ext cx="2157532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활동 계획 — graded task</a:t>
            </a:r>
            <a:endParaRPr lang="en-US" sz="1120" dirty="0"/>
          </a:p>
        </p:txBody>
      </p:sp>
      <p:sp>
        <p:nvSpPr>
          <p:cNvPr id="31" name="Text 29"/>
          <p:cNvSpPr/>
          <p:nvPr/>
        </p:nvSpPr>
        <p:spPr>
          <a:xfrm>
            <a:off x="6126435" y="2316925"/>
            <a:ext cx="2844954" cy="3639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3"/>
              </a:lnSpc>
              <a:buNone/>
            </a:pPr>
            <a:r>
              <a:rPr lang="en-US" sz="1080" dirty="0">
                <a:solidFill>
                  <a:srgbClr val="8982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즐거움·회피 스케줄링, 성분 7·8 (Beck</a:t>
            </a:r>
            <a:endParaRPr lang="en-US" sz="1080" dirty="0"/>
          </a:p>
          <a:p>
            <a:pPr marL="0" indent="0" algn="l">
              <a:lnSpc>
                <a:spcPts val="1403"/>
              </a:lnSpc>
              <a:buNone/>
            </a:pPr>
            <a:r>
              <a:rPr lang="en-US" sz="1080" dirty="0">
                <a:solidFill>
                  <a:srgbClr val="8982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1979)</a:t>
            </a:r>
            <a:endParaRPr lang="en-US" sz="1080" dirty="0"/>
          </a:p>
        </p:txBody>
      </p:sp>
      <p:sp>
        <p:nvSpPr>
          <p:cNvPr id="32" name="Shape 30"/>
          <p:cNvSpPr/>
          <p:nvPr/>
        </p:nvSpPr>
        <p:spPr>
          <a:xfrm>
            <a:off x="549250" y="2837892"/>
            <a:ext cx="2595563" cy="1595437"/>
          </a:xfrm>
          <a:prstGeom prst="roundRect">
            <a:avLst>
              <a:gd name="adj" fmla="val 6304"/>
            </a:avLst>
          </a:prstGeom>
          <a:solidFill>
            <a:srgbClr val="FFFFFF"/>
          </a:solidFill>
          <a:ln/>
          <a:effectLst>
            <a:outerShdw blurRad="102870" dist="30861" dir="5400000" algn="bl" rotWithShape="0">
              <a:srgbClr val="4A443A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746075" y="2937718"/>
            <a:ext cx="161627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4A443A"/>
                </a:solidFill>
                <a:highlight>
                  <a:srgbClr val="FFD55F"/>
                </a:highlight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080" dirty="0"/>
          </a:p>
        </p:txBody>
      </p:sp>
      <p:sp>
        <p:nvSpPr>
          <p:cNvPr id="34" name="Text 32"/>
          <p:cNvSpPr/>
          <p:nvPr/>
        </p:nvSpPr>
        <p:spPr>
          <a:xfrm>
            <a:off x="969169" y="2919264"/>
            <a:ext cx="96310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20" b="1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수행 · 인증</a:t>
            </a:r>
            <a:endParaRPr lang="en-US" sz="1220" dirty="0"/>
          </a:p>
        </p:txBody>
      </p:sp>
      <p:sp>
        <p:nvSpPr>
          <p:cNvPr id="35" name="Text 33"/>
          <p:cNvSpPr/>
          <p:nvPr/>
        </p:nvSpPr>
        <p:spPr>
          <a:xfrm>
            <a:off x="676573" y="3178820"/>
            <a:ext cx="2266556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284"/>
              </a:spcBef>
              <a:buNone/>
            </a:pPr>
            <a:r>
              <a:rPr lang="en-US" sz="1080" dirty="0">
                <a:solidFill>
                  <a:srgbClr val="8982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P/M 슬라이더 · 명시적 건너뜀</a:t>
            </a:r>
            <a:endParaRPr lang="en-US" sz="1080" dirty="0"/>
          </a:p>
        </p:txBody>
      </p:sp>
      <p:sp>
        <p:nvSpPr>
          <p:cNvPr id="36" name="Shape 34"/>
          <p:cNvSpPr/>
          <p:nvPr/>
        </p:nvSpPr>
        <p:spPr>
          <a:xfrm>
            <a:off x="675456" y="3870685"/>
            <a:ext cx="2343150" cy="485775"/>
          </a:xfrm>
          <a:prstGeom prst="rect">
            <a:avLst/>
          </a:prstGeom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740569" y="3951536"/>
            <a:ext cx="300060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4A443A"/>
                </a:solidFill>
                <a:highlight>
                  <a:srgbClr val="A8DADC"/>
                </a:highlight>
                <a:latin typeface="Pretendard" pitchFamily="34" charset="0"/>
                <a:ea typeface="Pretendard" pitchFamily="34" charset="-122"/>
                <a:cs typeface="Pretendard" pitchFamily="34" charset="-120"/>
              </a:rPr>
              <a:t>BA</a:t>
            </a:r>
            <a:endParaRPr lang="en-US" sz="1080" dirty="0"/>
          </a:p>
        </p:txBody>
      </p:sp>
      <p:sp>
        <p:nvSpPr>
          <p:cNvPr id="38" name="Text 36"/>
          <p:cNvSpPr/>
          <p:nvPr/>
        </p:nvSpPr>
        <p:spPr>
          <a:xfrm>
            <a:off x="1046262" y="3946699"/>
            <a:ext cx="2137217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계획대로 실행 + M&amp;P 평정</a:t>
            </a:r>
            <a:endParaRPr lang="en-US" sz="1120" dirty="0"/>
          </a:p>
        </p:txBody>
      </p:sp>
      <p:sp>
        <p:nvSpPr>
          <p:cNvPr id="39" name="Text 37"/>
          <p:cNvSpPr/>
          <p:nvPr/>
        </p:nvSpPr>
        <p:spPr>
          <a:xfrm>
            <a:off x="676573" y="4173736"/>
            <a:ext cx="2925150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162"/>
              </a:spcBef>
              <a:buNone/>
            </a:pPr>
            <a:r>
              <a:rPr lang="en-US" sz="1080" dirty="0">
                <a:solidFill>
                  <a:srgbClr val="8982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'plan, not mood' (Martell) · 성분 5·6</a:t>
            </a:r>
            <a:endParaRPr lang="en-US" sz="1080" dirty="0"/>
          </a:p>
        </p:txBody>
      </p:sp>
      <p:sp>
        <p:nvSpPr>
          <p:cNvPr id="40" name="Shape 38"/>
          <p:cNvSpPr/>
          <p:nvPr/>
        </p:nvSpPr>
        <p:spPr>
          <a:xfrm>
            <a:off x="3274182" y="2837892"/>
            <a:ext cx="2595563" cy="1595437"/>
          </a:xfrm>
          <a:prstGeom prst="roundRect">
            <a:avLst>
              <a:gd name="adj" fmla="val 6304"/>
            </a:avLst>
          </a:prstGeom>
          <a:solidFill>
            <a:srgbClr val="FFFFFF"/>
          </a:solidFill>
          <a:ln/>
          <a:effectLst>
            <a:outerShdw blurRad="102870" dist="30861" dir="5400000" algn="bl" rotWithShape="0">
              <a:srgbClr val="4A443A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3470970" y="2937718"/>
            <a:ext cx="161627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4A443A"/>
                </a:solidFill>
                <a:highlight>
                  <a:srgbClr val="FFD55F"/>
                </a:highlight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080" dirty="0"/>
          </a:p>
        </p:txBody>
      </p:sp>
      <p:sp>
        <p:nvSpPr>
          <p:cNvPr id="42" name="Text 40"/>
          <p:cNvSpPr/>
          <p:nvPr/>
        </p:nvSpPr>
        <p:spPr>
          <a:xfrm>
            <a:off x="3694063" y="2919264"/>
            <a:ext cx="1520607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20" b="1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회고 · 마이페이지</a:t>
            </a:r>
            <a:endParaRPr lang="en-US" sz="1220" dirty="0"/>
          </a:p>
        </p:txBody>
      </p:sp>
      <p:sp>
        <p:nvSpPr>
          <p:cNvPr id="43" name="Text 41"/>
          <p:cNvSpPr/>
          <p:nvPr/>
        </p:nvSpPr>
        <p:spPr>
          <a:xfrm>
            <a:off x="3401467" y="3178820"/>
            <a:ext cx="2196711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284"/>
              </a:spcBef>
              <a:buNone/>
            </a:pPr>
            <a:r>
              <a:rPr lang="en-US" sz="1080" dirty="0">
                <a:solidFill>
                  <a:srgbClr val="8982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사후 회고 · 기분×활동 그래프</a:t>
            </a:r>
            <a:endParaRPr lang="en-US" sz="1080" dirty="0"/>
          </a:p>
        </p:txBody>
      </p:sp>
      <p:sp>
        <p:nvSpPr>
          <p:cNvPr id="44" name="Shape 42"/>
          <p:cNvSpPr/>
          <p:nvPr/>
        </p:nvSpPr>
        <p:spPr>
          <a:xfrm>
            <a:off x="3400388" y="3870685"/>
            <a:ext cx="2343150" cy="485775"/>
          </a:xfrm>
          <a:prstGeom prst="rect">
            <a:avLst/>
          </a:prstGeom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3"/>
          <p:cNvSpPr/>
          <p:nvPr/>
        </p:nvSpPr>
        <p:spPr>
          <a:xfrm>
            <a:off x="3465463" y="3951536"/>
            <a:ext cx="300060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4A443A"/>
                </a:solidFill>
                <a:highlight>
                  <a:srgbClr val="A8DADC"/>
                </a:highlight>
                <a:latin typeface="Pretendard" pitchFamily="34" charset="0"/>
                <a:ea typeface="Pretendard" pitchFamily="34" charset="-122"/>
                <a:cs typeface="Pretendard" pitchFamily="34" charset="-120"/>
              </a:rPr>
              <a:t>BA</a:t>
            </a:r>
            <a:endParaRPr lang="en-US" sz="1080" dirty="0"/>
          </a:p>
        </p:txBody>
      </p:sp>
      <p:sp>
        <p:nvSpPr>
          <p:cNvPr id="46" name="Text 44"/>
          <p:cNvSpPr/>
          <p:nvPr/>
        </p:nvSpPr>
        <p:spPr>
          <a:xfrm>
            <a:off x="3771156" y="3946699"/>
            <a:ext cx="883295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검토 · 강화</a:t>
            </a:r>
            <a:endParaRPr lang="en-US" sz="1120" dirty="0"/>
          </a:p>
        </p:txBody>
      </p:sp>
      <p:sp>
        <p:nvSpPr>
          <p:cNvPr id="47" name="Text 45"/>
          <p:cNvSpPr/>
          <p:nvPr/>
        </p:nvSpPr>
        <p:spPr>
          <a:xfrm>
            <a:off x="3401467" y="4173736"/>
            <a:ext cx="2735059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162"/>
              </a:spcBef>
              <a:buNone/>
            </a:pPr>
            <a:r>
              <a:rPr lang="en-US" sz="1080" dirty="0">
                <a:solidFill>
                  <a:srgbClr val="8982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활동↔기분 연결 확인, 성분 3·4 리뷰</a:t>
            </a:r>
            <a:endParaRPr lang="en-US" sz="1080" dirty="0"/>
          </a:p>
        </p:txBody>
      </p:sp>
      <p:sp>
        <p:nvSpPr>
          <p:cNvPr id="48" name="Shape 46"/>
          <p:cNvSpPr/>
          <p:nvPr/>
        </p:nvSpPr>
        <p:spPr>
          <a:xfrm>
            <a:off x="5999150" y="2837892"/>
            <a:ext cx="2595563" cy="1595437"/>
          </a:xfrm>
          <a:prstGeom prst="roundRect">
            <a:avLst>
              <a:gd name="adj" fmla="val 6304"/>
            </a:avLst>
          </a:prstGeom>
          <a:solidFill>
            <a:srgbClr val="FFFFFF"/>
          </a:solidFill>
          <a:ln/>
          <a:effectLst>
            <a:outerShdw blurRad="101600" dist="50800" dir="16200000" algn="bl" rotWithShape="0">
              <a:srgbClr val="A8DADC">
                <a:alpha val="10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7"/>
          <p:cNvSpPr/>
          <p:nvPr/>
        </p:nvSpPr>
        <p:spPr>
          <a:xfrm>
            <a:off x="6178674" y="2919264"/>
            <a:ext cx="135131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4A443A"/>
                </a:solidFill>
                <a:highlight>
                  <a:srgbClr val="FFD55F"/>
                </a:highlight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↺</a:t>
            </a:r>
            <a:r>
              <a:rPr lang="en-US" sz="1220" b="1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다음날 조정</a:t>
            </a:r>
            <a:endParaRPr lang="en-US" sz="1080" dirty="0"/>
          </a:p>
        </p:txBody>
      </p:sp>
      <p:sp>
        <p:nvSpPr>
          <p:cNvPr id="50" name="Text 48"/>
          <p:cNvSpPr/>
          <p:nvPr/>
        </p:nvSpPr>
        <p:spPr>
          <a:xfrm>
            <a:off x="6126435" y="3178820"/>
            <a:ext cx="2597110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284"/>
              </a:spcBef>
              <a:buNone/>
            </a:pPr>
            <a:r>
              <a:rPr lang="en-US" sz="1080" dirty="0">
                <a:solidFill>
                  <a:srgbClr val="8982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회고 기반 밴드 ±1 · 컨디션 바닥 −1</a:t>
            </a:r>
            <a:endParaRPr lang="en-US" sz="1080" dirty="0"/>
          </a:p>
        </p:txBody>
      </p:sp>
      <p:sp>
        <p:nvSpPr>
          <p:cNvPr id="51" name="Shape 49"/>
          <p:cNvSpPr/>
          <p:nvPr/>
        </p:nvSpPr>
        <p:spPr>
          <a:xfrm>
            <a:off x="6125356" y="3870685"/>
            <a:ext cx="2343150" cy="485775"/>
          </a:xfrm>
          <a:prstGeom prst="rect">
            <a:avLst/>
          </a:prstGeom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Text 50"/>
          <p:cNvSpPr/>
          <p:nvPr/>
        </p:nvSpPr>
        <p:spPr>
          <a:xfrm>
            <a:off x="6190431" y="3951536"/>
            <a:ext cx="300060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4A443A"/>
                </a:solidFill>
                <a:highlight>
                  <a:srgbClr val="A8DADC"/>
                </a:highlight>
                <a:latin typeface="Pretendard" pitchFamily="34" charset="0"/>
                <a:ea typeface="Pretendard" pitchFamily="34" charset="-122"/>
                <a:cs typeface="Pretendard" pitchFamily="34" charset="-120"/>
              </a:rPr>
              <a:t>BA</a:t>
            </a:r>
            <a:endParaRPr lang="en-US" sz="1080" dirty="0"/>
          </a:p>
        </p:txBody>
      </p:sp>
      <p:sp>
        <p:nvSpPr>
          <p:cNvPr id="53" name="Text 51"/>
          <p:cNvSpPr/>
          <p:nvPr/>
        </p:nvSpPr>
        <p:spPr>
          <a:xfrm>
            <a:off x="6496124" y="3946699"/>
            <a:ext cx="2005943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위계 진행 — 숙달 시 상향</a:t>
            </a:r>
            <a:endParaRPr lang="en-US" sz="1120" dirty="0"/>
          </a:p>
        </p:txBody>
      </p:sp>
      <p:sp>
        <p:nvSpPr>
          <p:cNvPr id="54" name="Text 52"/>
          <p:cNvSpPr/>
          <p:nvPr/>
        </p:nvSpPr>
        <p:spPr>
          <a:xfrm>
            <a:off x="6126435" y="4173736"/>
            <a:ext cx="2721032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162"/>
              </a:spcBef>
              <a:buNone/>
            </a:pPr>
            <a:r>
              <a:rPr lang="en-US" sz="1080" dirty="0">
                <a:solidFill>
                  <a:srgbClr val="8982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BATD 활동위계 논리 (Lejuez 2001)</a:t>
            </a:r>
            <a:endParaRPr lang="en-US" sz="1080" dirty="0"/>
          </a:p>
        </p:txBody>
      </p:sp>
      <p:sp>
        <p:nvSpPr>
          <p:cNvPr id="55" name="Text 53"/>
          <p:cNvSpPr/>
          <p:nvPr/>
        </p:nvSpPr>
        <p:spPr>
          <a:xfrm>
            <a:off x="475108" y="4535909"/>
            <a:ext cx="8193710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spcBef>
                <a:spcPts val="729"/>
              </a:spcBef>
              <a:buNone/>
            </a:pPr>
            <a:r>
              <a:rPr lang="en-US" sz="1080" dirty="0">
                <a:solidFill>
                  <a:srgbClr val="8982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↺ 조정 결과는 다음 날 ③의 제안으로 되돌아간다 — BA의 '모니터링 → 계획 → 실행 → 검토' 순환과 같은 구조</a:t>
            </a:r>
            <a:endParaRPr lang="en-US" sz="1080" dirty="0"/>
          </a:p>
        </p:txBody>
      </p:sp>
      <p:sp>
        <p:nvSpPr>
          <p:cNvPr id="56" name="Text 54"/>
          <p:cNvSpPr/>
          <p:nvPr/>
        </p:nvSpPr>
        <p:spPr>
          <a:xfrm>
            <a:off x="548580" y="4715917"/>
            <a:ext cx="2112645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8982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BA 챌린지 사이클 개선 보고</a:t>
            </a:r>
            <a:endParaRPr lang="en-US" sz="1080" dirty="0"/>
          </a:p>
        </p:txBody>
      </p:sp>
      <p:sp>
        <p:nvSpPr>
          <p:cNvPr id="57" name="Text 55"/>
          <p:cNvSpPr/>
          <p:nvPr/>
        </p:nvSpPr>
        <p:spPr>
          <a:xfrm>
            <a:off x="8159279" y="4715917"/>
            <a:ext cx="624133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8982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 / 23</a:t>
            </a:r>
            <a:endParaRPr lang="en-US" sz="1080" dirty="0"/>
          </a:p>
        </p:txBody>
      </p:sp>
      <p:pic>
        <p:nvPicPr>
          <p:cNvPr id="58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5456" y="2012454"/>
            <a:ext cx="2343150" cy="666750"/>
          </a:xfrm>
          <a:prstGeom prst="rect">
            <a:avLst/>
          </a:prstGeom>
        </p:spPr>
      </p:pic>
      <p:pic>
        <p:nvPicPr>
          <p:cNvPr id="5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00388" y="2192052"/>
            <a:ext cx="2343150" cy="485775"/>
          </a:xfrm>
          <a:prstGeom prst="rect">
            <a:avLst/>
          </a:prstGeom>
        </p:spPr>
      </p:pic>
      <p:pic>
        <p:nvPicPr>
          <p:cNvPr id="6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25356" y="2012454"/>
            <a:ext cx="2343150" cy="666750"/>
          </a:xfrm>
          <a:prstGeom prst="rect">
            <a:avLst/>
          </a:prstGeom>
        </p:spPr>
      </p:pic>
      <p:pic>
        <p:nvPicPr>
          <p:cNvPr id="6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5456" y="3870685"/>
            <a:ext cx="2343150" cy="485775"/>
          </a:xfrm>
          <a:prstGeom prst="rect">
            <a:avLst/>
          </a:prstGeom>
        </p:spPr>
      </p:pic>
      <p:pic>
        <p:nvPicPr>
          <p:cNvPr id="6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400388" y="3870685"/>
            <a:ext cx="2343150" cy="485775"/>
          </a:xfrm>
          <a:prstGeom prst="rect">
            <a:avLst/>
          </a:prstGeom>
        </p:spPr>
      </p:pic>
      <p:pic>
        <p:nvPicPr>
          <p:cNvPr id="63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25356" y="3870685"/>
            <a:ext cx="2343150" cy="48577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547911" y="283890"/>
            <a:ext cx="1081087" cy="285750"/>
          </a:xfrm>
          <a:prstGeom prst="roundRect">
            <a:avLst>
              <a:gd name="adj" fmla="val 50000"/>
            </a:avLst>
          </a:prstGeom>
          <a:solidFill>
            <a:srgbClr val="A2D2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677205" y="386246"/>
            <a:ext cx="80962" cy="80962"/>
          </a:xfrm>
          <a:prstGeom prst="roundRect">
            <a:avLst>
              <a:gd name="adj" fmla="val 28235"/>
            </a:avLst>
          </a:prstGeom>
          <a:solidFill>
            <a:srgbClr val="4A443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822796" y="333449"/>
            <a:ext cx="937952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 알고리즘</a:t>
            </a:r>
            <a:endParaRPr lang="en-US" sz="1080" dirty="0"/>
          </a:p>
        </p:txBody>
      </p:sp>
      <p:sp>
        <p:nvSpPr>
          <p:cNvPr id="6" name="Text 4"/>
          <p:cNvSpPr/>
          <p:nvPr/>
        </p:nvSpPr>
        <p:spPr>
          <a:xfrm>
            <a:off x="8013874" y="333449"/>
            <a:ext cx="813160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kern="0" spc="151" dirty="0">
                <a:solidFill>
                  <a:srgbClr val="B6B1A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조각조각</a:t>
            </a:r>
            <a:endParaRPr lang="en-US" sz="1080" dirty="0"/>
          </a:p>
        </p:txBody>
      </p:sp>
      <p:sp>
        <p:nvSpPr>
          <p:cNvPr id="7" name="Text 5"/>
          <p:cNvSpPr/>
          <p:nvPr/>
        </p:nvSpPr>
        <p:spPr>
          <a:xfrm>
            <a:off x="548580" y="734318"/>
            <a:ext cx="4178201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90" b="1" kern="0" spc="-21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'알고리즘'이란 무엇을 말하나</a:t>
            </a:r>
            <a:endParaRPr lang="en-US" sz="2090" dirty="0"/>
          </a:p>
        </p:txBody>
      </p:sp>
      <p:sp>
        <p:nvSpPr>
          <p:cNvPr id="8" name="Shape 6"/>
          <p:cNvSpPr/>
          <p:nvPr/>
        </p:nvSpPr>
        <p:spPr>
          <a:xfrm>
            <a:off x="547688" y="1251905"/>
            <a:ext cx="8048625" cy="866775"/>
          </a:xfrm>
          <a:prstGeom prst="roundRect">
            <a:avLst>
              <a:gd name="adj" fmla="val 14769"/>
            </a:avLst>
          </a:prstGeom>
          <a:solidFill>
            <a:srgbClr val="A3CFFF">
              <a:alpha val="25098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822796" y="1424880"/>
            <a:ext cx="5688866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b="1" dirty="0">
                <a:solidFill>
                  <a:srgbClr val="4A443A"/>
                </a:solidFill>
                <a:highlight>
                  <a:srgbClr val="A2D2FF"/>
                </a:highlight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알고리즘</a:t>
            </a:r>
            <a:r>
              <a:rPr lang="en-US" sz="1440" b="1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= 사이클을 자동으로 움직이는 '결정 규칙' 묶음</a:t>
            </a:r>
            <a:endParaRPr lang="en-US" sz="1440" dirty="0"/>
          </a:p>
        </p:txBody>
      </p:sp>
      <p:sp>
        <p:nvSpPr>
          <p:cNvPr id="10" name="Text 8"/>
          <p:cNvSpPr/>
          <p:nvPr/>
        </p:nvSpPr>
        <p:spPr>
          <a:xfrm>
            <a:off x="731416" y="1728341"/>
            <a:ext cx="2598078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405"/>
              </a:spcBef>
              <a:buNone/>
            </a:pPr>
            <a:r>
              <a:rPr lang="en-US" sz="1120" dirty="0">
                <a:solidFill>
                  <a:srgbClr val="8982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미션 선택 · 난이도 · 밴드 · 진급 …</a:t>
            </a:r>
            <a:endParaRPr lang="en-US" sz="1120" dirty="0"/>
          </a:p>
        </p:txBody>
      </p:sp>
      <p:sp>
        <p:nvSpPr>
          <p:cNvPr id="11" name="Shape 9"/>
          <p:cNvSpPr/>
          <p:nvPr/>
        </p:nvSpPr>
        <p:spPr>
          <a:xfrm>
            <a:off x="549734" y="2242058"/>
            <a:ext cx="3486150" cy="1104900"/>
          </a:xfrm>
          <a:prstGeom prst="roundRect">
            <a:avLst>
              <a:gd name="adj" fmla="val 10759"/>
            </a:avLst>
          </a:prstGeom>
          <a:solidFill>
            <a:srgbClr val="FFFFFF"/>
          </a:solidFill>
          <a:ln/>
          <a:effectLst>
            <a:outerShdw blurRad="154305" dist="51435" dir="5400000" algn="bl" rotWithShape="0">
              <a:srgbClr val="4A443A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703994" y="2397696"/>
            <a:ext cx="1266825" cy="257175"/>
          </a:xfrm>
          <a:prstGeom prst="roundRect">
            <a:avLst>
              <a:gd name="adj" fmla="val 50000"/>
            </a:avLst>
          </a:prstGeom>
          <a:solidFill>
            <a:srgbClr val="F5F1E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813643" y="2432968"/>
            <a:ext cx="1418935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기획 문서 (개선안)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703957" y="2731517"/>
            <a:ext cx="98893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567"/>
              </a:spcBef>
              <a:buNone/>
            </a:pPr>
            <a:r>
              <a:rPr lang="en-US" sz="1220" b="1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왜 / 무엇을</a:t>
            </a:r>
            <a:endParaRPr lang="en-US" sz="1220" dirty="0"/>
          </a:p>
        </p:txBody>
      </p:sp>
      <p:sp>
        <p:nvSpPr>
          <p:cNvPr id="15" name="Text 13"/>
          <p:cNvSpPr/>
          <p:nvPr/>
        </p:nvSpPr>
        <p:spPr>
          <a:xfrm>
            <a:off x="703957" y="2995092"/>
            <a:ext cx="923635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203"/>
              </a:spcBef>
              <a:buNone/>
            </a:pPr>
            <a:r>
              <a:rPr lang="en-US" sz="1080" dirty="0">
                <a:solidFill>
                  <a:srgbClr val="8982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근거와 방향</a:t>
            </a:r>
            <a:endParaRPr lang="en-US" sz="1080" dirty="0"/>
          </a:p>
        </p:txBody>
      </p:sp>
      <p:sp>
        <p:nvSpPr>
          <p:cNvPr id="16" name="Text 14"/>
          <p:cNvSpPr/>
          <p:nvPr/>
        </p:nvSpPr>
        <p:spPr>
          <a:xfrm>
            <a:off x="4480545" y="2404616"/>
            <a:ext cx="294933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dirty="0">
                <a:solidFill>
                  <a:srgbClr val="A2D2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↔</a:t>
            </a:r>
            <a:endParaRPr lang="en-US" sz="1440" dirty="0"/>
          </a:p>
        </p:txBody>
      </p:sp>
      <p:sp>
        <p:nvSpPr>
          <p:cNvPr id="17" name="Text 15"/>
          <p:cNvSpPr/>
          <p:nvPr/>
        </p:nvSpPr>
        <p:spPr>
          <a:xfrm>
            <a:off x="4238699" y="2699519"/>
            <a:ext cx="923635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162"/>
              </a:spcBef>
              <a:buNone/>
            </a:pPr>
            <a:r>
              <a:rPr lang="en-US" sz="1080" b="1" dirty="0">
                <a:solidFill>
                  <a:srgbClr val="8982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항상 동기화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4311253" y="2977158"/>
            <a:ext cx="735092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405"/>
              </a:spcBef>
              <a:buNone/>
            </a:pPr>
            <a:r>
              <a:rPr lang="en-US" sz="1080" b="1" dirty="0">
                <a:solidFill>
                  <a:srgbClr val="FDFBF7"/>
                </a:solidFill>
                <a:highlight>
                  <a:srgbClr val="4A443A"/>
                </a:highlight>
                <a:latin typeface="Pretendard" pitchFamily="34" charset="0"/>
                <a:ea typeface="Pretendard" pitchFamily="34" charset="-122"/>
                <a:cs typeface="Pretendard" pitchFamily="34" charset="-120"/>
              </a:rPr>
              <a:t>v1 → v2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5108116" y="2242058"/>
            <a:ext cx="3486150" cy="1104900"/>
          </a:xfrm>
          <a:prstGeom prst="roundRect">
            <a:avLst>
              <a:gd name="adj" fmla="val 10759"/>
            </a:avLst>
          </a:prstGeom>
          <a:solidFill>
            <a:srgbClr val="FFFFFF"/>
          </a:solidFill>
          <a:ln/>
          <a:effectLst>
            <a:outerShdw blurRad="154305" dist="51435" dir="5400000" algn="bl" rotWithShape="0">
              <a:srgbClr val="4A443A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5262004" y="2397696"/>
            <a:ext cx="1585913" cy="257175"/>
          </a:xfrm>
          <a:prstGeom prst="roundRect">
            <a:avLst>
              <a:gd name="adj" fmla="val 50000"/>
            </a:avLst>
          </a:prstGeom>
          <a:solidFill>
            <a:srgbClr val="A2D2FF">
              <a:alpha val="4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5372026" y="2432968"/>
            <a:ext cx="1832781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구현 명세 (알고리즘 v2)</a:t>
            </a:r>
            <a:endParaRPr lang="en-US" sz="1080" dirty="0"/>
          </a:p>
        </p:txBody>
      </p:sp>
      <p:sp>
        <p:nvSpPr>
          <p:cNvPr id="22" name="Text 20"/>
          <p:cNvSpPr/>
          <p:nvPr/>
        </p:nvSpPr>
        <p:spPr>
          <a:xfrm>
            <a:off x="5262339" y="2731517"/>
            <a:ext cx="61465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567"/>
              </a:spcBef>
              <a:buNone/>
            </a:pPr>
            <a:r>
              <a:rPr lang="en-US" sz="1220" b="1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어떻게</a:t>
            </a:r>
            <a:endParaRPr lang="en-US" sz="1220" dirty="0"/>
          </a:p>
        </p:txBody>
      </p:sp>
      <p:sp>
        <p:nvSpPr>
          <p:cNvPr id="23" name="Text 21"/>
          <p:cNvSpPr/>
          <p:nvPr/>
        </p:nvSpPr>
        <p:spPr>
          <a:xfrm>
            <a:off x="5262339" y="2995092"/>
            <a:ext cx="1860739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203"/>
              </a:spcBef>
              <a:buNone/>
            </a:pPr>
            <a:r>
              <a:rPr lang="en-US" sz="1080" dirty="0">
                <a:solidFill>
                  <a:srgbClr val="8982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정확한 수식 · 임계값 · 표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547688" y="3470821"/>
            <a:ext cx="8048625" cy="409575"/>
          </a:xfrm>
          <a:prstGeom prst="roundRect">
            <a:avLst>
              <a:gd name="adj" fmla="val 26791"/>
            </a:avLst>
          </a:prstGeom>
          <a:solidFill>
            <a:srgbClr val="4A443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831949" y="3582293"/>
            <a:ext cx="713326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4A443A"/>
                </a:solidFill>
                <a:highlight>
                  <a:srgbClr val="FFD55F"/>
                </a:highlight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문제의식</a:t>
            </a:r>
            <a:endParaRPr lang="en-US" sz="1080" dirty="0"/>
          </a:p>
        </p:txBody>
      </p:sp>
      <p:sp>
        <p:nvSpPr>
          <p:cNvPr id="26" name="Text 24"/>
          <p:cNvSpPr/>
          <p:nvPr/>
        </p:nvSpPr>
        <p:spPr>
          <a:xfrm>
            <a:off x="1546920" y="3574033"/>
            <a:ext cx="6145664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FDFB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지금은 규칙을 '부분부분' 봄 → 전체 연결이 안 보임 </a:t>
            </a:r>
            <a:r>
              <a:rPr lang="en-US" sz="1120" b="1" dirty="0">
                <a:solidFill>
                  <a:srgbClr val="FFD55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다음 장, 데이터 흐름 지도</a:t>
            </a:r>
            <a:endParaRPr lang="en-US" sz="1120" dirty="0"/>
          </a:p>
        </p:txBody>
      </p:sp>
      <p:sp>
        <p:nvSpPr>
          <p:cNvPr id="27" name="Text 25"/>
          <p:cNvSpPr/>
          <p:nvPr/>
        </p:nvSpPr>
        <p:spPr>
          <a:xfrm>
            <a:off x="548580" y="4715917"/>
            <a:ext cx="2112645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8982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BA 챌린지 사이클 개선 보고</a:t>
            </a:r>
            <a:endParaRPr lang="en-US" sz="1080" dirty="0"/>
          </a:p>
        </p:txBody>
      </p:sp>
      <p:sp>
        <p:nvSpPr>
          <p:cNvPr id="28" name="Text 26"/>
          <p:cNvSpPr/>
          <p:nvPr/>
        </p:nvSpPr>
        <p:spPr>
          <a:xfrm>
            <a:off x="8159279" y="4715917"/>
            <a:ext cx="624133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8982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 / 23</a:t>
            </a:r>
            <a:endParaRPr lang="en-US" sz="108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547911" y="258217"/>
            <a:ext cx="1081087" cy="285750"/>
          </a:xfrm>
          <a:prstGeom prst="roundRect">
            <a:avLst>
              <a:gd name="adj" fmla="val 50000"/>
            </a:avLst>
          </a:prstGeom>
          <a:solidFill>
            <a:srgbClr val="A2D2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677205" y="360573"/>
            <a:ext cx="80962" cy="80962"/>
          </a:xfrm>
          <a:prstGeom prst="roundRect">
            <a:avLst>
              <a:gd name="adj" fmla="val 28235"/>
            </a:avLst>
          </a:prstGeom>
          <a:solidFill>
            <a:srgbClr val="4A443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822796" y="307777"/>
            <a:ext cx="937952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 알고리즘</a:t>
            </a:r>
            <a:endParaRPr lang="en-US" sz="1080" dirty="0"/>
          </a:p>
        </p:txBody>
      </p:sp>
      <p:sp>
        <p:nvSpPr>
          <p:cNvPr id="6" name="Text 4"/>
          <p:cNvSpPr/>
          <p:nvPr/>
        </p:nvSpPr>
        <p:spPr>
          <a:xfrm>
            <a:off x="8013874" y="307777"/>
            <a:ext cx="813160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kern="0" spc="151" dirty="0">
                <a:solidFill>
                  <a:srgbClr val="B6B1A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조각조각</a:t>
            </a:r>
            <a:endParaRPr lang="en-US" sz="1080" dirty="0"/>
          </a:p>
        </p:txBody>
      </p:sp>
      <p:sp>
        <p:nvSpPr>
          <p:cNvPr id="7" name="Text 5"/>
          <p:cNvSpPr/>
          <p:nvPr/>
        </p:nvSpPr>
        <p:spPr>
          <a:xfrm>
            <a:off x="548580" y="605730"/>
            <a:ext cx="4097328" cy="652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800" b="1" kern="0" spc="-18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규정 1 · 첫 난이도 — 온보딩에서</a:t>
            </a:r>
            <a:endParaRPr lang="en-US" sz="1800" dirty="0"/>
          </a:p>
          <a:p>
            <a:pPr marL="0" indent="0" algn="l">
              <a:lnSpc>
                <a:spcPts val="2700"/>
              </a:lnSpc>
              <a:buNone/>
            </a:pPr>
            <a:r>
              <a:rPr lang="en-US" sz="1800" b="1" kern="0" spc="-18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넘겨받는 값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188768" y="691455"/>
            <a:ext cx="5631210" cy="419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28"/>
              </a:lnSpc>
              <a:buNone/>
            </a:pPr>
            <a:r>
              <a:rPr lang="en-US" sz="1150" dirty="0">
                <a:solidFill>
                  <a:srgbClr val="8982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산출은 온보딩 분류기(별도 담당) — 사이클은 결과만 받는다 · 전부 내부</a:t>
            </a:r>
            <a:endParaRPr lang="en-US" sz="1150" dirty="0"/>
          </a:p>
          <a:p>
            <a:pPr marL="0" indent="0" algn="l">
              <a:lnSpc>
                <a:spcPts val="1728"/>
              </a:lnSpc>
              <a:buNone/>
            </a:pPr>
            <a:r>
              <a:rPr lang="en-US" sz="1150" dirty="0">
                <a:solidFill>
                  <a:srgbClr val="8982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값, 화면 비노출</a:t>
            </a:r>
            <a:endParaRPr lang="en-US" sz="115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9027" y="1389571"/>
            <a:ext cx="4205288" cy="32385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76573" y="1451297"/>
            <a:ext cx="4173461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DFB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심각도 총점 = 15문항 합 (문항당 0~3점, 총 0~45점)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49027" y="1713681"/>
            <a:ext cx="4205288" cy="285750"/>
          </a:xfrm>
          <a:prstGeom prst="rect">
            <a:avLst/>
          </a:prstGeom>
          <a:solidFill>
            <a:srgbClr val="A4D3FF">
              <a:alpha val="29804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676573" y="1763241"/>
            <a:ext cx="759663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총점 구간</a:t>
            </a:r>
            <a:endParaRPr lang="en-US" sz="1080" dirty="0"/>
          </a:p>
        </p:txBody>
      </p:sp>
      <p:sp>
        <p:nvSpPr>
          <p:cNvPr id="13" name="Text 10"/>
          <p:cNvSpPr/>
          <p:nvPr/>
        </p:nvSpPr>
        <p:spPr>
          <a:xfrm>
            <a:off x="1572667" y="1763241"/>
            <a:ext cx="54925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심각도</a:t>
            </a:r>
            <a:endParaRPr lang="en-US" sz="1080" dirty="0"/>
          </a:p>
        </p:txBody>
      </p:sp>
      <p:sp>
        <p:nvSpPr>
          <p:cNvPr id="14" name="Text 11"/>
          <p:cNvSpPr/>
          <p:nvPr/>
        </p:nvSpPr>
        <p:spPr>
          <a:xfrm>
            <a:off x="2377306" y="1763241"/>
            <a:ext cx="759663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시작 밴드</a:t>
            </a:r>
            <a:endParaRPr lang="en-US" sz="1080" dirty="0"/>
          </a:p>
        </p:txBody>
      </p:sp>
      <p:sp>
        <p:nvSpPr>
          <p:cNvPr id="15" name="Text 12"/>
          <p:cNvSpPr/>
          <p:nvPr/>
        </p:nvSpPr>
        <p:spPr>
          <a:xfrm>
            <a:off x="3273400" y="1763241"/>
            <a:ext cx="22121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뜻</a:t>
            </a:r>
            <a:endParaRPr lang="en-US" sz="1080" dirty="0"/>
          </a:p>
        </p:txBody>
      </p:sp>
      <p:sp>
        <p:nvSpPr>
          <p:cNvPr id="16" name="Shape 13"/>
          <p:cNvSpPr/>
          <p:nvPr/>
        </p:nvSpPr>
        <p:spPr>
          <a:xfrm>
            <a:off x="549027" y="2000920"/>
            <a:ext cx="4205288" cy="5334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/>
          <p:nvPr/>
        </p:nvSpPr>
        <p:spPr>
          <a:xfrm>
            <a:off x="3273400" y="2069083"/>
            <a:ext cx="1686803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8982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비교적 활동적 — 조금</a:t>
            </a:r>
            <a:endParaRPr lang="en-US" sz="1080" dirty="0"/>
          </a:p>
        </p:txBody>
      </p:sp>
      <p:sp>
        <p:nvSpPr>
          <p:cNvPr id="18" name="Text 15"/>
          <p:cNvSpPr/>
          <p:nvPr/>
        </p:nvSpPr>
        <p:spPr>
          <a:xfrm>
            <a:off x="676573" y="2165003"/>
            <a:ext cx="591242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 ~ 10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1572667" y="2165003"/>
            <a:ext cx="407149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낮음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2377306" y="2165003"/>
            <a:ext cx="598497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L3~L4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3273400" y="2274763"/>
            <a:ext cx="1415742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8982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도전적인 미션부터</a:t>
            </a:r>
            <a:endParaRPr lang="en-US" sz="1080" dirty="0"/>
          </a:p>
        </p:txBody>
      </p:sp>
      <p:sp>
        <p:nvSpPr>
          <p:cNvPr id="22" name="Shape 19"/>
          <p:cNvSpPr/>
          <p:nvPr/>
        </p:nvSpPr>
        <p:spPr>
          <a:xfrm>
            <a:off x="549027" y="2534506"/>
            <a:ext cx="4205288" cy="3429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0"/>
          <p:cNvSpPr/>
          <p:nvPr/>
        </p:nvSpPr>
        <p:spPr>
          <a:xfrm>
            <a:off x="676573" y="2603376"/>
            <a:ext cx="700073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 ~ 25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1572667" y="2603376"/>
            <a:ext cx="407149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중간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2377306" y="2603376"/>
            <a:ext cx="273457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L2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3273400" y="2610222"/>
            <a:ext cx="1462080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8982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중간 난이도로 시작</a:t>
            </a:r>
            <a:endParaRPr lang="en-US" sz="1080" dirty="0"/>
          </a:p>
        </p:txBody>
      </p:sp>
      <p:pic>
        <p:nvPicPr>
          <p:cNvPr id="2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9027" y="2877592"/>
            <a:ext cx="4205288" cy="528638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3273400" y="2945755"/>
            <a:ext cx="1672486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8982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가장 작고 쉬운 미션부터</a:t>
            </a:r>
            <a:endParaRPr lang="en-US" sz="1080" dirty="0"/>
          </a:p>
        </p:txBody>
      </p:sp>
      <p:sp>
        <p:nvSpPr>
          <p:cNvPr id="29" name="Text 25"/>
          <p:cNvSpPr/>
          <p:nvPr/>
        </p:nvSpPr>
        <p:spPr>
          <a:xfrm>
            <a:off x="676573" y="3041675"/>
            <a:ext cx="700073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26 ~ 45</a:t>
            </a:r>
            <a:endParaRPr lang="en-US" sz="1150" dirty="0"/>
          </a:p>
        </p:txBody>
      </p:sp>
      <p:sp>
        <p:nvSpPr>
          <p:cNvPr id="30" name="Text 26"/>
          <p:cNvSpPr/>
          <p:nvPr/>
        </p:nvSpPr>
        <p:spPr>
          <a:xfrm>
            <a:off x="1572667" y="3041675"/>
            <a:ext cx="407149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높음</a:t>
            </a:r>
            <a:endParaRPr lang="en-US" sz="1150" dirty="0"/>
          </a:p>
        </p:txBody>
      </p:sp>
      <p:sp>
        <p:nvSpPr>
          <p:cNvPr id="31" name="Text 27"/>
          <p:cNvSpPr/>
          <p:nvPr/>
        </p:nvSpPr>
        <p:spPr>
          <a:xfrm>
            <a:off x="2377306" y="3041675"/>
            <a:ext cx="273457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L1</a:t>
            </a:r>
            <a:endParaRPr lang="en-US" sz="1150" dirty="0"/>
          </a:p>
        </p:txBody>
      </p:sp>
      <p:sp>
        <p:nvSpPr>
          <p:cNvPr id="32" name="Shape 28"/>
          <p:cNvSpPr/>
          <p:nvPr/>
        </p:nvSpPr>
        <p:spPr>
          <a:xfrm>
            <a:off x="549027" y="3499433"/>
            <a:ext cx="4205288" cy="728663"/>
          </a:xfrm>
          <a:prstGeom prst="roundRect">
            <a:avLst>
              <a:gd name="adj" fmla="val 13804"/>
            </a:avLst>
          </a:prstGeom>
          <a:solidFill>
            <a:srgbClr val="F5F1E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Text 29"/>
          <p:cNvSpPr/>
          <p:nvPr/>
        </p:nvSpPr>
        <p:spPr>
          <a:xfrm>
            <a:off x="685726" y="3566071"/>
            <a:ext cx="5098085" cy="592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63"/>
              </a:lnSpc>
              <a:buNone/>
            </a:pPr>
            <a:r>
              <a:rPr lang="en-US" sz="1120" b="1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영역 시드</a:t>
            </a:r>
            <a:r>
              <a:rPr lang="en-US" sz="1120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— 문항 점수를 주영역 1.0 · 보조영역 0.3~0.5로 나눠</a:t>
            </a:r>
            <a:endParaRPr lang="en-US" sz="1120" dirty="0"/>
          </a:p>
          <a:p>
            <a:pPr marL="0" indent="0" algn="l">
              <a:lnSpc>
                <a:spcPts val="1563"/>
              </a:lnSpc>
              <a:buNone/>
            </a:pPr>
            <a:r>
              <a:rPr lang="en-US" sz="1120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누적. 예: "가족 없을 때만 움직여" 3점 → 은둔신호 +3.0 · 관계 +1.5 ·</a:t>
            </a:r>
            <a:endParaRPr lang="en-US" sz="1120" dirty="0"/>
          </a:p>
          <a:p>
            <a:pPr marL="0" indent="0" algn="l">
              <a:lnSpc>
                <a:spcPts val="1563"/>
              </a:lnSpc>
              <a:buNone/>
            </a:pPr>
            <a:r>
              <a:rPr lang="en-US" sz="1120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생활리듬 +0.9 → 합계가 높은 영역에서, 쉬운 난이도로 시작</a:t>
            </a:r>
            <a:endParaRPr lang="en-US" sz="1120" dirty="0"/>
          </a:p>
        </p:txBody>
      </p:sp>
      <p:sp>
        <p:nvSpPr>
          <p:cNvPr id="34" name="Shape 30"/>
          <p:cNvSpPr/>
          <p:nvPr/>
        </p:nvSpPr>
        <p:spPr>
          <a:xfrm>
            <a:off x="4919030" y="1391022"/>
            <a:ext cx="3676650" cy="1300163"/>
          </a:xfrm>
          <a:prstGeom prst="roundRect">
            <a:avLst>
              <a:gd name="adj" fmla="val 8440"/>
            </a:avLst>
          </a:prstGeom>
          <a:solidFill>
            <a:srgbClr val="4A443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1"/>
          <p:cNvSpPr/>
          <p:nvPr/>
        </p:nvSpPr>
        <p:spPr>
          <a:xfrm>
            <a:off x="5075076" y="1545059"/>
            <a:ext cx="866775" cy="242888"/>
          </a:xfrm>
          <a:prstGeom prst="roundRect">
            <a:avLst>
              <a:gd name="adj" fmla="val 50000"/>
            </a:avLst>
          </a:prstGeom>
          <a:solidFill>
            <a:srgbClr val="FFD55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2"/>
          <p:cNvSpPr/>
          <p:nvPr/>
        </p:nvSpPr>
        <p:spPr>
          <a:xfrm>
            <a:off x="5175200" y="1573188"/>
            <a:ext cx="923635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최우선 규칙</a:t>
            </a:r>
            <a:endParaRPr lang="en-US" sz="1080" dirty="0"/>
          </a:p>
        </p:txBody>
      </p:sp>
      <p:sp>
        <p:nvSpPr>
          <p:cNvPr id="37" name="Text 33"/>
          <p:cNvSpPr/>
          <p:nvPr/>
        </p:nvSpPr>
        <p:spPr>
          <a:xfrm>
            <a:off x="5074667" y="1848966"/>
            <a:ext cx="4400409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486"/>
              </a:spcBef>
              <a:buNone/>
            </a:pPr>
            <a:r>
              <a:rPr lang="en-US" sz="1260" b="1" dirty="0">
                <a:solidFill>
                  <a:srgbClr val="FDFB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체크리스트에서 '은둔'으로 판정되면 총점과 무관하게</a:t>
            </a:r>
            <a:endParaRPr lang="en-US" sz="1260" dirty="0"/>
          </a:p>
        </p:txBody>
      </p:sp>
      <p:sp>
        <p:nvSpPr>
          <p:cNvPr id="38" name="Text 34"/>
          <p:cNvSpPr/>
          <p:nvPr/>
        </p:nvSpPr>
        <p:spPr>
          <a:xfrm>
            <a:off x="5263381" y="2072953"/>
            <a:ext cx="921410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FFD55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L1로 고정</a:t>
            </a:r>
            <a:endParaRPr lang="en-US" sz="1260" dirty="0"/>
          </a:p>
        </p:txBody>
      </p:sp>
      <p:sp>
        <p:nvSpPr>
          <p:cNvPr id="39" name="Text 35"/>
          <p:cNvSpPr/>
          <p:nvPr/>
        </p:nvSpPr>
        <p:spPr>
          <a:xfrm>
            <a:off x="5074667" y="2338015"/>
            <a:ext cx="4216993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324"/>
              </a:spcBef>
              <a:buNone/>
            </a:pPr>
            <a:r>
              <a:rPr lang="en-US" sz="1120" dirty="0">
                <a:solidFill>
                  <a:srgbClr val="E2E0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관계·사회진입 영역은 잠금 — 가족 트랙만 L1까지 허용</a:t>
            </a:r>
            <a:endParaRPr lang="en-US" sz="1120" dirty="0"/>
          </a:p>
        </p:txBody>
      </p:sp>
      <p:sp>
        <p:nvSpPr>
          <p:cNvPr id="40" name="Shape 36"/>
          <p:cNvSpPr/>
          <p:nvPr/>
        </p:nvSpPr>
        <p:spPr>
          <a:xfrm>
            <a:off x="4919030" y="2763999"/>
            <a:ext cx="3676650" cy="728663"/>
          </a:xfrm>
          <a:prstGeom prst="roundRect">
            <a:avLst>
              <a:gd name="adj" fmla="val 13804"/>
            </a:avLst>
          </a:prstGeom>
          <a:solidFill>
            <a:srgbClr val="FFFFFF"/>
          </a:solidFill>
          <a:ln/>
          <a:effectLst>
            <a:outerShdw blurRad="123444" dist="41148" dir="5400000" algn="bl" rotWithShape="0">
              <a:srgbClr val="4A443A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7"/>
          <p:cNvSpPr/>
          <p:nvPr/>
        </p:nvSpPr>
        <p:spPr>
          <a:xfrm>
            <a:off x="5056436" y="2830637"/>
            <a:ext cx="4267490" cy="592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63"/>
              </a:lnSpc>
              <a:buNone/>
            </a:pPr>
            <a:r>
              <a:rPr lang="en-US" sz="1120" b="1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잠정 회복단계</a:t>
            </a:r>
            <a:r>
              <a:rPr lang="en-US" sz="1120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 여기서 — 은둔 판정이면 '은둔', 아니면</a:t>
            </a:r>
            <a:endParaRPr lang="en-US" sz="1120" dirty="0"/>
          </a:p>
          <a:p>
            <a:pPr marL="0" indent="0" algn="l">
              <a:lnSpc>
                <a:spcPts val="1563"/>
              </a:lnSpc>
              <a:buNone/>
            </a:pPr>
            <a:r>
              <a:rPr lang="en-US" sz="1120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총점 높음 → 고도고립 · 중간 → 고립위험군 · 낮음 →</a:t>
            </a:r>
            <a:endParaRPr lang="en-US" sz="1120" dirty="0"/>
          </a:p>
          <a:p>
            <a:pPr marL="0" indent="0" algn="l">
              <a:lnSpc>
                <a:spcPts val="1563"/>
              </a:lnSpc>
              <a:buNone/>
            </a:pPr>
            <a:r>
              <a:rPr lang="en-US" sz="1120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비위험군. '나 알아가기' 완성 시 44/60 기준으로 확정 갱신</a:t>
            </a:r>
            <a:endParaRPr lang="en-US" sz="1120" dirty="0"/>
          </a:p>
        </p:txBody>
      </p:sp>
      <p:sp>
        <p:nvSpPr>
          <p:cNvPr id="42" name="Shape 38"/>
          <p:cNvSpPr/>
          <p:nvPr/>
        </p:nvSpPr>
        <p:spPr>
          <a:xfrm>
            <a:off x="4919030" y="4006602"/>
            <a:ext cx="3676650" cy="700088"/>
          </a:xfrm>
          <a:prstGeom prst="roundRect">
            <a:avLst>
              <a:gd name="adj" fmla="val 14367"/>
            </a:avLst>
          </a:prstGeom>
          <a:solidFill>
            <a:srgbClr val="F2A15E">
              <a:alpha val="14902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" name="Text 39"/>
          <p:cNvSpPr/>
          <p:nvPr/>
        </p:nvSpPr>
        <p:spPr>
          <a:xfrm>
            <a:off x="5056436" y="4083323"/>
            <a:ext cx="21909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41"/>
              </a:spcBef>
              <a:buNone/>
            </a:pPr>
            <a:r>
              <a:rPr lang="en-US" sz="1150" b="1" dirty="0">
                <a:solidFill>
                  <a:srgbClr val="F4A2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※</a:t>
            </a:r>
            <a:endParaRPr lang="en-US" sz="1150" dirty="0"/>
          </a:p>
        </p:txBody>
      </p:sp>
      <p:sp>
        <p:nvSpPr>
          <p:cNvPr id="44" name="Text 40"/>
          <p:cNvSpPr/>
          <p:nvPr/>
        </p:nvSpPr>
        <p:spPr>
          <a:xfrm>
            <a:off x="5263232" y="4068663"/>
            <a:ext cx="4205674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구간값(0·10·25·45)은 검증된 컷오프가 아니라 </a:t>
            </a:r>
            <a:r>
              <a:rPr lang="en-US" sz="1080" b="1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임시 설계값</a:t>
            </a:r>
            <a:endParaRPr lang="en-US" sz="1080" dirty="0"/>
          </a:p>
        </p:txBody>
      </p:sp>
      <p:sp>
        <p:nvSpPr>
          <p:cNvPr id="45" name="Text 41"/>
          <p:cNvSpPr/>
          <p:nvPr/>
        </p:nvSpPr>
        <p:spPr>
          <a:xfrm>
            <a:off x="5389438" y="4260652"/>
            <a:ext cx="3816980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파일럿 데이터로 보정 예정. 근거 상태를 숨기지</a:t>
            </a:r>
            <a:endParaRPr lang="en-US" sz="1080" dirty="0"/>
          </a:p>
        </p:txBody>
      </p:sp>
      <p:sp>
        <p:nvSpPr>
          <p:cNvPr id="46" name="Text 42"/>
          <p:cNvSpPr/>
          <p:nvPr/>
        </p:nvSpPr>
        <p:spPr>
          <a:xfrm>
            <a:off x="5263232" y="4452640"/>
            <a:ext cx="906609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않는다 (22장)</a:t>
            </a:r>
            <a:endParaRPr lang="en-US" sz="1080" dirty="0"/>
          </a:p>
        </p:txBody>
      </p:sp>
      <p:sp>
        <p:nvSpPr>
          <p:cNvPr id="47" name="Text 43"/>
          <p:cNvSpPr/>
          <p:nvPr/>
        </p:nvSpPr>
        <p:spPr>
          <a:xfrm>
            <a:off x="548580" y="4741664"/>
            <a:ext cx="2112645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8982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BA 챌린지 사이클 개선 보고</a:t>
            </a:r>
            <a:endParaRPr lang="en-US" sz="1080" dirty="0"/>
          </a:p>
        </p:txBody>
      </p:sp>
      <p:sp>
        <p:nvSpPr>
          <p:cNvPr id="48" name="Text 44"/>
          <p:cNvSpPr/>
          <p:nvPr/>
        </p:nvSpPr>
        <p:spPr>
          <a:xfrm>
            <a:off x="8159279" y="4741664"/>
            <a:ext cx="624133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8982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 / 23</a:t>
            </a:r>
            <a:endParaRPr lang="en-US" sz="1080" dirty="0"/>
          </a:p>
        </p:txBody>
      </p:sp>
      <p:pic>
        <p:nvPicPr>
          <p:cNvPr id="4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9027" y="2000920"/>
            <a:ext cx="4205288" cy="533400"/>
          </a:xfrm>
          <a:prstGeom prst="rect">
            <a:avLst/>
          </a:prstGeom>
        </p:spPr>
      </p:pic>
      <p:pic>
        <p:nvPicPr>
          <p:cNvPr id="5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49027" y="2534506"/>
            <a:ext cx="4205288" cy="3429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547911" y="258217"/>
            <a:ext cx="1081087" cy="285750"/>
          </a:xfrm>
          <a:prstGeom prst="roundRect">
            <a:avLst>
              <a:gd name="adj" fmla="val 50000"/>
            </a:avLst>
          </a:prstGeom>
          <a:solidFill>
            <a:srgbClr val="A2D2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677205" y="360573"/>
            <a:ext cx="80962" cy="80962"/>
          </a:xfrm>
          <a:prstGeom prst="roundRect">
            <a:avLst>
              <a:gd name="adj" fmla="val 28235"/>
            </a:avLst>
          </a:prstGeom>
          <a:solidFill>
            <a:srgbClr val="4A443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822796" y="307777"/>
            <a:ext cx="937952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 알고리즘</a:t>
            </a:r>
            <a:endParaRPr lang="en-US" sz="1080" dirty="0"/>
          </a:p>
        </p:txBody>
      </p:sp>
      <p:sp>
        <p:nvSpPr>
          <p:cNvPr id="6" name="Text 4"/>
          <p:cNvSpPr/>
          <p:nvPr/>
        </p:nvSpPr>
        <p:spPr>
          <a:xfrm>
            <a:off x="8013874" y="307777"/>
            <a:ext cx="813160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kern="0" spc="151" dirty="0">
                <a:solidFill>
                  <a:srgbClr val="B6B1A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조각조각</a:t>
            </a:r>
            <a:endParaRPr lang="en-US" sz="1080" dirty="0"/>
          </a:p>
        </p:txBody>
      </p:sp>
      <p:sp>
        <p:nvSpPr>
          <p:cNvPr id="7" name="Text 5"/>
          <p:cNvSpPr/>
          <p:nvPr/>
        </p:nvSpPr>
        <p:spPr>
          <a:xfrm>
            <a:off x="548580" y="605730"/>
            <a:ext cx="4195420" cy="3095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kern="0" spc="-18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규정 2 · 회복단계별 트랙과 게이트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841552" y="691455"/>
            <a:ext cx="3329903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8982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후보에 오르기 전, 항목마다 게이트와 대조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8580" y="1056977"/>
            <a:ext cx="1380917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단계별 기본 트랙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097" y="1328179"/>
            <a:ext cx="3109913" cy="333375"/>
          </a:xfrm>
          <a:prstGeom prst="roundRect">
            <a:avLst>
              <a:gd name="adj" fmla="val 24686"/>
            </a:avLst>
          </a:prstGeom>
          <a:solidFill>
            <a:srgbClr val="FFFFFF"/>
          </a:solidFill>
          <a:ln/>
          <a:effectLst>
            <a:outerShdw blurRad="82296" dist="25718" dir="5400000" algn="bl" rotWithShape="0">
              <a:srgbClr val="4A443A">
                <a:alpha val="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667420" y="1394668"/>
            <a:ext cx="407149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은둔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627436" y="1393329"/>
            <a:ext cx="2471544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생활리듬 · ② 자기돌봄(정서)</a:t>
            </a:r>
            <a:endParaRPr lang="en-US" sz="1120" dirty="0"/>
          </a:p>
        </p:txBody>
      </p:sp>
      <p:sp>
        <p:nvSpPr>
          <p:cNvPr id="13" name="Shape 11"/>
          <p:cNvSpPr/>
          <p:nvPr/>
        </p:nvSpPr>
        <p:spPr>
          <a:xfrm>
            <a:off x="548097" y="1707021"/>
            <a:ext cx="3109913" cy="333375"/>
          </a:xfrm>
          <a:prstGeom prst="roundRect">
            <a:avLst>
              <a:gd name="adj" fmla="val 24686"/>
            </a:avLst>
          </a:prstGeom>
          <a:solidFill>
            <a:srgbClr val="FFFFFF"/>
          </a:solidFill>
          <a:ln/>
          <a:effectLst>
            <a:outerShdw blurRad="82296" dist="25718" dir="5400000" algn="bl" rotWithShape="0">
              <a:srgbClr val="4A443A">
                <a:alpha val="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67420" y="1773510"/>
            <a:ext cx="757051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고도고립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1627436" y="1772171"/>
            <a:ext cx="2022098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생활리듬 · ② 자기돌봄</a:t>
            </a:r>
            <a:endParaRPr lang="en-US" sz="1120" dirty="0"/>
          </a:p>
        </p:txBody>
      </p:sp>
      <p:sp>
        <p:nvSpPr>
          <p:cNvPr id="16" name="Shape 14"/>
          <p:cNvSpPr/>
          <p:nvPr/>
        </p:nvSpPr>
        <p:spPr>
          <a:xfrm>
            <a:off x="548097" y="2085863"/>
            <a:ext cx="3109913" cy="333375"/>
          </a:xfrm>
          <a:prstGeom prst="roundRect">
            <a:avLst>
              <a:gd name="adj" fmla="val 24686"/>
            </a:avLst>
          </a:prstGeom>
          <a:solidFill>
            <a:srgbClr val="FFFFFF"/>
          </a:solidFill>
          <a:ln/>
          <a:effectLst>
            <a:outerShdw blurRad="82296" dist="25718" dir="5400000" algn="bl" rotWithShape="0">
              <a:srgbClr val="4A443A">
                <a:alpha val="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667420" y="2152352"/>
            <a:ext cx="932051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고립위험군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627436" y="2151013"/>
            <a:ext cx="1683224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 자기돌봄 · ③ 관계</a:t>
            </a:r>
            <a:endParaRPr lang="en-US" sz="1120" dirty="0"/>
          </a:p>
        </p:txBody>
      </p:sp>
      <p:sp>
        <p:nvSpPr>
          <p:cNvPr id="19" name="Shape 17"/>
          <p:cNvSpPr/>
          <p:nvPr/>
        </p:nvSpPr>
        <p:spPr>
          <a:xfrm>
            <a:off x="548097" y="2464705"/>
            <a:ext cx="3109913" cy="333375"/>
          </a:xfrm>
          <a:prstGeom prst="roundRect">
            <a:avLst>
              <a:gd name="adj" fmla="val 24686"/>
            </a:avLst>
          </a:prstGeom>
          <a:solidFill>
            <a:srgbClr val="FFFFFF"/>
          </a:solidFill>
          <a:ln/>
          <a:effectLst>
            <a:outerShdw blurRad="82296" dist="25718" dir="5400000" algn="bl" rotWithShape="0">
              <a:srgbClr val="4A443A">
                <a:alpha val="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667420" y="2531194"/>
            <a:ext cx="757051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비위험군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1627436" y="2529855"/>
            <a:ext cx="1683224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 관계 · ④ 사회진입</a:t>
            </a:r>
            <a:endParaRPr lang="en-US" sz="1120" dirty="0"/>
          </a:p>
        </p:txBody>
      </p:sp>
      <p:sp>
        <p:nvSpPr>
          <p:cNvPr id="22" name="Shape 20"/>
          <p:cNvSpPr/>
          <p:nvPr/>
        </p:nvSpPr>
        <p:spPr>
          <a:xfrm>
            <a:off x="548097" y="2889796"/>
            <a:ext cx="3109913" cy="1128713"/>
          </a:xfrm>
          <a:prstGeom prst="roundRect">
            <a:avLst>
              <a:gd name="adj" fmla="val 8911"/>
            </a:avLst>
          </a:prstGeom>
          <a:solidFill>
            <a:srgbClr val="F5F1E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685726" y="2961829"/>
            <a:ext cx="3709987" cy="981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66"/>
              </a:lnSpc>
              <a:buNone/>
            </a:pPr>
            <a:r>
              <a:rPr lang="en-US" sz="1080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관계(가족 외)·사회진입(공동체) 트랙은 은둔</a:t>
            </a:r>
            <a:endParaRPr lang="en-US" sz="1080" dirty="0"/>
          </a:p>
          <a:p>
            <a:pPr marL="0" indent="0" algn="l">
              <a:lnSpc>
                <a:spcPts val="1566"/>
              </a:lnSpc>
              <a:buNone/>
            </a:pPr>
            <a:r>
              <a:rPr lang="en-US" sz="1080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단계에서 원칙적으로 배정하지 않음 — 가족 트랙만</a:t>
            </a:r>
            <a:endParaRPr lang="en-US" sz="1080" dirty="0"/>
          </a:p>
          <a:p>
            <a:pPr marL="0" indent="0" algn="l">
              <a:lnSpc>
                <a:spcPts val="1566"/>
              </a:lnSpc>
              <a:buNone/>
            </a:pPr>
            <a:r>
              <a:rPr lang="en-US" sz="1080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L1까지 허용. 단계가 오르면 다음 영역으로 자연 확장</a:t>
            </a:r>
            <a:endParaRPr lang="en-US" sz="1080" dirty="0"/>
          </a:p>
          <a:p>
            <a:pPr marL="0" indent="0" algn="l">
              <a:lnSpc>
                <a:spcPts val="1566"/>
              </a:lnSpc>
              <a:buNone/>
            </a:pPr>
            <a:r>
              <a:rPr lang="en-US" sz="1080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①→②→③→④ · 단계 판정·허용 영역 규칙은 v1</a:t>
            </a:r>
            <a:endParaRPr lang="en-US" sz="1080" dirty="0"/>
          </a:p>
          <a:p>
            <a:pPr marL="0" indent="0" algn="l">
              <a:lnSpc>
                <a:spcPts val="1566"/>
              </a:lnSpc>
              <a:buNone/>
            </a:pPr>
            <a:r>
              <a:rPr lang="en-US" sz="1080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그대로 (이번 개정 변경 없음)</a:t>
            </a:r>
            <a:endParaRPr lang="en-US" sz="1080" dirty="0"/>
          </a:p>
        </p:txBody>
      </p:sp>
      <p:sp>
        <p:nvSpPr>
          <p:cNvPr id="24" name="Text 22"/>
          <p:cNvSpPr/>
          <p:nvPr/>
        </p:nvSpPr>
        <p:spPr>
          <a:xfrm>
            <a:off x="3840361" y="1056977"/>
            <a:ext cx="1385657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접촉·외출 게이트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606778" y="1066502"/>
            <a:ext cx="2642384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8982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○ 통과 · △ 저강도/조건부 · × 금지</a:t>
            </a:r>
            <a:endParaRPr lang="en-US" sz="1080" dirty="0"/>
          </a:p>
        </p:txBody>
      </p:sp>
      <p:sp>
        <p:nvSpPr>
          <p:cNvPr id="26" name="Shape 24"/>
          <p:cNvSpPr/>
          <p:nvPr/>
        </p:nvSpPr>
        <p:spPr>
          <a:xfrm>
            <a:off x="3841403" y="1328961"/>
            <a:ext cx="4752975" cy="2162175"/>
          </a:xfrm>
          <a:prstGeom prst="roundRect">
            <a:avLst>
              <a:gd name="adj" fmla="val 4229"/>
            </a:avLst>
          </a:prstGeom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3841403" y="1327696"/>
            <a:ext cx="4752975" cy="300038"/>
          </a:xfrm>
          <a:prstGeom prst="rect">
            <a:avLst/>
          </a:prstGeom>
          <a:solidFill>
            <a:srgbClr val="4A443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3950047" y="1384399"/>
            <a:ext cx="54925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FDFB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게이트</a:t>
            </a:r>
            <a:endParaRPr lang="en-US" sz="1080" dirty="0"/>
          </a:p>
        </p:txBody>
      </p:sp>
      <p:sp>
        <p:nvSpPr>
          <p:cNvPr id="29" name="Text 27"/>
          <p:cNvSpPr/>
          <p:nvPr/>
        </p:nvSpPr>
        <p:spPr>
          <a:xfrm>
            <a:off x="5230862" y="1384399"/>
            <a:ext cx="385286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FDFB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은둔</a:t>
            </a:r>
            <a:endParaRPr lang="en-US" sz="1080" dirty="0"/>
          </a:p>
        </p:txBody>
      </p:sp>
      <p:sp>
        <p:nvSpPr>
          <p:cNvPr id="30" name="Text 28"/>
          <p:cNvSpPr/>
          <p:nvPr/>
        </p:nvSpPr>
        <p:spPr>
          <a:xfrm>
            <a:off x="5998592" y="1384399"/>
            <a:ext cx="713326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FDFB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고도고립</a:t>
            </a:r>
            <a:endParaRPr lang="en-US" sz="1080" dirty="0"/>
          </a:p>
        </p:txBody>
      </p:sp>
      <p:sp>
        <p:nvSpPr>
          <p:cNvPr id="31" name="Text 29"/>
          <p:cNvSpPr/>
          <p:nvPr/>
        </p:nvSpPr>
        <p:spPr>
          <a:xfrm>
            <a:off x="6829425" y="1384399"/>
            <a:ext cx="877297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FDFB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고립위험군</a:t>
            </a:r>
            <a:endParaRPr lang="en-US" sz="1080" dirty="0"/>
          </a:p>
        </p:txBody>
      </p:sp>
      <p:sp>
        <p:nvSpPr>
          <p:cNvPr id="32" name="Text 30"/>
          <p:cNvSpPr/>
          <p:nvPr/>
        </p:nvSpPr>
        <p:spPr>
          <a:xfrm>
            <a:off x="7786390" y="1384399"/>
            <a:ext cx="713326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FDFB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비위험군</a:t>
            </a:r>
            <a:endParaRPr lang="en-US" sz="1080" dirty="0"/>
          </a:p>
        </p:txBody>
      </p:sp>
      <p:sp>
        <p:nvSpPr>
          <p:cNvPr id="33" name="Shape 31"/>
          <p:cNvSpPr/>
          <p:nvPr/>
        </p:nvSpPr>
        <p:spPr>
          <a:xfrm>
            <a:off x="3841403" y="1627845"/>
            <a:ext cx="4752975" cy="30956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3950047" y="1680046"/>
            <a:ext cx="880296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문자(대인)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5315173" y="1680046"/>
            <a:ext cx="165981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B7B4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×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6177781" y="1680046"/>
            <a:ext cx="247434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○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7071643" y="1680046"/>
            <a:ext cx="247434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○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7965579" y="1680046"/>
            <a:ext cx="247434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○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3841403" y="1939417"/>
            <a:ext cx="4752975" cy="30956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/>
          <p:nvPr/>
        </p:nvSpPr>
        <p:spPr>
          <a:xfrm>
            <a:off x="3950047" y="1991618"/>
            <a:ext cx="407149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전화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5315173" y="1991618"/>
            <a:ext cx="165981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B7B4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×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6209109" y="1991618"/>
            <a:ext cx="165981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B7B4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×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7071643" y="1991618"/>
            <a:ext cx="247434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4A2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△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7965579" y="1991618"/>
            <a:ext cx="247434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○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3841403" y="2250988"/>
            <a:ext cx="4752975" cy="30956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4"/>
          <p:cNvSpPr/>
          <p:nvPr/>
        </p:nvSpPr>
        <p:spPr>
          <a:xfrm>
            <a:off x="3950047" y="2303190"/>
            <a:ext cx="1055296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대면(저강도)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5315173" y="2303190"/>
            <a:ext cx="165981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B7B4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×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6209109" y="2303190"/>
            <a:ext cx="165981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B7B4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×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7071643" y="2303190"/>
            <a:ext cx="247434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○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7965579" y="2303190"/>
            <a:ext cx="247434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○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3841403" y="2562560"/>
            <a:ext cx="4752975" cy="30956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Text 50"/>
          <p:cNvSpPr/>
          <p:nvPr/>
        </p:nvSpPr>
        <p:spPr>
          <a:xfrm>
            <a:off x="3950047" y="2614761"/>
            <a:ext cx="407149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대면</a:t>
            </a:r>
            <a:endParaRPr lang="en-US" sz="1150" dirty="0"/>
          </a:p>
        </p:txBody>
      </p:sp>
      <p:sp>
        <p:nvSpPr>
          <p:cNvPr id="53" name="Text 51"/>
          <p:cNvSpPr/>
          <p:nvPr/>
        </p:nvSpPr>
        <p:spPr>
          <a:xfrm>
            <a:off x="5315173" y="2614761"/>
            <a:ext cx="165981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B7B4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×</a:t>
            </a:r>
            <a:endParaRPr lang="en-US" sz="1150" dirty="0"/>
          </a:p>
        </p:txBody>
      </p:sp>
      <p:sp>
        <p:nvSpPr>
          <p:cNvPr id="54" name="Text 52"/>
          <p:cNvSpPr/>
          <p:nvPr/>
        </p:nvSpPr>
        <p:spPr>
          <a:xfrm>
            <a:off x="6209109" y="2614761"/>
            <a:ext cx="165981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B7B4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×</a:t>
            </a:r>
            <a:endParaRPr lang="en-US" sz="1150" dirty="0"/>
          </a:p>
        </p:txBody>
      </p:sp>
      <p:sp>
        <p:nvSpPr>
          <p:cNvPr id="55" name="Text 53"/>
          <p:cNvSpPr/>
          <p:nvPr/>
        </p:nvSpPr>
        <p:spPr>
          <a:xfrm>
            <a:off x="7102971" y="2614761"/>
            <a:ext cx="165981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B7B4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×</a:t>
            </a:r>
            <a:endParaRPr lang="en-US" sz="1150" dirty="0"/>
          </a:p>
        </p:txBody>
      </p:sp>
      <p:sp>
        <p:nvSpPr>
          <p:cNvPr id="56" name="Text 54"/>
          <p:cNvSpPr/>
          <p:nvPr/>
        </p:nvSpPr>
        <p:spPr>
          <a:xfrm>
            <a:off x="7965579" y="2614761"/>
            <a:ext cx="247434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○</a:t>
            </a:r>
            <a:endParaRPr lang="en-US" sz="1150" dirty="0"/>
          </a:p>
        </p:txBody>
      </p:sp>
      <p:sp>
        <p:nvSpPr>
          <p:cNvPr id="57" name="Shape 55"/>
          <p:cNvSpPr/>
          <p:nvPr/>
        </p:nvSpPr>
        <p:spPr>
          <a:xfrm>
            <a:off x="3841403" y="2874132"/>
            <a:ext cx="4752975" cy="30956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" name="Text 56"/>
          <p:cNvSpPr/>
          <p:nvPr/>
        </p:nvSpPr>
        <p:spPr>
          <a:xfrm>
            <a:off x="3950047" y="2926333"/>
            <a:ext cx="1055296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외출(저강도)</a:t>
            </a:r>
            <a:endParaRPr lang="en-US" sz="1150" dirty="0"/>
          </a:p>
        </p:txBody>
      </p:sp>
      <p:sp>
        <p:nvSpPr>
          <p:cNvPr id="59" name="Text 57"/>
          <p:cNvSpPr/>
          <p:nvPr/>
        </p:nvSpPr>
        <p:spPr>
          <a:xfrm>
            <a:off x="5315173" y="2926333"/>
            <a:ext cx="165981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B7B4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×</a:t>
            </a:r>
            <a:endParaRPr lang="en-US" sz="1150" dirty="0"/>
          </a:p>
        </p:txBody>
      </p:sp>
      <p:sp>
        <p:nvSpPr>
          <p:cNvPr id="60" name="Text 58"/>
          <p:cNvSpPr/>
          <p:nvPr/>
        </p:nvSpPr>
        <p:spPr>
          <a:xfrm>
            <a:off x="6177781" y="2926333"/>
            <a:ext cx="247434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4A2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△</a:t>
            </a:r>
            <a:endParaRPr lang="en-US" sz="1150" dirty="0"/>
          </a:p>
        </p:txBody>
      </p:sp>
      <p:sp>
        <p:nvSpPr>
          <p:cNvPr id="61" name="Text 59"/>
          <p:cNvSpPr/>
          <p:nvPr/>
        </p:nvSpPr>
        <p:spPr>
          <a:xfrm>
            <a:off x="7071643" y="2926333"/>
            <a:ext cx="247434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○</a:t>
            </a:r>
            <a:endParaRPr lang="en-US" sz="1150" dirty="0"/>
          </a:p>
        </p:txBody>
      </p:sp>
      <p:sp>
        <p:nvSpPr>
          <p:cNvPr id="62" name="Text 60"/>
          <p:cNvSpPr/>
          <p:nvPr/>
        </p:nvSpPr>
        <p:spPr>
          <a:xfrm>
            <a:off x="7965579" y="2926333"/>
            <a:ext cx="247434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○</a:t>
            </a:r>
            <a:endParaRPr lang="en-US" sz="1150" dirty="0"/>
          </a:p>
        </p:txBody>
      </p:sp>
      <p:sp>
        <p:nvSpPr>
          <p:cNvPr id="63" name="Shape 61"/>
          <p:cNvSpPr/>
          <p:nvPr/>
        </p:nvSpPr>
        <p:spPr>
          <a:xfrm>
            <a:off x="3841403" y="3185703"/>
            <a:ext cx="4752975" cy="3048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4" name="Text 62"/>
          <p:cNvSpPr/>
          <p:nvPr/>
        </p:nvSpPr>
        <p:spPr>
          <a:xfrm>
            <a:off x="3950047" y="3237905"/>
            <a:ext cx="407149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외출</a:t>
            </a:r>
            <a:endParaRPr lang="en-US" sz="1150" dirty="0"/>
          </a:p>
        </p:txBody>
      </p:sp>
      <p:sp>
        <p:nvSpPr>
          <p:cNvPr id="65" name="Text 63"/>
          <p:cNvSpPr/>
          <p:nvPr/>
        </p:nvSpPr>
        <p:spPr>
          <a:xfrm>
            <a:off x="5315173" y="3237905"/>
            <a:ext cx="165981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B7B4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×</a:t>
            </a:r>
            <a:endParaRPr lang="en-US" sz="1150" dirty="0"/>
          </a:p>
        </p:txBody>
      </p:sp>
      <p:sp>
        <p:nvSpPr>
          <p:cNvPr id="66" name="Text 64"/>
          <p:cNvSpPr/>
          <p:nvPr/>
        </p:nvSpPr>
        <p:spPr>
          <a:xfrm>
            <a:off x="6209109" y="3237905"/>
            <a:ext cx="165981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B7B4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×</a:t>
            </a:r>
            <a:endParaRPr lang="en-US" sz="1150" dirty="0"/>
          </a:p>
        </p:txBody>
      </p:sp>
      <p:sp>
        <p:nvSpPr>
          <p:cNvPr id="67" name="Text 65"/>
          <p:cNvSpPr/>
          <p:nvPr/>
        </p:nvSpPr>
        <p:spPr>
          <a:xfrm>
            <a:off x="7071643" y="3237905"/>
            <a:ext cx="247434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○</a:t>
            </a:r>
            <a:endParaRPr lang="en-US" sz="1150" dirty="0"/>
          </a:p>
        </p:txBody>
      </p:sp>
      <p:sp>
        <p:nvSpPr>
          <p:cNvPr id="68" name="Text 66"/>
          <p:cNvSpPr/>
          <p:nvPr/>
        </p:nvSpPr>
        <p:spPr>
          <a:xfrm>
            <a:off x="7965579" y="3237905"/>
            <a:ext cx="247434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○</a:t>
            </a:r>
            <a:endParaRPr lang="en-US" sz="1150" dirty="0"/>
          </a:p>
        </p:txBody>
      </p:sp>
      <p:sp>
        <p:nvSpPr>
          <p:cNvPr id="69" name="Text 67"/>
          <p:cNvSpPr/>
          <p:nvPr/>
        </p:nvSpPr>
        <p:spPr>
          <a:xfrm>
            <a:off x="3840361" y="3563466"/>
            <a:ext cx="6075529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567"/>
              </a:spcBef>
              <a:buNone/>
            </a:pPr>
            <a:r>
              <a:rPr lang="en-US" sz="1080" dirty="0">
                <a:solidFill>
                  <a:srgbClr val="8982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읽는 법: 미션뱅크의 각 항목에는 게이트 라벨이 붙어 있고, 사용자의 회복단계 열에서</a:t>
            </a:r>
            <a:endParaRPr lang="en-US" sz="1080" dirty="0"/>
          </a:p>
        </p:txBody>
      </p:sp>
      <p:sp>
        <p:nvSpPr>
          <p:cNvPr id="70" name="Text 68"/>
          <p:cNvSpPr/>
          <p:nvPr/>
        </p:nvSpPr>
        <p:spPr>
          <a:xfrm>
            <a:off x="4002137" y="3755454"/>
            <a:ext cx="2717356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567"/>
              </a:spcBef>
              <a:buNone/>
            </a:pPr>
            <a:r>
              <a:rPr lang="en-US" sz="1080" dirty="0">
                <a:solidFill>
                  <a:srgbClr val="8982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○인 항목만 오늘의 후보로 올라온다</a:t>
            </a:r>
            <a:endParaRPr lang="en-US" sz="1080" dirty="0"/>
          </a:p>
        </p:txBody>
      </p:sp>
      <p:sp>
        <p:nvSpPr>
          <p:cNvPr id="71" name="Text 69"/>
          <p:cNvSpPr/>
          <p:nvPr/>
        </p:nvSpPr>
        <p:spPr>
          <a:xfrm>
            <a:off x="548580" y="4741664"/>
            <a:ext cx="2112645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8982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BA 챌린지 사이클 개선 보고</a:t>
            </a:r>
            <a:endParaRPr lang="en-US" sz="1080" dirty="0"/>
          </a:p>
        </p:txBody>
      </p:sp>
      <p:sp>
        <p:nvSpPr>
          <p:cNvPr id="72" name="Text 70"/>
          <p:cNvSpPr/>
          <p:nvPr/>
        </p:nvSpPr>
        <p:spPr>
          <a:xfrm>
            <a:off x="8159279" y="4741664"/>
            <a:ext cx="624133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8982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 / 23</a:t>
            </a:r>
            <a:endParaRPr lang="en-US" sz="1080" dirty="0"/>
          </a:p>
        </p:txBody>
      </p:sp>
      <p:pic>
        <p:nvPicPr>
          <p:cNvPr id="7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41403" y="1627845"/>
            <a:ext cx="4752975" cy="309562"/>
          </a:xfrm>
          <a:prstGeom prst="rect">
            <a:avLst/>
          </a:prstGeom>
        </p:spPr>
      </p:pic>
      <p:pic>
        <p:nvPicPr>
          <p:cNvPr id="7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41403" y="1939417"/>
            <a:ext cx="4752975" cy="309562"/>
          </a:xfrm>
          <a:prstGeom prst="rect">
            <a:avLst/>
          </a:prstGeom>
        </p:spPr>
      </p:pic>
      <p:pic>
        <p:nvPicPr>
          <p:cNvPr id="7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41403" y="2250988"/>
            <a:ext cx="4752975" cy="309562"/>
          </a:xfrm>
          <a:prstGeom prst="rect">
            <a:avLst/>
          </a:prstGeom>
        </p:spPr>
      </p:pic>
      <p:pic>
        <p:nvPicPr>
          <p:cNvPr id="76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41403" y="2562560"/>
            <a:ext cx="4752975" cy="309562"/>
          </a:xfrm>
          <a:prstGeom prst="rect">
            <a:avLst/>
          </a:prstGeom>
        </p:spPr>
      </p:pic>
      <p:pic>
        <p:nvPicPr>
          <p:cNvPr id="77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841403" y="2874132"/>
            <a:ext cx="4752975" cy="30956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547911" y="258217"/>
            <a:ext cx="1081087" cy="285750"/>
          </a:xfrm>
          <a:prstGeom prst="roundRect">
            <a:avLst>
              <a:gd name="adj" fmla="val 50000"/>
            </a:avLst>
          </a:prstGeom>
          <a:solidFill>
            <a:srgbClr val="A2D2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677205" y="360573"/>
            <a:ext cx="80962" cy="80962"/>
          </a:xfrm>
          <a:prstGeom prst="roundRect">
            <a:avLst>
              <a:gd name="adj" fmla="val 28235"/>
            </a:avLst>
          </a:prstGeom>
          <a:solidFill>
            <a:srgbClr val="4A443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822796" y="307777"/>
            <a:ext cx="937952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 알고리즘</a:t>
            </a:r>
            <a:endParaRPr lang="en-US" sz="1080" dirty="0"/>
          </a:p>
        </p:txBody>
      </p:sp>
      <p:sp>
        <p:nvSpPr>
          <p:cNvPr id="6" name="Text 4"/>
          <p:cNvSpPr/>
          <p:nvPr/>
        </p:nvSpPr>
        <p:spPr>
          <a:xfrm>
            <a:off x="8013874" y="307777"/>
            <a:ext cx="813160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kern="0" spc="151" dirty="0">
                <a:solidFill>
                  <a:srgbClr val="B6B1A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조각조각</a:t>
            </a:r>
            <a:endParaRPr lang="en-US" sz="1080" dirty="0"/>
          </a:p>
        </p:txBody>
      </p:sp>
      <p:sp>
        <p:nvSpPr>
          <p:cNvPr id="7" name="Text 5"/>
          <p:cNvSpPr/>
          <p:nvPr/>
        </p:nvSpPr>
        <p:spPr>
          <a:xfrm>
            <a:off x="548580" y="580058"/>
            <a:ext cx="5874797" cy="3095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kern="0" spc="-18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규정 3 · 다음날 밴드 조정 — day_result 3분기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133380" y="665783"/>
            <a:ext cx="4375257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8982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신호는 사후 P/M 평정 — 타깃 슬롯 완료만 밴드에 반영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7688" y="1000460"/>
            <a:ext cx="8048625" cy="2547937"/>
          </a:xfrm>
          <a:prstGeom prst="roundRect">
            <a:avLst>
              <a:gd name="adj" fmla="val 3948"/>
            </a:avLst>
          </a:prstGeom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547688" y="1000348"/>
            <a:ext cx="8048625" cy="300038"/>
          </a:xfrm>
          <a:prstGeom prst="rect">
            <a:avLst/>
          </a:prstGeom>
          <a:solidFill>
            <a:srgbClr val="4A443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694879" y="1057052"/>
            <a:ext cx="759663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FDFB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어제 결과</a:t>
            </a: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1883569" y="1057052"/>
            <a:ext cx="856789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FDFB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평정 · 토글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3346549" y="1057052"/>
            <a:ext cx="923635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FDFB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다음날 밴드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4260949" y="1057052"/>
            <a:ext cx="759663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FDFB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부가 동작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547688" y="1298488"/>
            <a:ext cx="8048625" cy="3238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694879" y="1356494"/>
            <a:ext cx="782881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타깃 완료</a:t>
            </a:r>
            <a:endParaRPr lang="en-US" sz="1120" dirty="0"/>
          </a:p>
        </p:txBody>
      </p:sp>
      <p:sp>
        <p:nvSpPr>
          <p:cNvPr id="17" name="Text 15"/>
          <p:cNvSpPr/>
          <p:nvPr/>
        </p:nvSpPr>
        <p:spPr>
          <a:xfrm>
            <a:off x="1883569" y="1364679"/>
            <a:ext cx="1449117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 높음(≥4) · 도전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3346549" y="1357833"/>
            <a:ext cx="274811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+1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260949" y="1364679"/>
            <a:ext cx="2645963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8982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축하 강화 — 숙달 확인 후에만 상향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547688" y="1620329"/>
            <a:ext cx="8048625" cy="3238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694879" y="1678335"/>
            <a:ext cx="782881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타깃 완료</a:t>
            </a:r>
            <a:endParaRPr lang="en-US" sz="1120" dirty="0"/>
          </a:p>
        </p:txBody>
      </p:sp>
      <p:sp>
        <p:nvSpPr>
          <p:cNvPr id="22" name="Text 20"/>
          <p:cNvSpPr/>
          <p:nvPr/>
        </p:nvSpPr>
        <p:spPr>
          <a:xfrm>
            <a:off x="1883569" y="1686520"/>
            <a:ext cx="1620247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 높음 · 보통/가볍게</a:t>
            </a:r>
            <a:endParaRPr lang="en-US" sz="1080" dirty="0"/>
          </a:p>
        </p:txBody>
      </p:sp>
      <p:sp>
        <p:nvSpPr>
          <p:cNvPr id="23" name="Text 21"/>
          <p:cNvSpPr/>
          <p:nvPr/>
        </p:nvSpPr>
        <p:spPr>
          <a:xfrm>
            <a:off x="3346549" y="1679674"/>
            <a:ext cx="165981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260949" y="1686520"/>
            <a:ext cx="2704103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8982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기본값 '보통' 넛지 — 연속 2회면 +1</a:t>
            </a:r>
            <a:endParaRPr lang="en-US" sz="1080" dirty="0"/>
          </a:p>
        </p:txBody>
      </p:sp>
      <p:sp>
        <p:nvSpPr>
          <p:cNvPr id="25" name="Shape 23"/>
          <p:cNvSpPr/>
          <p:nvPr/>
        </p:nvSpPr>
        <p:spPr>
          <a:xfrm>
            <a:off x="547688" y="1942170"/>
            <a:ext cx="8048625" cy="3238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694879" y="2000176"/>
            <a:ext cx="782881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타깃 완료</a:t>
            </a:r>
            <a:endParaRPr lang="en-US" sz="1120" dirty="0"/>
          </a:p>
        </p:txBody>
      </p:sp>
      <p:sp>
        <p:nvSpPr>
          <p:cNvPr id="27" name="Text 25"/>
          <p:cNvSpPr/>
          <p:nvPr/>
        </p:nvSpPr>
        <p:spPr>
          <a:xfrm>
            <a:off x="1883569" y="2008361"/>
            <a:ext cx="80222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 중립(3)</a:t>
            </a:r>
            <a:endParaRPr lang="en-US" sz="1080" dirty="0"/>
          </a:p>
        </p:txBody>
      </p:sp>
      <p:sp>
        <p:nvSpPr>
          <p:cNvPr id="28" name="Text 26"/>
          <p:cNvSpPr/>
          <p:nvPr/>
        </p:nvSpPr>
        <p:spPr>
          <a:xfrm>
            <a:off x="3346549" y="2001515"/>
            <a:ext cx="165981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260949" y="2008361"/>
            <a:ext cx="385286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8982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유지</a:t>
            </a:r>
            <a:endParaRPr lang="en-US" sz="1080" dirty="0"/>
          </a:p>
        </p:txBody>
      </p:sp>
      <p:sp>
        <p:nvSpPr>
          <p:cNvPr id="30" name="Shape 28"/>
          <p:cNvSpPr/>
          <p:nvPr/>
        </p:nvSpPr>
        <p:spPr>
          <a:xfrm>
            <a:off x="547688" y="2264011"/>
            <a:ext cx="8048625" cy="3238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694879" y="2322016"/>
            <a:ext cx="782881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타깃 완료</a:t>
            </a:r>
            <a:endParaRPr lang="en-US" sz="1120" dirty="0"/>
          </a:p>
        </p:txBody>
      </p:sp>
      <p:sp>
        <p:nvSpPr>
          <p:cNvPr id="32" name="Text 30"/>
          <p:cNvSpPr/>
          <p:nvPr/>
        </p:nvSpPr>
        <p:spPr>
          <a:xfrm>
            <a:off x="1883569" y="2330202"/>
            <a:ext cx="980517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 낮음(≤2)</a:t>
            </a:r>
            <a:endParaRPr lang="en-US" sz="1080" dirty="0"/>
          </a:p>
        </p:txBody>
      </p:sp>
      <p:sp>
        <p:nvSpPr>
          <p:cNvPr id="33" name="Text 31"/>
          <p:cNvSpPr/>
          <p:nvPr/>
        </p:nvSpPr>
        <p:spPr>
          <a:xfrm>
            <a:off x="3346549" y="2323356"/>
            <a:ext cx="165981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260949" y="2330202"/>
            <a:ext cx="3118433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8982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위로 한 줄 · 연속 2회면 토글 '가볍게' 복귀</a:t>
            </a:r>
            <a:endParaRPr lang="en-US" sz="1080" dirty="0"/>
          </a:p>
        </p:txBody>
      </p:sp>
      <p:sp>
        <p:nvSpPr>
          <p:cNvPr id="35" name="Shape 33"/>
          <p:cNvSpPr/>
          <p:nvPr/>
        </p:nvSpPr>
        <p:spPr>
          <a:xfrm>
            <a:off x="547688" y="2585851"/>
            <a:ext cx="8048625" cy="323850"/>
          </a:xfrm>
          <a:prstGeom prst="rect">
            <a:avLst/>
          </a:prstGeom>
          <a:solidFill>
            <a:srgbClr val="A1D0FF">
              <a:alpha val="14902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694879" y="2643857"/>
            <a:ext cx="1780833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즐거움·회피만 완료</a:t>
            </a:r>
            <a:r>
              <a:rPr lang="en-US" sz="1080" dirty="0">
                <a:solidFill>
                  <a:srgbClr val="8982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</a:t>
            </a:r>
            <a:endParaRPr lang="en-US" sz="1120" dirty="0"/>
          </a:p>
        </p:txBody>
      </p:sp>
      <p:sp>
        <p:nvSpPr>
          <p:cNvPr id="37" name="Text 35"/>
          <p:cNvSpPr/>
          <p:nvPr/>
        </p:nvSpPr>
        <p:spPr>
          <a:xfrm>
            <a:off x="3346549" y="2645197"/>
            <a:ext cx="69436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 (유지)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4260949" y="2652043"/>
            <a:ext cx="2843503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8982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완료 축하는 동일 · 미완료 카운터 리셋</a:t>
            </a:r>
            <a:endParaRPr lang="en-US" sz="1080" dirty="0"/>
          </a:p>
        </p:txBody>
      </p:sp>
      <p:sp>
        <p:nvSpPr>
          <p:cNvPr id="39" name="Shape 37"/>
          <p:cNvSpPr/>
          <p:nvPr/>
        </p:nvSpPr>
        <p:spPr>
          <a:xfrm>
            <a:off x="547688" y="2907692"/>
            <a:ext cx="8048625" cy="3238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/>
          <p:nvPr/>
        </p:nvSpPr>
        <p:spPr>
          <a:xfrm>
            <a:off x="694879" y="2965698"/>
            <a:ext cx="952366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완전 미완료</a:t>
            </a:r>
            <a:endParaRPr lang="en-US" sz="1120" dirty="0"/>
          </a:p>
        </p:txBody>
      </p:sp>
      <p:sp>
        <p:nvSpPr>
          <p:cNvPr id="41" name="Text 39"/>
          <p:cNvSpPr/>
          <p:nvPr/>
        </p:nvSpPr>
        <p:spPr>
          <a:xfrm>
            <a:off x="1883569" y="2973884"/>
            <a:ext cx="235535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8982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</a:t>
            </a:r>
            <a:endParaRPr lang="en-US" sz="1080" dirty="0"/>
          </a:p>
        </p:txBody>
      </p:sp>
      <p:sp>
        <p:nvSpPr>
          <p:cNvPr id="42" name="Text 40"/>
          <p:cNvSpPr/>
          <p:nvPr/>
        </p:nvSpPr>
        <p:spPr>
          <a:xfrm>
            <a:off x="3346549" y="2967038"/>
            <a:ext cx="227216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−1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4260949" y="2973884"/>
            <a:ext cx="2337562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8982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회피 슬롯에 '더 작은 버전' 예약</a:t>
            </a:r>
            <a:endParaRPr lang="en-US" sz="1080" dirty="0"/>
          </a:p>
        </p:txBody>
      </p:sp>
      <p:sp>
        <p:nvSpPr>
          <p:cNvPr id="44" name="Shape 42"/>
          <p:cNvSpPr/>
          <p:nvPr/>
        </p:nvSpPr>
        <p:spPr>
          <a:xfrm>
            <a:off x="547688" y="3229533"/>
            <a:ext cx="8048625" cy="319088"/>
          </a:xfrm>
          <a:prstGeom prst="rect">
            <a:avLst/>
          </a:prstGeom>
          <a:solidFill>
            <a:srgbClr val="FFD360">
              <a:alpha val="25098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3"/>
          <p:cNvSpPr/>
          <p:nvPr/>
        </p:nvSpPr>
        <p:spPr>
          <a:xfrm>
            <a:off x="694879" y="3287539"/>
            <a:ext cx="1275085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미완료 2일 연속</a:t>
            </a:r>
            <a:endParaRPr lang="en-US" sz="1120" dirty="0"/>
          </a:p>
        </p:txBody>
      </p:sp>
      <p:sp>
        <p:nvSpPr>
          <p:cNvPr id="46" name="Text 44"/>
          <p:cNvSpPr/>
          <p:nvPr/>
        </p:nvSpPr>
        <p:spPr>
          <a:xfrm>
            <a:off x="1883569" y="3295724"/>
            <a:ext cx="235535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8982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</a:t>
            </a:r>
            <a:endParaRPr lang="en-US" sz="1080" dirty="0"/>
          </a:p>
        </p:txBody>
      </p:sp>
      <p:sp>
        <p:nvSpPr>
          <p:cNvPr id="47" name="Text 45"/>
          <p:cNvSpPr/>
          <p:nvPr/>
        </p:nvSpPr>
        <p:spPr>
          <a:xfrm>
            <a:off x="3346549" y="3288878"/>
            <a:ext cx="672792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L1 리셋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4260949" y="3295724"/>
            <a:ext cx="3007571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8982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위로 메시지 · 다음 날 생활리듬부터 다시</a:t>
            </a:r>
            <a:endParaRPr lang="en-US" sz="1080" dirty="0"/>
          </a:p>
        </p:txBody>
      </p:sp>
      <p:sp>
        <p:nvSpPr>
          <p:cNvPr id="49" name="Shape 47"/>
          <p:cNvSpPr/>
          <p:nvPr/>
        </p:nvSpPr>
        <p:spPr>
          <a:xfrm>
            <a:off x="549585" y="4035735"/>
            <a:ext cx="3952875" cy="695325"/>
          </a:xfrm>
          <a:prstGeom prst="roundRect">
            <a:avLst>
              <a:gd name="adj" fmla="val 14466"/>
            </a:avLst>
          </a:prstGeom>
          <a:solidFill>
            <a:srgbClr val="FFFFFF"/>
          </a:solidFill>
          <a:ln/>
          <a:effectLst>
            <a:outerShdw blurRad="123444" dist="41148" dir="5400000" algn="bl" rotWithShape="0">
              <a:srgbClr val="4A443A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0" name="Shape 48"/>
          <p:cNvSpPr/>
          <p:nvPr/>
        </p:nvSpPr>
        <p:spPr>
          <a:xfrm>
            <a:off x="695288" y="4261917"/>
            <a:ext cx="866775" cy="242888"/>
          </a:xfrm>
          <a:prstGeom prst="roundRect">
            <a:avLst>
              <a:gd name="adj" fmla="val 50000"/>
            </a:avLst>
          </a:prstGeom>
          <a:solidFill>
            <a:srgbClr val="A2D2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1" name="Text 49"/>
          <p:cNvSpPr/>
          <p:nvPr/>
        </p:nvSpPr>
        <p:spPr>
          <a:xfrm>
            <a:off x="795412" y="4290045"/>
            <a:ext cx="923635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정합성 체크</a:t>
            </a:r>
            <a:endParaRPr lang="en-US" sz="1080" dirty="0"/>
          </a:p>
        </p:txBody>
      </p:sp>
      <p:sp>
        <p:nvSpPr>
          <p:cNvPr id="52" name="Text 50"/>
          <p:cNvSpPr/>
          <p:nvPr/>
        </p:nvSpPr>
        <p:spPr>
          <a:xfrm>
            <a:off x="1653853" y="4091657"/>
            <a:ext cx="3555496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완료는 어떤 형태든 </a:t>
            </a:r>
            <a:r>
              <a:rPr lang="en-US" sz="1120" b="1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'하향' 칸이 없다</a:t>
            </a:r>
            <a:r>
              <a:rPr lang="en-US" sz="1120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— 내려가는</a:t>
            </a:r>
            <a:endParaRPr lang="en-US" sz="1120" dirty="0"/>
          </a:p>
        </p:txBody>
      </p:sp>
      <p:sp>
        <p:nvSpPr>
          <p:cNvPr id="53" name="Text 51"/>
          <p:cNvSpPr/>
          <p:nvPr/>
        </p:nvSpPr>
        <p:spPr>
          <a:xfrm>
            <a:off x="1820987" y="4282976"/>
            <a:ext cx="3153162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길은 완전 미완료뿐 · 연속 카운터는 화면</a:t>
            </a:r>
            <a:endParaRPr lang="en-US" sz="1120" dirty="0"/>
          </a:p>
        </p:txBody>
      </p:sp>
      <p:sp>
        <p:nvSpPr>
          <p:cNvPr id="54" name="Text 52"/>
          <p:cNvSpPr/>
          <p:nvPr/>
        </p:nvSpPr>
        <p:spPr>
          <a:xfrm>
            <a:off x="1653853" y="4474294"/>
            <a:ext cx="396121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비노출</a:t>
            </a:r>
            <a:endParaRPr lang="en-US" sz="1120" dirty="0"/>
          </a:p>
        </p:txBody>
      </p:sp>
      <p:sp>
        <p:nvSpPr>
          <p:cNvPr id="55" name="Shape 53"/>
          <p:cNvSpPr/>
          <p:nvPr/>
        </p:nvSpPr>
        <p:spPr>
          <a:xfrm>
            <a:off x="4641614" y="4035735"/>
            <a:ext cx="3952875" cy="695325"/>
          </a:xfrm>
          <a:prstGeom prst="roundRect">
            <a:avLst>
              <a:gd name="adj" fmla="val 14466"/>
            </a:avLst>
          </a:prstGeom>
          <a:solidFill>
            <a:srgbClr val="4A443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6" name="Shape 54"/>
          <p:cNvSpPr/>
          <p:nvPr/>
        </p:nvSpPr>
        <p:spPr>
          <a:xfrm>
            <a:off x="4786164" y="4261917"/>
            <a:ext cx="742950" cy="242888"/>
          </a:xfrm>
          <a:prstGeom prst="roundRect">
            <a:avLst>
              <a:gd name="adj" fmla="val 50000"/>
            </a:avLst>
          </a:prstGeom>
          <a:solidFill>
            <a:srgbClr val="FFD55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" name="Text 55"/>
          <p:cNvSpPr/>
          <p:nvPr/>
        </p:nvSpPr>
        <p:spPr>
          <a:xfrm>
            <a:off x="4887441" y="4290045"/>
            <a:ext cx="759663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노출 원칙</a:t>
            </a:r>
            <a:endParaRPr lang="en-US" sz="1080" dirty="0"/>
          </a:p>
        </p:txBody>
      </p:sp>
      <p:sp>
        <p:nvSpPr>
          <p:cNvPr id="58" name="Text 56"/>
          <p:cNvSpPr/>
          <p:nvPr/>
        </p:nvSpPr>
        <p:spPr>
          <a:xfrm>
            <a:off x="5619750" y="4091657"/>
            <a:ext cx="3613539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FDFB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난이도 숫자는 절대 화면에 노출하지 않고, 변경은</a:t>
            </a:r>
            <a:endParaRPr lang="en-US" sz="1120" dirty="0"/>
          </a:p>
        </p:txBody>
      </p:sp>
      <p:sp>
        <p:nvSpPr>
          <p:cNvPr id="59" name="Text 57"/>
          <p:cNvSpPr/>
          <p:nvPr/>
        </p:nvSpPr>
        <p:spPr>
          <a:xfrm>
            <a:off x="5786884" y="4282976"/>
            <a:ext cx="3073546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FDFB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성장 프레이밍으로 — 예: "커튼 여는 게</a:t>
            </a:r>
            <a:endParaRPr lang="en-US" sz="1120" dirty="0"/>
          </a:p>
        </p:txBody>
      </p:sp>
      <p:sp>
        <p:nvSpPr>
          <p:cNvPr id="60" name="Text 58"/>
          <p:cNvSpPr/>
          <p:nvPr/>
        </p:nvSpPr>
        <p:spPr>
          <a:xfrm>
            <a:off x="5619750" y="4474294"/>
            <a:ext cx="2129091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FDFB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익숙해진 것 같아요" </a:t>
            </a:r>
            <a:r>
              <a:rPr lang="en-US" sz="1120" dirty="0">
                <a:solidFill>
                  <a:srgbClr val="C8C4B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(예시 문구)</a:t>
            </a:r>
            <a:endParaRPr lang="en-US" sz="1120" dirty="0"/>
          </a:p>
        </p:txBody>
      </p:sp>
      <p:sp>
        <p:nvSpPr>
          <p:cNvPr id="61" name="Text 59"/>
          <p:cNvSpPr/>
          <p:nvPr/>
        </p:nvSpPr>
        <p:spPr>
          <a:xfrm>
            <a:off x="548580" y="4741664"/>
            <a:ext cx="2112645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8982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BA 챌린지 사이클 개선 보고</a:t>
            </a:r>
            <a:endParaRPr lang="en-US" sz="1080" dirty="0"/>
          </a:p>
        </p:txBody>
      </p:sp>
      <p:sp>
        <p:nvSpPr>
          <p:cNvPr id="62" name="Text 60"/>
          <p:cNvSpPr/>
          <p:nvPr/>
        </p:nvSpPr>
        <p:spPr>
          <a:xfrm>
            <a:off x="8159279" y="4741664"/>
            <a:ext cx="624133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8982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17 / 23</a:t>
            </a:r>
            <a:endParaRPr lang="en-US" sz="1080" dirty="0"/>
          </a:p>
        </p:txBody>
      </p:sp>
      <p:pic>
        <p:nvPicPr>
          <p:cNvPr id="6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7688" y="1298488"/>
            <a:ext cx="8048625" cy="323850"/>
          </a:xfrm>
          <a:prstGeom prst="rect">
            <a:avLst/>
          </a:prstGeom>
        </p:spPr>
      </p:pic>
      <p:pic>
        <p:nvPicPr>
          <p:cNvPr id="6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7688" y="1620329"/>
            <a:ext cx="8048625" cy="323850"/>
          </a:xfrm>
          <a:prstGeom prst="rect">
            <a:avLst/>
          </a:prstGeom>
        </p:spPr>
      </p:pic>
      <p:pic>
        <p:nvPicPr>
          <p:cNvPr id="6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7688" y="1942170"/>
            <a:ext cx="8048625" cy="323850"/>
          </a:xfrm>
          <a:prstGeom prst="rect">
            <a:avLst/>
          </a:prstGeom>
        </p:spPr>
      </p:pic>
      <p:pic>
        <p:nvPicPr>
          <p:cNvPr id="66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47688" y="2264011"/>
            <a:ext cx="8048625" cy="323850"/>
          </a:xfrm>
          <a:prstGeom prst="rect">
            <a:avLst/>
          </a:prstGeom>
        </p:spPr>
      </p:pic>
      <p:pic>
        <p:nvPicPr>
          <p:cNvPr id="67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47688" y="2585851"/>
            <a:ext cx="8048625" cy="323850"/>
          </a:xfrm>
          <a:prstGeom prst="rect">
            <a:avLst/>
          </a:prstGeom>
        </p:spPr>
      </p:pic>
      <p:pic>
        <p:nvPicPr>
          <p:cNvPr id="68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47688" y="2907692"/>
            <a:ext cx="8048625" cy="32385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547911" y="258217"/>
            <a:ext cx="1081087" cy="285750"/>
          </a:xfrm>
          <a:prstGeom prst="roundRect">
            <a:avLst>
              <a:gd name="adj" fmla="val 50000"/>
            </a:avLst>
          </a:prstGeom>
          <a:solidFill>
            <a:srgbClr val="A2D2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677205" y="360573"/>
            <a:ext cx="80962" cy="80962"/>
          </a:xfrm>
          <a:prstGeom prst="roundRect">
            <a:avLst>
              <a:gd name="adj" fmla="val 28235"/>
            </a:avLst>
          </a:prstGeom>
          <a:solidFill>
            <a:srgbClr val="4A443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822796" y="307777"/>
            <a:ext cx="937952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 알고리즘</a:t>
            </a:r>
            <a:endParaRPr lang="en-US" sz="1080" dirty="0"/>
          </a:p>
        </p:txBody>
      </p:sp>
      <p:sp>
        <p:nvSpPr>
          <p:cNvPr id="6" name="Text 4"/>
          <p:cNvSpPr/>
          <p:nvPr/>
        </p:nvSpPr>
        <p:spPr>
          <a:xfrm>
            <a:off x="8013874" y="307777"/>
            <a:ext cx="813160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kern="0" spc="151" dirty="0">
                <a:solidFill>
                  <a:srgbClr val="B6B1A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조각조각</a:t>
            </a:r>
            <a:endParaRPr lang="en-US" sz="1080" dirty="0"/>
          </a:p>
        </p:txBody>
      </p:sp>
      <p:sp>
        <p:nvSpPr>
          <p:cNvPr id="7" name="Text 5"/>
          <p:cNvSpPr/>
          <p:nvPr/>
        </p:nvSpPr>
        <p:spPr>
          <a:xfrm>
            <a:off x="548580" y="605730"/>
            <a:ext cx="5124108" cy="3095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kern="0" spc="-18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오늘의 난이도 합성 — 계획의 정도와 강도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54736" y="634305"/>
            <a:ext cx="1762125" cy="2571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4666245" y="722375"/>
            <a:ext cx="80962" cy="80962"/>
          </a:xfrm>
          <a:prstGeom prst="ellipse">
            <a:avLst/>
          </a:prstGeom>
          <a:solidFill>
            <a:srgbClr val="E2553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4802684" y="669578"/>
            <a:ext cx="1881441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논의 중 — 다음 회의 택1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547688" y="1015864"/>
            <a:ext cx="8048625" cy="347663"/>
          </a:xfrm>
          <a:prstGeom prst="roundRect">
            <a:avLst>
              <a:gd name="adj" fmla="val 28931"/>
            </a:avLst>
          </a:prstGeom>
          <a:solidFill>
            <a:srgbClr val="4A443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713110" y="1077888"/>
            <a:ext cx="961673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20" b="1" dirty="0">
                <a:solidFill>
                  <a:srgbClr val="FDFB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난이도 = clamp( 밴드 B + 기분 보정</a:t>
            </a:r>
            <a:r>
              <a:rPr lang="en-US" sz="1220" b="1" dirty="0">
                <a:solidFill>
                  <a:srgbClr val="FFD55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?</a:t>
            </a:r>
            <a:r>
              <a:rPr lang="en-US" sz="1220" b="1" dirty="0">
                <a:solidFill>
                  <a:srgbClr val="FDFB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+ 토글 T )</a:t>
            </a:r>
            <a:r>
              <a:rPr lang="en-US" sz="1080" dirty="0">
                <a:solidFill>
                  <a:srgbClr val="D8D6D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공통 전제: 토글 ±1 · 캡 상한 · 클램프 마지막 — 합치는 방식만 빈칸</a:t>
            </a:r>
            <a:endParaRPr lang="en-US" sz="1220" dirty="0"/>
          </a:p>
        </p:txBody>
      </p:sp>
      <p:sp>
        <p:nvSpPr>
          <p:cNvPr id="13" name="Text 11"/>
          <p:cNvSpPr/>
          <p:nvPr/>
        </p:nvSpPr>
        <p:spPr>
          <a:xfrm>
            <a:off x="548580" y="1454572"/>
            <a:ext cx="384426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레퍼런스 조사 — 문헌이 '강도'에 대해 말하는 것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097" y="1716360"/>
            <a:ext cx="4024312" cy="461962"/>
          </a:xfrm>
          <a:prstGeom prst="roundRect">
            <a:avLst>
              <a:gd name="adj" fmla="val 19794"/>
            </a:avLst>
          </a:prstGeom>
          <a:solidFill>
            <a:srgbClr val="FFFFFF"/>
          </a:solidFill>
          <a:ln/>
          <a:effectLst>
            <a:outerShdw blurRad="82296" dist="25718" dir="5400000" algn="bl" rotWithShape="0">
              <a:srgbClr val="4A443A">
                <a:alpha val="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676573" y="1757437"/>
            <a:ext cx="4666342" cy="370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8"/>
              </a:lnSpc>
              <a:buNone/>
            </a:pPr>
            <a:r>
              <a:rPr lang="en-US" sz="1080" b="1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Lejuez 외 2001·2011, BATD 매뉴얼</a:t>
            </a:r>
            <a:r>
              <a:rPr lang="en-US" sz="1080" dirty="0">
                <a:solidFill>
                  <a:srgbClr val="8982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— 활동 위계: 아래 숙달</a:t>
            </a:r>
            <a:endParaRPr lang="en-US" sz="1080" dirty="0"/>
          </a:p>
          <a:p>
            <a:pPr marL="0" indent="0" algn="l">
              <a:lnSpc>
                <a:spcPts val="1458"/>
              </a:lnSpc>
              <a:buNone/>
            </a:pPr>
            <a:r>
              <a:rPr lang="en-US" sz="1080" dirty="0">
                <a:solidFill>
                  <a:srgbClr val="8982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확인 후 위로 · 밴드 구조의 원형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548097" y="2230636"/>
            <a:ext cx="4024312" cy="461962"/>
          </a:xfrm>
          <a:prstGeom prst="roundRect">
            <a:avLst>
              <a:gd name="adj" fmla="val 19794"/>
            </a:avLst>
          </a:prstGeom>
          <a:solidFill>
            <a:srgbClr val="FFFFFF"/>
          </a:solidFill>
          <a:ln/>
          <a:effectLst>
            <a:outerShdw blurRad="82296" dist="25718" dir="5400000" algn="bl" rotWithShape="0">
              <a:srgbClr val="4A443A">
                <a:alpha val="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676573" y="2271713"/>
            <a:ext cx="4723514" cy="370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8"/>
              </a:lnSpc>
              <a:buNone/>
            </a:pPr>
            <a:r>
              <a:rPr lang="en-US" sz="1080" b="1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Martell 외 2001, BA 10대 원칙</a:t>
            </a:r>
            <a:r>
              <a:rPr lang="en-US" sz="1080" dirty="0">
                <a:solidFill>
                  <a:srgbClr val="8982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— '기분이 아니라 계획대로' ·</a:t>
            </a:r>
            <a:endParaRPr lang="en-US" sz="1080" dirty="0"/>
          </a:p>
          <a:p>
            <a:pPr marL="0" indent="0" algn="l">
              <a:lnSpc>
                <a:spcPts val="1458"/>
              </a:lnSpc>
              <a:buNone/>
            </a:pPr>
            <a:r>
              <a:rPr lang="en-US" sz="1080" dirty="0">
                <a:solidFill>
                  <a:srgbClr val="8982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기분의 자동 감산은 BA 정신과 긴장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548097" y="2744912"/>
            <a:ext cx="4024312" cy="461962"/>
          </a:xfrm>
          <a:prstGeom prst="roundRect">
            <a:avLst>
              <a:gd name="adj" fmla="val 19794"/>
            </a:avLst>
          </a:prstGeom>
          <a:solidFill>
            <a:srgbClr val="FFFFFF"/>
          </a:solidFill>
          <a:ln/>
          <a:effectLst>
            <a:outerShdw blurRad="82296" dist="25718" dir="5400000" algn="bl" rotWithShape="0">
              <a:srgbClr val="4A443A">
                <a:alpha val="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676573" y="2785988"/>
            <a:ext cx="4659377" cy="370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8"/>
              </a:lnSpc>
              <a:buNone/>
            </a:pPr>
            <a:r>
              <a:rPr lang="en-US" sz="1080" b="1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Beck 외 1979, graded task</a:t>
            </a:r>
            <a:r>
              <a:rPr lang="en-US" sz="1080" dirty="0">
                <a:solidFill>
                  <a:srgbClr val="8982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— 실패 확률 높은 날 낮추는 게</a:t>
            </a:r>
            <a:endParaRPr lang="en-US" sz="1080" dirty="0"/>
          </a:p>
          <a:p>
            <a:pPr marL="0" indent="0" algn="l">
              <a:lnSpc>
                <a:spcPts val="1458"/>
              </a:lnSpc>
              <a:buNone/>
            </a:pPr>
            <a:r>
              <a:rPr lang="en-US" sz="1080" dirty="0">
                <a:solidFill>
                  <a:srgbClr val="8982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정당하다는 반대편 근거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548097" y="3259187"/>
            <a:ext cx="4024312" cy="461962"/>
          </a:xfrm>
          <a:prstGeom prst="roundRect">
            <a:avLst>
              <a:gd name="adj" fmla="val 19794"/>
            </a:avLst>
          </a:prstGeom>
          <a:solidFill>
            <a:srgbClr val="FFFFFF"/>
          </a:solidFill>
          <a:ln/>
          <a:effectLst>
            <a:outerShdw blurRad="82296" dist="25718" dir="5400000" algn="bl" rotWithShape="0">
              <a:srgbClr val="4A443A">
                <a:alpha val="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676573" y="3300264"/>
            <a:ext cx="4689850" cy="370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8"/>
              </a:lnSpc>
              <a:buNone/>
            </a:pPr>
            <a:r>
              <a:rPr lang="en-US" sz="1080" b="1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JMIR Mental Health 2024, 자동화 BA 앱 RCT</a:t>
            </a:r>
            <a:r>
              <a:rPr lang="en-US" sz="1080" dirty="0">
                <a:solidFill>
                  <a:srgbClr val="8982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— 자동화도</a:t>
            </a:r>
            <a:endParaRPr lang="en-US" sz="1080" dirty="0"/>
          </a:p>
          <a:p>
            <a:pPr marL="0" indent="0" algn="l">
              <a:lnSpc>
                <a:spcPts val="1458"/>
              </a:lnSpc>
              <a:buNone/>
            </a:pPr>
            <a:r>
              <a:rPr lang="en-US" sz="1080" dirty="0">
                <a:solidFill>
                  <a:srgbClr val="8982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효과 · 단 개인화·점진성이 핵심</a:t>
            </a:r>
            <a:endParaRPr lang="en-US" sz="1080" dirty="0"/>
          </a:p>
        </p:txBody>
      </p:sp>
      <p:sp>
        <p:nvSpPr>
          <p:cNvPr id="22" name="Text 20"/>
          <p:cNvSpPr/>
          <p:nvPr/>
        </p:nvSpPr>
        <p:spPr>
          <a:xfrm>
            <a:off x="4736455" y="1454572"/>
            <a:ext cx="334364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 가지 안 — 기분을 어디까지 개입시키나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737125" y="1715095"/>
            <a:ext cx="3857625" cy="709613"/>
          </a:xfrm>
          <a:prstGeom prst="roundRect">
            <a:avLst>
              <a:gd name="adj" fmla="val 1288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4855294" y="1776859"/>
            <a:ext cx="2662699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 · 합산형 </a:t>
            </a:r>
            <a:r>
              <a:rPr lang="en-US" sz="1150" b="1" dirty="0">
                <a:solidFill>
                  <a:srgbClr val="8982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clamp(B + 기분 + T)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855294" y="1997422"/>
            <a:ext cx="4633548" cy="370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8"/>
              </a:lnSpc>
              <a:buNone/>
            </a:pPr>
            <a:r>
              <a:rPr lang="en-US" sz="1080" dirty="0">
                <a:solidFill>
                  <a:srgbClr val="8982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단순·예측 가능 — 기분 나쁜 날 '도전'을 골라도 조용히 '보통'이</a:t>
            </a:r>
            <a:endParaRPr lang="en-US" sz="1080" dirty="0"/>
          </a:p>
          <a:p>
            <a:pPr marL="0" indent="0" algn="l">
              <a:lnSpc>
                <a:spcPts val="1458"/>
              </a:lnSpc>
              <a:buNone/>
            </a:pPr>
            <a:r>
              <a:rPr lang="en-US" sz="1080" dirty="0">
                <a:solidFill>
                  <a:srgbClr val="8982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됨. 선택이 무력화</a:t>
            </a:r>
            <a:endParaRPr lang="en-US" sz="1080" dirty="0"/>
          </a:p>
        </p:txBody>
      </p:sp>
      <p:sp>
        <p:nvSpPr>
          <p:cNvPr id="26" name="Shape 24"/>
          <p:cNvSpPr/>
          <p:nvPr/>
        </p:nvSpPr>
        <p:spPr>
          <a:xfrm>
            <a:off x="4737125" y="2474491"/>
            <a:ext cx="3857625" cy="709613"/>
          </a:xfrm>
          <a:prstGeom prst="roundRect">
            <a:avLst>
              <a:gd name="adj" fmla="val 12886"/>
            </a:avLst>
          </a:prstGeom>
          <a:solidFill>
            <a:srgbClr val="AADCDC">
              <a:alpha val="20000"/>
            </a:srgbClr>
          </a:solidFill>
          <a:ln/>
          <a:effectLst>
            <a:outerShdw blurRad="101600" dist="50800" dir="16200000" algn="bl" rotWithShape="0">
              <a:srgbClr val="A8DADC">
                <a:alpha val="10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4855294" y="2536254"/>
            <a:ext cx="4452164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 · 계획 우선형 </a:t>
            </a:r>
            <a:r>
              <a:rPr lang="en-US" sz="1150" b="1" dirty="0">
                <a:solidFill>
                  <a:srgbClr val="8982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clamp(B + T), 기분은 기본값 추천에만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855294" y="2756818"/>
            <a:ext cx="4711809" cy="370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8"/>
              </a:lnSpc>
              <a:buNone/>
            </a:pPr>
            <a:r>
              <a:rPr lang="en-US" sz="1080" dirty="0">
                <a:solidFill>
                  <a:srgbClr val="8982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기분 바닥이면 토글 기본값만 '가볍게' — 선택은 침해 안 함 · BA</a:t>
            </a:r>
            <a:endParaRPr lang="en-US" sz="1080" dirty="0"/>
          </a:p>
          <a:p>
            <a:pPr marL="0" indent="0" algn="l">
              <a:lnSpc>
                <a:spcPts val="1458"/>
              </a:lnSpc>
              <a:buNone/>
            </a:pPr>
            <a:r>
              <a:rPr lang="en-US" sz="1080" dirty="0">
                <a:solidFill>
                  <a:srgbClr val="8982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원칙에 가장 충실</a:t>
            </a:r>
            <a:endParaRPr lang="en-US" sz="1080" dirty="0"/>
          </a:p>
        </p:txBody>
      </p:sp>
      <p:sp>
        <p:nvSpPr>
          <p:cNvPr id="29" name="Shape 27"/>
          <p:cNvSpPr/>
          <p:nvPr/>
        </p:nvSpPr>
        <p:spPr>
          <a:xfrm>
            <a:off x="4737125" y="3233886"/>
            <a:ext cx="3857625" cy="709613"/>
          </a:xfrm>
          <a:prstGeom prst="roundRect">
            <a:avLst>
              <a:gd name="adj" fmla="val 1288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4855294" y="3295650"/>
            <a:ext cx="4590403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 · 안전 우선형 </a:t>
            </a:r>
            <a:r>
              <a:rPr lang="en-US" sz="1150" b="1" dirty="0">
                <a:solidFill>
                  <a:srgbClr val="8982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clamp(B + T), 기분 바닥날엔 '도전' 숨김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855294" y="3516213"/>
            <a:ext cx="4551901" cy="370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8"/>
              </a:lnSpc>
              <a:buNone/>
            </a:pPr>
            <a:r>
              <a:rPr lang="en-US" sz="1080" dirty="0">
                <a:solidFill>
                  <a:srgbClr val="8982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저단계 보호 최대 — 선택지 제거가 '오늘은 안 된다'는 평가로</a:t>
            </a:r>
            <a:endParaRPr lang="en-US" sz="1080" dirty="0"/>
          </a:p>
          <a:p>
            <a:pPr marL="0" indent="0" algn="l">
              <a:lnSpc>
                <a:spcPts val="1458"/>
              </a:lnSpc>
              <a:buNone/>
            </a:pPr>
            <a:r>
              <a:rPr lang="en-US" sz="1080" dirty="0">
                <a:solidFill>
                  <a:srgbClr val="8982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읽힐 위험</a:t>
            </a:r>
            <a:endParaRPr lang="en-US" sz="1080" dirty="0"/>
          </a:p>
        </p:txBody>
      </p:sp>
      <p:sp>
        <p:nvSpPr>
          <p:cNvPr id="32" name="Shape 30"/>
          <p:cNvSpPr/>
          <p:nvPr/>
        </p:nvSpPr>
        <p:spPr>
          <a:xfrm>
            <a:off x="547688" y="4247480"/>
            <a:ext cx="8048625" cy="485775"/>
          </a:xfrm>
          <a:prstGeom prst="roundRect">
            <a:avLst>
              <a:gd name="adj" fmla="val 20706"/>
            </a:avLst>
          </a:prstGeom>
          <a:solidFill>
            <a:srgbClr val="A7DBDB">
              <a:alpha val="25098"/>
            </a:srgbClr>
          </a:solidFill>
          <a:ln/>
          <a:effectLst>
            <a:outerShdw blurRad="101600" dist="50800" dir="16200000" algn="bl" rotWithShape="0">
              <a:srgbClr val="A8DADC">
                <a:alpha val="10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704366" y="4368924"/>
            <a:ext cx="866775" cy="242888"/>
          </a:xfrm>
          <a:prstGeom prst="roundRect">
            <a:avLst>
              <a:gd name="adj" fmla="val 50000"/>
            </a:avLst>
          </a:prstGeom>
          <a:solidFill>
            <a:srgbClr val="A8DAD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804490" y="4397053"/>
            <a:ext cx="923635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작성자 소견</a:t>
            </a:r>
            <a:endParaRPr lang="en-US" sz="1080" dirty="0"/>
          </a:p>
        </p:txBody>
      </p:sp>
      <p:sp>
        <p:nvSpPr>
          <p:cNvPr id="35" name="Text 33"/>
          <p:cNvSpPr/>
          <p:nvPr/>
        </p:nvSpPr>
        <p:spPr>
          <a:xfrm>
            <a:off x="1681237" y="4300463"/>
            <a:ext cx="8465254" cy="370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8"/>
              </a:lnSpc>
              <a:buNone/>
            </a:pPr>
            <a:r>
              <a:rPr lang="en-US" sz="1080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B안 지지 — '기분 독립 행동'과 '선택권 존중'에 동시 부합 · 실패 위험은 미완료 −1과 회피 재축소가 이미 흡수 · 다음</a:t>
            </a:r>
            <a:endParaRPr lang="en-US" sz="1080" dirty="0"/>
          </a:p>
          <a:p>
            <a:pPr marL="0" indent="0" algn="l">
              <a:lnSpc>
                <a:spcPts val="1458"/>
              </a:lnSpc>
              <a:buNone/>
            </a:pPr>
            <a:r>
              <a:rPr lang="en-US" sz="1080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회의에서 택1 (23장)</a:t>
            </a:r>
            <a:endParaRPr lang="en-US" sz="1080" dirty="0"/>
          </a:p>
        </p:txBody>
      </p:sp>
      <p:sp>
        <p:nvSpPr>
          <p:cNvPr id="36" name="Text 34"/>
          <p:cNvSpPr/>
          <p:nvPr/>
        </p:nvSpPr>
        <p:spPr>
          <a:xfrm>
            <a:off x="548580" y="4741664"/>
            <a:ext cx="2112645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8982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BA 챌린지 사이클 개선 보고</a:t>
            </a:r>
            <a:endParaRPr lang="en-US" sz="1080" dirty="0"/>
          </a:p>
        </p:txBody>
      </p:sp>
      <p:sp>
        <p:nvSpPr>
          <p:cNvPr id="37" name="Text 35"/>
          <p:cNvSpPr/>
          <p:nvPr/>
        </p:nvSpPr>
        <p:spPr>
          <a:xfrm>
            <a:off x="8159279" y="4741664"/>
            <a:ext cx="624133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8982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18 / 23</a:t>
            </a:r>
            <a:endParaRPr lang="en-US" sz="108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547911" y="283890"/>
            <a:ext cx="1081087" cy="285750"/>
          </a:xfrm>
          <a:prstGeom prst="roundRect">
            <a:avLst>
              <a:gd name="adj" fmla="val 50000"/>
            </a:avLst>
          </a:prstGeom>
          <a:solidFill>
            <a:srgbClr val="A2D2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677205" y="386246"/>
            <a:ext cx="80962" cy="80962"/>
          </a:xfrm>
          <a:prstGeom prst="roundRect">
            <a:avLst>
              <a:gd name="adj" fmla="val 28235"/>
            </a:avLst>
          </a:prstGeom>
          <a:solidFill>
            <a:srgbClr val="4A443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822796" y="333449"/>
            <a:ext cx="937952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 알고리즘</a:t>
            </a:r>
            <a:endParaRPr lang="en-US" sz="1080" dirty="0"/>
          </a:p>
        </p:txBody>
      </p:sp>
      <p:sp>
        <p:nvSpPr>
          <p:cNvPr id="6" name="Text 4"/>
          <p:cNvSpPr/>
          <p:nvPr/>
        </p:nvSpPr>
        <p:spPr>
          <a:xfrm>
            <a:off x="8013874" y="333449"/>
            <a:ext cx="813160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kern="0" spc="151" dirty="0">
                <a:solidFill>
                  <a:srgbClr val="B6B1A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조각조각</a:t>
            </a:r>
            <a:endParaRPr lang="en-US" sz="1080" dirty="0"/>
          </a:p>
        </p:txBody>
      </p:sp>
      <p:sp>
        <p:nvSpPr>
          <p:cNvPr id="7" name="Text 5"/>
          <p:cNvSpPr/>
          <p:nvPr/>
        </p:nvSpPr>
        <p:spPr>
          <a:xfrm>
            <a:off x="548580" y="739080"/>
            <a:ext cx="2384576" cy="3381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80" b="1" kern="0" spc="-20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흐름 지도</a:t>
            </a:r>
            <a:endParaRPr lang="en-US" sz="1980" dirty="0"/>
          </a:p>
        </p:txBody>
      </p:sp>
      <p:sp>
        <p:nvSpPr>
          <p:cNvPr id="8" name="Text 6"/>
          <p:cNvSpPr/>
          <p:nvPr/>
        </p:nvSpPr>
        <p:spPr>
          <a:xfrm>
            <a:off x="2338908" y="848618"/>
            <a:ext cx="2099682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-20" dirty="0">
                <a:solidFill>
                  <a:srgbClr val="8982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무엇이 무엇을 움직이나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9325" y="1252500"/>
            <a:ext cx="2309813" cy="3067050"/>
          </a:xfrm>
          <a:prstGeom prst="roundRect">
            <a:avLst>
              <a:gd name="adj" fmla="val 5146"/>
            </a:avLst>
          </a:prstGeom>
          <a:solidFill>
            <a:srgbClr val="FFFFFF"/>
          </a:solidFill>
          <a:ln/>
          <a:effectLst>
            <a:outerShdw blurRad="154305" dist="51435" dir="5400000" algn="bl" rotWithShape="0">
              <a:srgbClr val="4A443A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676721" y="1379339"/>
            <a:ext cx="471488" cy="257175"/>
          </a:xfrm>
          <a:prstGeom prst="roundRect">
            <a:avLst>
              <a:gd name="adj" fmla="val 50000"/>
            </a:avLst>
          </a:prstGeom>
          <a:solidFill>
            <a:srgbClr val="A8DAD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786259" y="1414611"/>
            <a:ext cx="385286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입력</a:t>
            </a: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777106" y="1779612"/>
            <a:ext cx="1830072" cy="1666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15"/>
              </a:lnSpc>
              <a:buNone/>
            </a:pPr>
            <a:r>
              <a:rPr lang="en-US" sz="1080" dirty="0">
                <a:solidFill>
                  <a:srgbClr val="4A443A"/>
                </a:solidFill>
                <a:highlight>
                  <a:srgbClr val="F5F1E6"/>
                </a:highlight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시작 체크리스트 15문항</a:t>
            </a:r>
            <a:endParaRPr lang="en-US" sz="1080" dirty="0"/>
          </a:p>
          <a:p>
            <a:pPr marL="0" indent="0" algn="l">
              <a:lnSpc>
                <a:spcPts val="2915"/>
              </a:lnSpc>
              <a:buNone/>
            </a:pPr>
            <a:r>
              <a:rPr lang="en-US" sz="1080" dirty="0">
                <a:solidFill>
                  <a:srgbClr val="4A443A"/>
                </a:solidFill>
                <a:highlight>
                  <a:srgbClr val="F5F1E6"/>
                </a:highlight>
                <a:latin typeface="Pretendard" pitchFamily="34" charset="0"/>
                <a:ea typeface="Pretendard" pitchFamily="34" charset="-122"/>
                <a:cs typeface="Pretendard" pitchFamily="34" charset="-120"/>
              </a:rPr>
              <a:t>'나 알아가기' 25문항</a:t>
            </a:r>
            <a:endParaRPr lang="en-US" sz="1080" dirty="0"/>
          </a:p>
          <a:p>
            <a:pPr marL="0" indent="0" algn="l">
              <a:lnSpc>
                <a:spcPts val="2915"/>
              </a:lnSpc>
              <a:buNone/>
            </a:pPr>
            <a:r>
              <a:rPr lang="en-US" sz="1080" dirty="0">
                <a:solidFill>
                  <a:srgbClr val="4A443A"/>
                </a:solidFill>
                <a:highlight>
                  <a:srgbClr val="F5F1E6"/>
                </a:highlight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데일리 2문항</a:t>
            </a:r>
            <a:endParaRPr lang="en-US" sz="1080" dirty="0"/>
          </a:p>
          <a:p>
            <a:pPr marL="0" indent="0" algn="l">
              <a:lnSpc>
                <a:spcPts val="2915"/>
              </a:lnSpc>
              <a:buNone/>
            </a:pPr>
            <a:r>
              <a:rPr lang="en-US" sz="1080" dirty="0">
                <a:solidFill>
                  <a:srgbClr val="4A443A"/>
                </a:solidFill>
                <a:highlight>
                  <a:srgbClr val="F5F1E6"/>
                </a:highlight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사후 P/M</a:t>
            </a:r>
            <a:endParaRPr lang="en-US" sz="1080" dirty="0"/>
          </a:p>
          <a:p>
            <a:pPr marL="0" indent="0" algn="l">
              <a:lnSpc>
                <a:spcPts val="2915"/>
              </a:lnSpc>
              <a:buNone/>
            </a:pPr>
            <a:r>
              <a:rPr lang="en-US" sz="1080" dirty="0">
                <a:solidFill>
                  <a:srgbClr val="4A443A"/>
                </a:solidFill>
                <a:highlight>
                  <a:srgbClr val="F5F1E6"/>
                </a:highlight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완료 / 건너뜀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2951262" y="2635746"/>
            <a:ext cx="342528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730" b="1" dirty="0">
                <a:solidFill>
                  <a:srgbClr val="A2D2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730" dirty="0"/>
          </a:p>
        </p:txBody>
      </p:sp>
      <p:sp>
        <p:nvSpPr>
          <p:cNvPr id="14" name="Shape 12"/>
          <p:cNvSpPr/>
          <p:nvPr/>
        </p:nvSpPr>
        <p:spPr>
          <a:xfrm>
            <a:off x="3262275" y="1252500"/>
            <a:ext cx="2619375" cy="3067050"/>
          </a:xfrm>
          <a:prstGeom prst="roundRect">
            <a:avLst>
              <a:gd name="adj" fmla="val 4538"/>
            </a:avLst>
          </a:prstGeom>
          <a:solidFill>
            <a:srgbClr val="F5F1E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3389040" y="1379339"/>
            <a:ext cx="1143000" cy="257175"/>
          </a:xfrm>
          <a:prstGeom prst="roundRect">
            <a:avLst>
              <a:gd name="adj" fmla="val 50000"/>
            </a:avLst>
          </a:prstGeom>
          <a:solidFill>
            <a:srgbClr val="4A443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3499842" y="1414611"/>
            <a:ext cx="1254963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FDFB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엔진 (결정 규칙)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3490689" y="1774478"/>
            <a:ext cx="2107518" cy="1934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3"/>
              </a:lnSpc>
              <a:buNone/>
            </a:pPr>
            <a:r>
              <a:rPr lang="en-US" sz="1080" dirty="0">
                <a:solidFill>
                  <a:srgbClr val="4A443A"/>
                </a:solidFill>
                <a:highlight>
                  <a:srgbClr val="FFFFFF"/>
                </a:highlight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슬롯 생성</a:t>
            </a:r>
            <a:endParaRPr lang="en-US" sz="1080" dirty="0"/>
          </a:p>
          <a:p>
            <a:pPr marL="0" indent="0" algn="l">
              <a:lnSpc>
                <a:spcPts val="2753"/>
              </a:lnSpc>
              <a:buNone/>
            </a:pPr>
            <a:r>
              <a:rPr lang="en-US" sz="1080" b="1" dirty="0">
                <a:solidFill>
                  <a:srgbClr val="4A443A"/>
                </a:solidFill>
                <a:highlight>
                  <a:srgbClr val="FFFFFF"/>
                </a:highlight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난이도 합성 — 논의 중</a:t>
            </a:r>
            <a:endParaRPr lang="en-US" sz="1080" dirty="0"/>
          </a:p>
          <a:p>
            <a:pPr marL="0" indent="0" algn="l">
              <a:lnSpc>
                <a:spcPts val="2753"/>
              </a:lnSpc>
              <a:buNone/>
            </a:pPr>
            <a:r>
              <a:rPr lang="en-US" sz="1080" dirty="0">
                <a:solidFill>
                  <a:srgbClr val="4A443A"/>
                </a:solidFill>
                <a:highlight>
                  <a:srgbClr val="FFFFFF"/>
                </a:highlight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다음날 밴드 조정</a:t>
            </a:r>
            <a:endParaRPr lang="en-US" sz="1080" dirty="0"/>
          </a:p>
          <a:p>
            <a:pPr marL="0" indent="0" algn="l">
              <a:lnSpc>
                <a:spcPts val="2753"/>
              </a:lnSpc>
              <a:buNone/>
            </a:pPr>
            <a:r>
              <a:rPr lang="en-US" sz="1080" dirty="0">
                <a:solidFill>
                  <a:srgbClr val="4A443A"/>
                </a:solidFill>
                <a:highlight>
                  <a:srgbClr val="FFFFFF"/>
                </a:highlight>
                <a:latin typeface="Pretendard" pitchFamily="34" charset="0"/>
                <a:ea typeface="Pretendard" pitchFamily="34" charset="-122"/>
                <a:cs typeface="Pretendard" pitchFamily="34" charset="-120"/>
              </a:rPr>
              <a:t>(주1회) 진급 배치</a:t>
            </a:r>
            <a:endParaRPr lang="en-US" sz="1080" dirty="0"/>
          </a:p>
          <a:p>
            <a:pPr marL="0" indent="0" algn="l">
              <a:lnSpc>
                <a:spcPts val="2753"/>
              </a:lnSpc>
              <a:buNone/>
            </a:pPr>
            <a:r>
              <a:rPr lang="en-US" sz="1080" dirty="0">
                <a:solidFill>
                  <a:srgbClr val="4A443A"/>
                </a:solidFill>
                <a:highlight>
                  <a:srgbClr val="FFFFFF"/>
                </a:highlight>
                <a:latin typeface="Pretendard" pitchFamily="34" charset="0"/>
                <a:ea typeface="Pretendard" pitchFamily="34" charset="-122"/>
                <a:cs typeface="Pretendard" pitchFamily="34" charset="-120"/>
              </a:rPr>
              <a:t>(4주) 게이트 재평가</a:t>
            </a:r>
            <a:endParaRPr lang="en-US" sz="1080" dirty="0"/>
          </a:p>
          <a:p>
            <a:pPr marL="0" indent="0" algn="l">
              <a:lnSpc>
                <a:spcPts val="2753"/>
              </a:lnSpc>
              <a:buNone/>
            </a:pPr>
            <a:r>
              <a:rPr lang="en-US" sz="1080" dirty="0">
                <a:solidFill>
                  <a:srgbClr val="4A443A"/>
                </a:solidFill>
                <a:highlight>
                  <a:srgbClr val="FFFFFF"/>
                </a:highlight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강화 피드백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5973142" y="2635746"/>
            <a:ext cx="342528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730" b="1" dirty="0">
                <a:solidFill>
                  <a:srgbClr val="A2D2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730" dirty="0"/>
          </a:p>
        </p:txBody>
      </p:sp>
      <p:sp>
        <p:nvSpPr>
          <p:cNvPr id="19" name="Shape 17"/>
          <p:cNvSpPr/>
          <p:nvPr/>
        </p:nvSpPr>
        <p:spPr>
          <a:xfrm>
            <a:off x="6284788" y="1252500"/>
            <a:ext cx="2309813" cy="3067050"/>
          </a:xfrm>
          <a:prstGeom prst="roundRect">
            <a:avLst>
              <a:gd name="adj" fmla="val 5146"/>
            </a:avLst>
          </a:prstGeom>
          <a:solidFill>
            <a:srgbClr val="FFFFFF"/>
          </a:solidFill>
          <a:ln/>
          <a:effectLst>
            <a:outerShdw blurRad="154305" dist="51435" dir="5400000" algn="bl" rotWithShape="0">
              <a:srgbClr val="4A443A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6412520" y="1379339"/>
            <a:ext cx="1085850" cy="257175"/>
          </a:xfrm>
          <a:prstGeom prst="roundRect">
            <a:avLst>
              <a:gd name="adj" fmla="val 50000"/>
            </a:avLst>
          </a:prstGeom>
          <a:solidFill>
            <a:srgbClr val="FFD55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6521723" y="1414611"/>
            <a:ext cx="118482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출력 · 행동유도</a:t>
            </a:r>
            <a:endParaRPr lang="en-US" sz="1080" dirty="0"/>
          </a:p>
        </p:txBody>
      </p:sp>
      <p:sp>
        <p:nvSpPr>
          <p:cNvPr id="22" name="Text 20"/>
          <p:cNvSpPr/>
          <p:nvPr/>
        </p:nvSpPr>
        <p:spPr>
          <a:xfrm>
            <a:off x="6512570" y="1774478"/>
            <a:ext cx="1462080" cy="1584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3"/>
              </a:lnSpc>
              <a:buNone/>
            </a:pPr>
            <a:r>
              <a:rPr lang="en-US" sz="1080" dirty="0">
                <a:solidFill>
                  <a:srgbClr val="4A443A"/>
                </a:solidFill>
                <a:highlight>
                  <a:srgbClr val="F5F1E6"/>
                </a:highlight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내일의 미션 4조각</a:t>
            </a:r>
            <a:endParaRPr lang="en-US" sz="1080" dirty="0"/>
          </a:p>
          <a:p>
            <a:pPr marL="0" indent="0" algn="l">
              <a:lnSpc>
                <a:spcPts val="2753"/>
              </a:lnSpc>
              <a:buNone/>
            </a:pPr>
            <a:r>
              <a:rPr lang="en-US" sz="1080" dirty="0">
                <a:solidFill>
                  <a:srgbClr val="4A443A"/>
                </a:solidFill>
                <a:highlight>
                  <a:srgbClr val="F5F1E6"/>
                </a:highlight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난이도 기본값 넛지</a:t>
            </a:r>
            <a:endParaRPr lang="en-US" sz="1080" dirty="0"/>
          </a:p>
          <a:p>
            <a:pPr marL="0" indent="0" algn="l">
              <a:lnSpc>
                <a:spcPts val="2753"/>
              </a:lnSpc>
              <a:buNone/>
            </a:pPr>
            <a:r>
              <a:rPr lang="en-US" sz="1080" dirty="0">
                <a:solidFill>
                  <a:srgbClr val="4A443A"/>
                </a:solidFill>
                <a:highlight>
                  <a:srgbClr val="F5F1E6"/>
                </a:highlight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단계 제안 탭</a:t>
            </a:r>
            <a:endParaRPr lang="en-US" sz="1080" dirty="0"/>
          </a:p>
          <a:p>
            <a:pPr marL="0" indent="0" algn="l">
              <a:lnSpc>
                <a:spcPts val="2753"/>
              </a:lnSpc>
              <a:buNone/>
            </a:pPr>
            <a:r>
              <a:rPr lang="en-US" sz="1080" dirty="0">
                <a:solidFill>
                  <a:srgbClr val="4A443A"/>
                </a:solidFill>
                <a:highlight>
                  <a:srgbClr val="F5F1E6"/>
                </a:highlight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마이크로 피드백</a:t>
            </a:r>
            <a:endParaRPr lang="en-US" sz="1080" dirty="0"/>
          </a:p>
          <a:p>
            <a:pPr marL="0" indent="0" algn="l">
              <a:lnSpc>
                <a:spcPts val="2753"/>
              </a:lnSpc>
              <a:buNone/>
            </a:pPr>
            <a:r>
              <a:rPr lang="en-US" sz="1080" dirty="0">
                <a:solidFill>
                  <a:srgbClr val="4A443A"/>
                </a:solidFill>
                <a:highlight>
                  <a:srgbClr val="F5F1E6"/>
                </a:highlight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기분 × 활동 그래프</a:t>
            </a:r>
            <a:endParaRPr lang="en-US" sz="1080" dirty="0"/>
          </a:p>
        </p:txBody>
      </p:sp>
      <p:sp>
        <p:nvSpPr>
          <p:cNvPr id="23" name="Shape 21"/>
          <p:cNvSpPr/>
          <p:nvPr/>
        </p:nvSpPr>
        <p:spPr>
          <a:xfrm>
            <a:off x="549027" y="4481066"/>
            <a:ext cx="90488" cy="90488"/>
          </a:xfrm>
          <a:prstGeom prst="ellipse">
            <a:avLst/>
          </a:prstGeom>
          <a:solidFill>
            <a:srgbClr val="E2553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713110" y="4432995"/>
            <a:ext cx="6700942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8982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결정 규칙은 15~17장의 규정 1·2·3과 대응 — 남은 하나는 오늘 난이도 합성(18장), 논의 중</a:t>
            </a:r>
            <a:endParaRPr lang="en-US" sz="1080" dirty="0"/>
          </a:p>
        </p:txBody>
      </p:sp>
      <p:sp>
        <p:nvSpPr>
          <p:cNvPr id="25" name="Text 23"/>
          <p:cNvSpPr/>
          <p:nvPr/>
        </p:nvSpPr>
        <p:spPr>
          <a:xfrm>
            <a:off x="548580" y="4715917"/>
            <a:ext cx="2112645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8982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BA 챌린지 사이클 개선 보고</a:t>
            </a:r>
            <a:endParaRPr lang="en-US" sz="1080" dirty="0"/>
          </a:p>
        </p:txBody>
      </p:sp>
      <p:sp>
        <p:nvSpPr>
          <p:cNvPr id="26" name="Text 24"/>
          <p:cNvSpPr/>
          <p:nvPr/>
        </p:nvSpPr>
        <p:spPr>
          <a:xfrm>
            <a:off x="8159279" y="4715917"/>
            <a:ext cx="624133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8982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19 / 23</a:t>
            </a:r>
            <a:endParaRPr lang="en-US" sz="108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1E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547911" y="283890"/>
            <a:ext cx="1081087" cy="285750"/>
          </a:xfrm>
          <a:prstGeom prst="roundRect">
            <a:avLst>
              <a:gd name="adj" fmla="val 50000"/>
            </a:avLst>
          </a:prstGeom>
          <a:solidFill>
            <a:srgbClr val="A2D2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677205" y="386246"/>
            <a:ext cx="80962" cy="80962"/>
          </a:xfrm>
          <a:prstGeom prst="roundRect">
            <a:avLst>
              <a:gd name="adj" fmla="val 28235"/>
            </a:avLst>
          </a:prstGeom>
          <a:solidFill>
            <a:srgbClr val="4A443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822796" y="333449"/>
            <a:ext cx="937952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 알고리즘</a:t>
            </a:r>
            <a:endParaRPr lang="en-US" sz="1080" dirty="0"/>
          </a:p>
        </p:txBody>
      </p:sp>
      <p:sp>
        <p:nvSpPr>
          <p:cNvPr id="6" name="Text 4"/>
          <p:cNvSpPr/>
          <p:nvPr/>
        </p:nvSpPr>
        <p:spPr>
          <a:xfrm>
            <a:off x="8013874" y="333449"/>
            <a:ext cx="813160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kern="0" spc="151" dirty="0">
                <a:solidFill>
                  <a:srgbClr val="B1ABA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조각조각</a:t>
            </a:r>
            <a:endParaRPr lang="en-US" sz="1080" dirty="0"/>
          </a:p>
        </p:txBody>
      </p:sp>
      <p:sp>
        <p:nvSpPr>
          <p:cNvPr id="7" name="Text 5"/>
          <p:cNvSpPr/>
          <p:nvPr/>
        </p:nvSpPr>
        <p:spPr>
          <a:xfrm>
            <a:off x="548580" y="713408"/>
            <a:ext cx="1707892" cy="3381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80" b="1" kern="0" spc="-20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단계별 상태</a:t>
            </a:r>
            <a:endParaRPr lang="en-US" sz="1980" dirty="0"/>
          </a:p>
        </p:txBody>
      </p:sp>
      <p:sp>
        <p:nvSpPr>
          <p:cNvPr id="8" name="Text 6"/>
          <p:cNvSpPr/>
          <p:nvPr/>
        </p:nvSpPr>
        <p:spPr>
          <a:xfrm>
            <a:off x="1818382" y="822945"/>
            <a:ext cx="250385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-20" dirty="0">
                <a:solidFill>
                  <a:srgbClr val="8982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우리 v2 규칙: 확정 5 · 논의 1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478985" y="844525"/>
            <a:ext cx="1508514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8982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남은 논의는 다음 장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547688" y="1194867"/>
            <a:ext cx="8048625" cy="438150"/>
          </a:xfrm>
          <a:prstGeom prst="roundRect">
            <a:avLst>
              <a:gd name="adj" fmla="val 20870"/>
            </a:avLst>
          </a:prstGeom>
          <a:solidFill>
            <a:srgbClr val="FFFFFF"/>
          </a:solidFill>
          <a:ln/>
          <a:effectLst>
            <a:outerShdw blurRad="102870" dist="30861" dir="5400000" algn="bl" rotWithShape="0">
              <a:srgbClr val="4A443A">
                <a:alpha val="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743992" y="1320626"/>
            <a:ext cx="178943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4A443A"/>
                </a:solidFill>
                <a:highlight>
                  <a:srgbClr val="A8DADC"/>
                </a:highlight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996553" y="1312366"/>
            <a:ext cx="81567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밴드 조정</a:t>
            </a:r>
            <a:endParaRPr lang="en-US" sz="1170" dirty="0"/>
          </a:p>
        </p:txBody>
      </p:sp>
      <p:sp>
        <p:nvSpPr>
          <p:cNvPr id="13" name="Text 11"/>
          <p:cNvSpPr/>
          <p:nvPr/>
        </p:nvSpPr>
        <p:spPr>
          <a:xfrm>
            <a:off x="2477839" y="1320626"/>
            <a:ext cx="6064791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8982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day_result 3분기 — 상향은 숙달(M 높음 + 도전)뿐, '완료 → 하향' 칸 없음 (17장)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547688" y="1730722"/>
            <a:ext cx="8048625" cy="438150"/>
          </a:xfrm>
          <a:prstGeom prst="roundRect">
            <a:avLst>
              <a:gd name="adj" fmla="val 20870"/>
            </a:avLst>
          </a:prstGeom>
          <a:solidFill>
            <a:srgbClr val="FFFFFF"/>
          </a:solidFill>
          <a:ln/>
          <a:effectLst>
            <a:outerShdw blurRad="102870" dist="30861" dir="5400000" algn="bl" rotWithShape="0">
              <a:srgbClr val="4A443A">
                <a:alpha val="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743992" y="1856482"/>
            <a:ext cx="178943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4A443A"/>
                </a:solidFill>
                <a:highlight>
                  <a:srgbClr val="A8DADC"/>
                </a:highlight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080" dirty="0"/>
          </a:p>
        </p:txBody>
      </p:sp>
      <p:sp>
        <p:nvSpPr>
          <p:cNvPr id="16" name="Text 14"/>
          <p:cNvSpPr/>
          <p:nvPr/>
        </p:nvSpPr>
        <p:spPr>
          <a:xfrm>
            <a:off x="996553" y="1848222"/>
            <a:ext cx="843439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P/M 평정</a:t>
            </a:r>
            <a:endParaRPr lang="en-US" sz="1170" dirty="0"/>
          </a:p>
        </p:txBody>
      </p:sp>
      <p:sp>
        <p:nvSpPr>
          <p:cNvPr id="17" name="Text 15"/>
          <p:cNvSpPr/>
          <p:nvPr/>
        </p:nvSpPr>
        <p:spPr>
          <a:xfrm>
            <a:off x="2477839" y="1856482"/>
            <a:ext cx="4865333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8982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0–10 슬라이더 · 초기값 없음 · 5구간 매핑 (M→밴드 / P→즐거움)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547688" y="2266578"/>
            <a:ext cx="8048625" cy="438150"/>
          </a:xfrm>
          <a:prstGeom prst="roundRect">
            <a:avLst>
              <a:gd name="adj" fmla="val 20870"/>
            </a:avLst>
          </a:prstGeom>
          <a:solidFill>
            <a:srgbClr val="FFFFFF"/>
          </a:solidFill>
          <a:ln/>
          <a:effectLst>
            <a:outerShdw blurRad="102870" dist="30861" dir="5400000" algn="bl" rotWithShape="0">
              <a:srgbClr val="4A443A">
                <a:alpha val="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743992" y="2392338"/>
            <a:ext cx="178943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4A443A"/>
                </a:solidFill>
                <a:highlight>
                  <a:srgbClr val="A8DADC"/>
                </a:highlight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080" dirty="0"/>
          </a:p>
        </p:txBody>
      </p:sp>
      <p:sp>
        <p:nvSpPr>
          <p:cNvPr id="20" name="Text 18"/>
          <p:cNvSpPr/>
          <p:nvPr/>
        </p:nvSpPr>
        <p:spPr>
          <a:xfrm>
            <a:off x="996553" y="2384078"/>
            <a:ext cx="857079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skip 정의</a:t>
            </a:r>
            <a:endParaRPr lang="en-US" sz="1170" dirty="0"/>
          </a:p>
        </p:txBody>
      </p:sp>
      <p:sp>
        <p:nvSpPr>
          <p:cNvPr id="21" name="Text 19"/>
          <p:cNvSpPr/>
          <p:nvPr/>
        </p:nvSpPr>
        <p:spPr>
          <a:xfrm>
            <a:off x="2477839" y="2392338"/>
            <a:ext cx="2969359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8982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명시적 skip만 회피 카운트, 무응답 분리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547688" y="2802434"/>
            <a:ext cx="8048625" cy="438150"/>
          </a:xfrm>
          <a:prstGeom prst="roundRect">
            <a:avLst>
              <a:gd name="adj" fmla="val 20870"/>
            </a:avLst>
          </a:prstGeom>
          <a:solidFill>
            <a:srgbClr val="FFFFFF"/>
          </a:solidFill>
          <a:ln/>
          <a:effectLst>
            <a:outerShdw blurRad="102870" dist="30861" dir="5400000" algn="bl" rotWithShape="0">
              <a:srgbClr val="4A443A">
                <a:alpha val="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743992" y="2928193"/>
            <a:ext cx="178943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4A443A"/>
                </a:solidFill>
                <a:highlight>
                  <a:srgbClr val="A8DADC"/>
                </a:highlight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080" dirty="0"/>
          </a:p>
        </p:txBody>
      </p:sp>
      <p:sp>
        <p:nvSpPr>
          <p:cNvPr id="24" name="Text 22"/>
          <p:cNvSpPr/>
          <p:nvPr/>
        </p:nvSpPr>
        <p:spPr>
          <a:xfrm>
            <a:off x="996553" y="2919933"/>
            <a:ext cx="411406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진급</a:t>
            </a:r>
            <a:endParaRPr lang="en-US" sz="1170" dirty="0"/>
          </a:p>
        </p:txBody>
      </p:sp>
      <p:sp>
        <p:nvSpPr>
          <p:cNvPr id="25" name="Text 23"/>
          <p:cNvSpPr/>
          <p:nvPr/>
        </p:nvSpPr>
        <p:spPr>
          <a:xfrm>
            <a:off x="2477839" y="2928193"/>
            <a:ext cx="3861383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8982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주1회 배치 · 3조건 AND · 동의 탭 · 강등 없음 (신설)</a:t>
            </a:r>
            <a:endParaRPr lang="en-US" sz="1080" dirty="0"/>
          </a:p>
        </p:txBody>
      </p:sp>
      <p:sp>
        <p:nvSpPr>
          <p:cNvPr id="26" name="Shape 24"/>
          <p:cNvSpPr/>
          <p:nvPr/>
        </p:nvSpPr>
        <p:spPr>
          <a:xfrm>
            <a:off x="547688" y="3338289"/>
            <a:ext cx="8048625" cy="438150"/>
          </a:xfrm>
          <a:prstGeom prst="roundRect">
            <a:avLst>
              <a:gd name="adj" fmla="val 20870"/>
            </a:avLst>
          </a:prstGeom>
          <a:solidFill>
            <a:srgbClr val="FFFFFF"/>
          </a:solidFill>
          <a:ln/>
          <a:effectLst>
            <a:outerShdw blurRad="102870" dist="30861" dir="5400000" algn="bl" rotWithShape="0">
              <a:srgbClr val="4A443A">
                <a:alpha val="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743992" y="3464049"/>
            <a:ext cx="178943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4A443A"/>
                </a:solidFill>
                <a:highlight>
                  <a:srgbClr val="A8DADC"/>
                </a:highlight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080" dirty="0"/>
          </a:p>
        </p:txBody>
      </p:sp>
      <p:sp>
        <p:nvSpPr>
          <p:cNvPr id="28" name="Text 26"/>
          <p:cNvSpPr/>
          <p:nvPr/>
        </p:nvSpPr>
        <p:spPr>
          <a:xfrm>
            <a:off x="996553" y="3455789"/>
            <a:ext cx="116993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게이트 재평가</a:t>
            </a:r>
            <a:endParaRPr lang="en-US" sz="1170" dirty="0"/>
          </a:p>
        </p:txBody>
      </p:sp>
      <p:sp>
        <p:nvSpPr>
          <p:cNvPr id="29" name="Text 27"/>
          <p:cNvSpPr/>
          <p:nvPr/>
        </p:nvSpPr>
        <p:spPr>
          <a:xfrm>
            <a:off x="2477839" y="3464049"/>
            <a:ext cx="1548371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8982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4주 주기 독립 1문항</a:t>
            </a:r>
            <a:endParaRPr lang="en-US" sz="1080" dirty="0"/>
          </a:p>
        </p:txBody>
      </p:sp>
      <p:sp>
        <p:nvSpPr>
          <p:cNvPr id="30" name="Shape 28"/>
          <p:cNvSpPr/>
          <p:nvPr/>
        </p:nvSpPr>
        <p:spPr>
          <a:xfrm>
            <a:off x="547688" y="3874145"/>
            <a:ext cx="8048625" cy="438150"/>
          </a:xfrm>
          <a:prstGeom prst="roundRect">
            <a:avLst>
              <a:gd name="adj" fmla="val 2087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695325" y="4047976"/>
            <a:ext cx="90488" cy="90488"/>
          </a:xfrm>
          <a:prstGeom prst="ellipse">
            <a:avLst/>
          </a:prstGeom>
          <a:solidFill>
            <a:srgbClr val="E2553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895945" y="3991645"/>
            <a:ext cx="992803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난이도 합성</a:t>
            </a:r>
            <a:endParaRPr lang="en-US" sz="1170" dirty="0"/>
          </a:p>
        </p:txBody>
      </p:sp>
      <p:sp>
        <p:nvSpPr>
          <p:cNvPr id="33" name="Text 31"/>
          <p:cNvSpPr/>
          <p:nvPr/>
        </p:nvSpPr>
        <p:spPr>
          <a:xfrm>
            <a:off x="2377232" y="3999905"/>
            <a:ext cx="5387526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난이도 = 밴드 + 기분 + 토글의 합성 방식 — </a:t>
            </a:r>
            <a:r>
              <a:rPr lang="en-US" sz="1080" b="1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A/B/C 택1 남음</a:t>
            </a:r>
            <a:r>
              <a:rPr lang="en-US" sz="1080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(18장)</a:t>
            </a:r>
            <a:endParaRPr lang="en-US" sz="1080" dirty="0"/>
          </a:p>
        </p:txBody>
      </p:sp>
      <p:sp>
        <p:nvSpPr>
          <p:cNvPr id="34" name="Text 32"/>
          <p:cNvSpPr/>
          <p:nvPr/>
        </p:nvSpPr>
        <p:spPr>
          <a:xfrm>
            <a:off x="548580" y="4715917"/>
            <a:ext cx="2112645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8982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BA 챌린지 사이클 개선 보고</a:t>
            </a:r>
            <a:endParaRPr lang="en-US" sz="1080" dirty="0"/>
          </a:p>
        </p:txBody>
      </p:sp>
      <p:sp>
        <p:nvSpPr>
          <p:cNvPr id="35" name="Text 33"/>
          <p:cNvSpPr/>
          <p:nvPr/>
        </p:nvSpPr>
        <p:spPr>
          <a:xfrm>
            <a:off x="8159279" y="4715917"/>
            <a:ext cx="624133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8982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 / 23</a:t>
            </a:r>
            <a:endParaRPr lang="en-US" sz="108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549064" y="258217"/>
            <a:ext cx="1114425" cy="285750"/>
          </a:xfrm>
          <a:prstGeom prst="roundRect">
            <a:avLst>
              <a:gd name="adj" fmla="val 50000"/>
            </a:avLst>
          </a:prstGeom>
          <a:solidFill>
            <a:srgbClr val="F4A2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677205" y="360573"/>
            <a:ext cx="80962" cy="80962"/>
          </a:xfrm>
          <a:prstGeom prst="roundRect">
            <a:avLst>
              <a:gd name="adj" fmla="val 28235"/>
            </a:avLst>
          </a:prstGeom>
          <a:solidFill>
            <a:srgbClr val="4A443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822796" y="307777"/>
            <a:ext cx="984290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④ 결정 지점</a:t>
            </a:r>
            <a:endParaRPr lang="en-US" sz="1080" dirty="0"/>
          </a:p>
        </p:txBody>
      </p:sp>
      <p:sp>
        <p:nvSpPr>
          <p:cNvPr id="6" name="Text 4"/>
          <p:cNvSpPr/>
          <p:nvPr/>
        </p:nvSpPr>
        <p:spPr>
          <a:xfrm>
            <a:off x="8013874" y="307777"/>
            <a:ext cx="813160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kern="0" spc="151" dirty="0">
                <a:solidFill>
                  <a:srgbClr val="B6B1A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조각조각</a:t>
            </a:r>
            <a:endParaRPr lang="en-US" sz="1080" dirty="0"/>
          </a:p>
        </p:txBody>
      </p:sp>
      <p:sp>
        <p:nvSpPr>
          <p:cNvPr id="7" name="Text 5"/>
          <p:cNvSpPr/>
          <p:nvPr/>
        </p:nvSpPr>
        <p:spPr>
          <a:xfrm>
            <a:off x="548580" y="605730"/>
            <a:ext cx="6119448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70" b="1" kern="0" spc="-19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최종 변경 — 우리가 바꾼 것과 아직 열려 있는 것</a:t>
            </a:r>
            <a:endParaRPr lang="en-US" sz="1870" dirty="0"/>
          </a:p>
        </p:txBody>
      </p:sp>
      <p:sp>
        <p:nvSpPr>
          <p:cNvPr id="8" name="Text 6"/>
          <p:cNvSpPr/>
          <p:nvPr/>
        </p:nvSpPr>
        <p:spPr>
          <a:xfrm>
            <a:off x="548580" y="1080939"/>
            <a:ext cx="3915847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이번 개정에서 우리가 최종 바꾼 것 </a:t>
            </a:r>
            <a:r>
              <a:rPr lang="en-US" sz="1150" b="1" dirty="0">
                <a:solidFill>
                  <a:srgbClr val="8982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(기존 → 최종)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097" y="1352178"/>
            <a:ext cx="4024312" cy="538163"/>
          </a:xfrm>
          <a:prstGeom prst="roundRect">
            <a:avLst>
              <a:gd name="adj" fmla="val 18690"/>
            </a:avLst>
          </a:prstGeom>
          <a:solidFill>
            <a:srgbClr val="A7DBDB">
              <a:alpha val="25098"/>
            </a:srgbClr>
          </a:solidFill>
          <a:ln/>
          <a:effectLst>
            <a:outerShdw blurRad="101600" dist="50800" dir="16200000" algn="bl" rotWithShape="0">
              <a:srgbClr val="A8DADC">
                <a:alpha val="10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686470" y="1427783"/>
            <a:ext cx="190500" cy="190500"/>
          </a:xfrm>
          <a:prstGeom prst="ellipse">
            <a:avLst/>
          </a:prstGeom>
          <a:solidFill>
            <a:srgbClr val="A8DAD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734839" y="1429717"/>
            <a:ext cx="178943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61"/>
              </a:spcBef>
              <a:buNone/>
            </a:pPr>
            <a:r>
              <a:rPr lang="en-US" sz="1080" b="1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969094" y="1419374"/>
            <a:ext cx="4215638" cy="401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90"/>
              </a:lnSpc>
              <a:buNone/>
            </a:pPr>
            <a:r>
              <a:rPr lang="en-US" sz="1150" b="1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슬롯 구성</a:t>
            </a:r>
            <a:r>
              <a:rPr lang="en-US" sz="1150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— </a:t>
            </a:r>
            <a:r>
              <a:rPr lang="en-US" sz="1150" dirty="0">
                <a:solidFill>
                  <a:srgbClr val="8982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타깃 2 + 랜덤 2 →</a:t>
            </a:r>
            <a:r>
              <a:rPr lang="en-US" sz="1150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타깃 2 + 즐거움 1 +</a:t>
            </a:r>
            <a:endParaRPr lang="en-US" sz="1150" dirty="0"/>
          </a:p>
          <a:p>
            <a:pPr marL="0" indent="0" algn="l">
              <a:lnSpc>
                <a:spcPts val="1590"/>
              </a:lnSpc>
              <a:buNone/>
            </a:pPr>
            <a:r>
              <a:rPr lang="en-US" sz="1150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회피 1 · '가볍게' 기본 </a:t>
            </a:r>
            <a:r>
              <a:rPr lang="en-US" sz="1150" dirty="0">
                <a:solidFill>
                  <a:srgbClr val="8982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(10장)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097" y="1951286"/>
            <a:ext cx="4024312" cy="538163"/>
          </a:xfrm>
          <a:prstGeom prst="roundRect">
            <a:avLst>
              <a:gd name="adj" fmla="val 18690"/>
            </a:avLst>
          </a:prstGeom>
          <a:solidFill>
            <a:srgbClr val="A7DBDB">
              <a:alpha val="25098"/>
            </a:srgbClr>
          </a:solidFill>
          <a:ln/>
          <a:effectLst>
            <a:outerShdw blurRad="101600" dist="50800" dir="16200000" algn="bl" rotWithShape="0">
              <a:srgbClr val="A8DADC">
                <a:alpha val="10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686470" y="2026890"/>
            <a:ext cx="190500" cy="190500"/>
          </a:xfrm>
          <a:prstGeom prst="ellipse">
            <a:avLst/>
          </a:prstGeom>
          <a:solidFill>
            <a:srgbClr val="A8DAD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734839" y="2028825"/>
            <a:ext cx="178943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61"/>
              </a:spcBef>
              <a:buNone/>
            </a:pPr>
            <a:r>
              <a:rPr lang="en-US" sz="1080" b="1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080" dirty="0"/>
          </a:p>
        </p:txBody>
      </p:sp>
      <p:sp>
        <p:nvSpPr>
          <p:cNvPr id="16" name="Text 14"/>
          <p:cNvSpPr/>
          <p:nvPr/>
        </p:nvSpPr>
        <p:spPr>
          <a:xfrm>
            <a:off x="969094" y="2018481"/>
            <a:ext cx="4405052" cy="401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90"/>
              </a:lnSpc>
              <a:buNone/>
            </a:pPr>
            <a:r>
              <a:rPr lang="en-US" sz="1150" b="1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P/M 평정</a:t>
            </a:r>
            <a:r>
              <a:rPr lang="en-US" sz="1150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— </a:t>
            </a:r>
            <a:r>
              <a:rPr lang="en-US" sz="1150" dirty="0">
                <a:solidFill>
                  <a:srgbClr val="8982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초기값 7(목업 기본값) →</a:t>
            </a:r>
            <a:r>
              <a:rPr lang="en-US" sz="1150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0–10 슬라이더 ·</a:t>
            </a:r>
            <a:endParaRPr lang="en-US" sz="1150" dirty="0"/>
          </a:p>
          <a:p>
            <a:pPr marL="0" indent="0" algn="l">
              <a:lnSpc>
                <a:spcPts val="1590"/>
              </a:lnSpc>
              <a:buNone/>
            </a:pPr>
            <a:r>
              <a:rPr lang="en-US" sz="1150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초기값 없음 · 내부 5구간 매핑 </a:t>
            </a:r>
            <a:r>
              <a:rPr lang="en-US" sz="1150" dirty="0">
                <a:solidFill>
                  <a:srgbClr val="8982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(11장)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097" y="2550393"/>
            <a:ext cx="4024312" cy="538163"/>
          </a:xfrm>
          <a:prstGeom prst="roundRect">
            <a:avLst>
              <a:gd name="adj" fmla="val 18690"/>
            </a:avLst>
          </a:prstGeom>
          <a:solidFill>
            <a:srgbClr val="A7DBDB">
              <a:alpha val="25098"/>
            </a:srgbClr>
          </a:solidFill>
          <a:ln/>
          <a:effectLst>
            <a:outerShdw blurRad="101600" dist="50800" dir="16200000" algn="bl" rotWithShape="0">
              <a:srgbClr val="A8DADC">
                <a:alpha val="10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686470" y="2625998"/>
            <a:ext cx="190500" cy="190500"/>
          </a:xfrm>
          <a:prstGeom prst="ellipse">
            <a:avLst/>
          </a:prstGeom>
          <a:solidFill>
            <a:srgbClr val="A8DAD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734839" y="2627933"/>
            <a:ext cx="178943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61"/>
              </a:spcBef>
              <a:buNone/>
            </a:pPr>
            <a:r>
              <a:rPr lang="en-US" sz="1080" b="1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080" dirty="0"/>
          </a:p>
        </p:txBody>
      </p:sp>
      <p:sp>
        <p:nvSpPr>
          <p:cNvPr id="20" name="Text 18"/>
          <p:cNvSpPr/>
          <p:nvPr/>
        </p:nvSpPr>
        <p:spPr>
          <a:xfrm>
            <a:off x="969094" y="2617589"/>
            <a:ext cx="4185069" cy="401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90"/>
              </a:lnSpc>
              <a:buNone/>
            </a:pPr>
            <a:r>
              <a:rPr lang="en-US" sz="1150" b="1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밴드 조정</a:t>
            </a:r>
            <a:r>
              <a:rPr lang="en-US" sz="1150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— </a:t>
            </a:r>
            <a:r>
              <a:rPr lang="en-US" sz="1150" dirty="0">
                <a:solidFill>
                  <a:srgbClr val="8982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v1 부담 문항 표 →</a:t>
            </a:r>
            <a:r>
              <a:rPr lang="en-US" sz="1150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day_result 3분기 ·</a:t>
            </a:r>
            <a:endParaRPr lang="en-US" sz="1150" dirty="0"/>
          </a:p>
          <a:p>
            <a:pPr marL="0" indent="0" algn="l">
              <a:lnSpc>
                <a:spcPts val="1590"/>
              </a:lnSpc>
              <a:buNone/>
            </a:pPr>
            <a:r>
              <a:rPr lang="en-US" sz="1150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'완료 → 하향' 칸 없음 </a:t>
            </a:r>
            <a:r>
              <a:rPr lang="en-US" sz="1150" dirty="0">
                <a:solidFill>
                  <a:srgbClr val="8982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(17장)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097" y="3149501"/>
            <a:ext cx="4024312" cy="538163"/>
          </a:xfrm>
          <a:prstGeom prst="roundRect">
            <a:avLst>
              <a:gd name="adj" fmla="val 18690"/>
            </a:avLst>
          </a:prstGeom>
          <a:solidFill>
            <a:srgbClr val="A7DBDB">
              <a:alpha val="25098"/>
            </a:srgbClr>
          </a:solidFill>
          <a:ln/>
          <a:effectLst>
            <a:outerShdw blurRad="101600" dist="50800" dir="16200000" algn="bl" rotWithShape="0">
              <a:srgbClr val="A8DADC">
                <a:alpha val="10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686470" y="3225105"/>
            <a:ext cx="190500" cy="190500"/>
          </a:xfrm>
          <a:prstGeom prst="ellipse">
            <a:avLst/>
          </a:prstGeom>
          <a:solidFill>
            <a:srgbClr val="A8DAD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734839" y="3227040"/>
            <a:ext cx="178943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61"/>
              </a:spcBef>
              <a:buNone/>
            </a:pPr>
            <a:r>
              <a:rPr lang="en-US" sz="1080" b="1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080" dirty="0"/>
          </a:p>
        </p:txBody>
      </p:sp>
      <p:sp>
        <p:nvSpPr>
          <p:cNvPr id="24" name="Text 22"/>
          <p:cNvSpPr/>
          <p:nvPr/>
        </p:nvSpPr>
        <p:spPr>
          <a:xfrm>
            <a:off x="969094" y="3216697"/>
            <a:ext cx="4254624" cy="401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90"/>
              </a:lnSpc>
              <a:buNone/>
            </a:pPr>
            <a:r>
              <a:rPr lang="en-US" sz="1150" b="1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진급</a:t>
            </a:r>
            <a:r>
              <a:rPr lang="en-US" sz="1150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— </a:t>
            </a:r>
            <a:r>
              <a:rPr lang="en-US" sz="1150" dirty="0">
                <a:solidFill>
                  <a:srgbClr val="8982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기준 없던 빈칸 →</a:t>
            </a:r>
            <a:r>
              <a:rPr lang="en-US" sz="1150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주 1회 배치 · 3조건 AND ·</a:t>
            </a:r>
            <a:endParaRPr lang="en-US" sz="1150" dirty="0"/>
          </a:p>
          <a:p>
            <a:pPr marL="0" indent="0" algn="l">
              <a:lnSpc>
                <a:spcPts val="1590"/>
              </a:lnSpc>
              <a:buNone/>
            </a:pPr>
            <a:r>
              <a:rPr lang="en-US" sz="1150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동의 탭 · 강등 없음 </a:t>
            </a:r>
            <a:r>
              <a:rPr lang="en-US" sz="1150" dirty="0">
                <a:solidFill>
                  <a:srgbClr val="8982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(20장)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48580" y="3764756"/>
            <a:ext cx="5277535" cy="370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8"/>
              </a:lnSpc>
              <a:buNone/>
            </a:pPr>
            <a:r>
              <a:rPr lang="en-US" sz="1080" dirty="0">
                <a:solidFill>
                  <a:srgbClr val="8982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 주제를 다룬 다른 정리안과 겹치는 항목은 이 표의 최종안 기준으로</a:t>
            </a:r>
            <a:endParaRPr lang="en-US" sz="1080" dirty="0"/>
          </a:p>
          <a:p>
            <a:pPr marL="0" indent="0" algn="l">
              <a:lnSpc>
                <a:spcPts val="1458"/>
              </a:lnSpc>
              <a:buNone/>
            </a:pPr>
            <a:r>
              <a:rPr lang="en-US" sz="1080" dirty="0">
                <a:solidFill>
                  <a:srgbClr val="8982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통일</a:t>
            </a:r>
            <a:endParaRPr lang="en-US" sz="1080" dirty="0"/>
          </a:p>
        </p:txBody>
      </p:sp>
      <p:sp>
        <p:nvSpPr>
          <p:cNvPr id="26" name="Text 24"/>
          <p:cNvSpPr/>
          <p:nvPr/>
        </p:nvSpPr>
        <p:spPr>
          <a:xfrm>
            <a:off x="4754761" y="1080939"/>
            <a:ext cx="1205917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아직 열려 있음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755803" y="1347788"/>
            <a:ext cx="3838575" cy="500063"/>
          </a:xfrm>
          <a:prstGeom prst="roundRect">
            <a:avLst>
              <a:gd name="adj" fmla="val 20114"/>
            </a:avLst>
          </a:prstGeom>
          <a:solidFill>
            <a:srgbClr val="FFFFFF"/>
          </a:solidFill>
          <a:ln/>
          <a:effectLst>
            <a:outerShdw blurRad="102870" dist="30861" dir="5400000" algn="bl" rotWithShape="0">
              <a:srgbClr val="4A443A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4892353" y="1453232"/>
            <a:ext cx="90488" cy="90488"/>
          </a:xfrm>
          <a:prstGeom prst="ellipse">
            <a:avLst/>
          </a:prstGeom>
          <a:solidFill>
            <a:srgbClr val="E2553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5074667" y="1401738"/>
            <a:ext cx="4447810" cy="3865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6"/>
              </a:lnSpc>
              <a:buNone/>
            </a:pPr>
            <a:r>
              <a:rPr lang="en-US" sz="1120" b="1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난이도 합성 — 계획의 정도·강도</a:t>
            </a:r>
            <a:r>
              <a:rPr lang="en-US" sz="1120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· 밴드+기분+토글 합치는</a:t>
            </a:r>
            <a:endParaRPr lang="en-US" sz="1120" dirty="0"/>
          </a:p>
          <a:p>
            <a:pPr marL="0" indent="0" algn="l">
              <a:lnSpc>
                <a:spcPts val="1506"/>
              </a:lnSpc>
              <a:buNone/>
            </a:pPr>
            <a:r>
              <a:rPr lang="en-US" sz="1120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방식 A/B/C 택1 </a:t>
            </a:r>
            <a:r>
              <a:rPr lang="en-US" sz="1120" dirty="0">
                <a:solidFill>
                  <a:srgbClr val="8982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(18장)</a:t>
            </a:r>
            <a:endParaRPr lang="en-US" sz="1120" dirty="0"/>
          </a:p>
        </p:txBody>
      </p:sp>
      <p:sp>
        <p:nvSpPr>
          <p:cNvPr id="30" name="Shape 28"/>
          <p:cNvSpPr/>
          <p:nvPr/>
        </p:nvSpPr>
        <p:spPr>
          <a:xfrm>
            <a:off x="4755803" y="1904740"/>
            <a:ext cx="3838575" cy="309562"/>
          </a:xfrm>
          <a:prstGeom prst="roundRect">
            <a:avLst>
              <a:gd name="adj" fmla="val 32492"/>
            </a:avLst>
          </a:prstGeom>
          <a:solidFill>
            <a:srgbClr val="FFFFFF"/>
          </a:solidFill>
          <a:ln/>
          <a:effectLst>
            <a:outerShdw blurRad="102870" dist="30861" dir="5400000" algn="bl" rotWithShape="0">
              <a:srgbClr val="4A443A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4892353" y="2010594"/>
            <a:ext cx="90488" cy="90488"/>
          </a:xfrm>
          <a:prstGeom prst="ellipse">
            <a:avLst/>
          </a:prstGeom>
          <a:solidFill>
            <a:srgbClr val="E2553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5074667" y="1959099"/>
            <a:ext cx="4181683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몰아서 인증</a:t>
            </a:r>
            <a:r>
              <a:rPr lang="en-US" sz="1120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— 밤에 일괄 P/M 허용? 리마인더로 유도?</a:t>
            </a:r>
            <a:endParaRPr lang="en-US" sz="1120" dirty="0"/>
          </a:p>
        </p:txBody>
      </p:sp>
      <p:sp>
        <p:nvSpPr>
          <p:cNvPr id="33" name="Shape 31"/>
          <p:cNvSpPr/>
          <p:nvPr/>
        </p:nvSpPr>
        <p:spPr>
          <a:xfrm>
            <a:off x="4755803" y="2270782"/>
            <a:ext cx="3838575" cy="309562"/>
          </a:xfrm>
          <a:prstGeom prst="roundRect">
            <a:avLst>
              <a:gd name="adj" fmla="val 32492"/>
            </a:avLst>
          </a:prstGeom>
          <a:solidFill>
            <a:srgbClr val="FFFFFF"/>
          </a:solidFill>
          <a:ln/>
          <a:effectLst>
            <a:outerShdw blurRad="102870" dist="30861" dir="5400000" algn="bl" rotWithShape="0">
              <a:srgbClr val="4A443A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4892353" y="2376636"/>
            <a:ext cx="90488" cy="90488"/>
          </a:xfrm>
          <a:prstGeom prst="ellipse">
            <a:avLst/>
          </a:prstGeom>
          <a:solidFill>
            <a:srgbClr val="E2553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5074667" y="2325142"/>
            <a:ext cx="4124124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완료율 분모</a:t>
            </a:r>
            <a:r>
              <a:rPr lang="en-US" sz="1120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— 제안 수 기준 → 참여일 기준 전환 검토</a:t>
            </a:r>
            <a:endParaRPr lang="en-US" sz="1120" dirty="0"/>
          </a:p>
        </p:txBody>
      </p:sp>
      <p:sp>
        <p:nvSpPr>
          <p:cNvPr id="36" name="Shape 34"/>
          <p:cNvSpPr/>
          <p:nvPr/>
        </p:nvSpPr>
        <p:spPr>
          <a:xfrm>
            <a:off x="4755803" y="2636825"/>
            <a:ext cx="3838575" cy="309562"/>
          </a:xfrm>
          <a:prstGeom prst="roundRect">
            <a:avLst>
              <a:gd name="adj" fmla="val 32492"/>
            </a:avLst>
          </a:prstGeom>
          <a:solidFill>
            <a:srgbClr val="FFFFFF"/>
          </a:solidFill>
          <a:ln/>
          <a:effectLst>
            <a:outerShdw blurRad="102870" dist="30861" dir="5400000" algn="bl" rotWithShape="0">
              <a:srgbClr val="4A443A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5"/>
          <p:cNvSpPr/>
          <p:nvPr/>
        </p:nvSpPr>
        <p:spPr>
          <a:xfrm>
            <a:off x="4892353" y="2742679"/>
            <a:ext cx="90488" cy="90488"/>
          </a:xfrm>
          <a:prstGeom prst="ellipse">
            <a:avLst/>
          </a:prstGeom>
          <a:solidFill>
            <a:srgbClr val="E2553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5074667" y="2691185"/>
            <a:ext cx="3626793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회피 재축소 하한</a:t>
            </a:r>
            <a:r>
              <a:rPr lang="en-US" sz="1120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— 무한 쪼개기 방지선 어디에</a:t>
            </a:r>
            <a:endParaRPr lang="en-US" sz="1120" dirty="0"/>
          </a:p>
        </p:txBody>
      </p:sp>
      <p:sp>
        <p:nvSpPr>
          <p:cNvPr id="39" name="Shape 37"/>
          <p:cNvSpPr/>
          <p:nvPr/>
        </p:nvSpPr>
        <p:spPr>
          <a:xfrm>
            <a:off x="4755803" y="3002868"/>
            <a:ext cx="3838575" cy="309562"/>
          </a:xfrm>
          <a:prstGeom prst="roundRect">
            <a:avLst>
              <a:gd name="adj" fmla="val 32492"/>
            </a:avLst>
          </a:prstGeom>
          <a:solidFill>
            <a:srgbClr val="FFFFFF"/>
          </a:solidFill>
          <a:ln/>
          <a:effectLst>
            <a:outerShdw blurRad="102870" dist="30861" dir="5400000" algn="bl" rotWithShape="0">
              <a:srgbClr val="4A443A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8"/>
          <p:cNvSpPr/>
          <p:nvPr/>
        </p:nvSpPr>
        <p:spPr>
          <a:xfrm>
            <a:off x="4892353" y="3108722"/>
            <a:ext cx="90488" cy="90488"/>
          </a:xfrm>
          <a:prstGeom prst="ellipse">
            <a:avLst/>
          </a:prstGeom>
          <a:solidFill>
            <a:srgbClr val="E2553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5074667" y="3057227"/>
            <a:ext cx="4144633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위기 신호 UX</a:t>
            </a:r>
            <a:r>
              <a:rPr lang="en-US" sz="1120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— 감지 지점·복귀 경로 (임상 자문 필요)</a:t>
            </a:r>
            <a:endParaRPr lang="en-US" sz="1120" dirty="0"/>
          </a:p>
        </p:txBody>
      </p:sp>
      <p:sp>
        <p:nvSpPr>
          <p:cNvPr id="42" name="Shape 40"/>
          <p:cNvSpPr/>
          <p:nvPr/>
        </p:nvSpPr>
        <p:spPr>
          <a:xfrm>
            <a:off x="4755803" y="3368911"/>
            <a:ext cx="3838575" cy="309562"/>
          </a:xfrm>
          <a:prstGeom prst="roundRect">
            <a:avLst>
              <a:gd name="adj" fmla="val 32492"/>
            </a:avLst>
          </a:prstGeom>
          <a:solidFill>
            <a:srgbClr val="FFFFFF"/>
          </a:solidFill>
          <a:ln/>
          <a:effectLst>
            <a:outerShdw blurRad="102870" dist="30861" dir="5400000" algn="bl" rotWithShape="0">
              <a:srgbClr val="4A443A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41"/>
          <p:cNvSpPr/>
          <p:nvPr/>
        </p:nvSpPr>
        <p:spPr>
          <a:xfrm>
            <a:off x="4892353" y="3474765"/>
            <a:ext cx="90488" cy="90488"/>
          </a:xfrm>
          <a:prstGeom prst="ellipse">
            <a:avLst/>
          </a:prstGeom>
          <a:solidFill>
            <a:srgbClr val="E2553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/>
          <p:nvPr/>
        </p:nvSpPr>
        <p:spPr>
          <a:xfrm>
            <a:off x="5074667" y="3423270"/>
            <a:ext cx="3629791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기관 대시보드</a:t>
            </a:r>
            <a:r>
              <a:rPr lang="en-US" sz="1120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— 동의·철회·미성년 케이스 흐름</a:t>
            </a:r>
            <a:endParaRPr lang="en-US" sz="1120" dirty="0"/>
          </a:p>
        </p:txBody>
      </p:sp>
      <p:sp>
        <p:nvSpPr>
          <p:cNvPr id="45" name="Text 43"/>
          <p:cNvSpPr/>
          <p:nvPr/>
        </p:nvSpPr>
        <p:spPr>
          <a:xfrm>
            <a:off x="4754761" y="4510162"/>
            <a:ext cx="3589452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6029"/>
              </a:spcBef>
              <a:buNone/>
            </a:pPr>
            <a:r>
              <a:rPr lang="en-US" sz="1080" dirty="0">
                <a:solidFill>
                  <a:srgbClr val="8982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붉은 점 = 논의 중 표시 — 덱 전체에서 같은 의미</a:t>
            </a:r>
            <a:endParaRPr lang="en-US" sz="1080" dirty="0"/>
          </a:p>
        </p:txBody>
      </p:sp>
      <p:sp>
        <p:nvSpPr>
          <p:cNvPr id="46" name="Text 44"/>
          <p:cNvSpPr/>
          <p:nvPr/>
        </p:nvSpPr>
        <p:spPr>
          <a:xfrm>
            <a:off x="548580" y="4741664"/>
            <a:ext cx="2112645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8982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BA 챌린지 사이클 개선 보고</a:t>
            </a:r>
            <a:endParaRPr lang="en-US" sz="1080" dirty="0"/>
          </a:p>
        </p:txBody>
      </p:sp>
      <p:sp>
        <p:nvSpPr>
          <p:cNvPr id="47" name="Text 45"/>
          <p:cNvSpPr/>
          <p:nvPr/>
        </p:nvSpPr>
        <p:spPr>
          <a:xfrm>
            <a:off x="8159279" y="4741664"/>
            <a:ext cx="624133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8982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21 / 23</a:t>
            </a:r>
            <a:endParaRPr lang="en-US" sz="108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549659" y="258217"/>
            <a:ext cx="652463" cy="285750"/>
          </a:xfrm>
          <a:prstGeom prst="roundRect">
            <a:avLst>
              <a:gd name="adj" fmla="val 50000"/>
            </a:avLst>
          </a:prstGeom>
          <a:solidFill>
            <a:srgbClr val="A8DAD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677205" y="360573"/>
            <a:ext cx="80962" cy="80962"/>
          </a:xfrm>
          <a:prstGeom prst="roundRect">
            <a:avLst>
              <a:gd name="adj" fmla="val 28235"/>
            </a:avLst>
          </a:prstGeom>
          <a:solidFill>
            <a:srgbClr val="4A443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822796" y="307777"/>
            <a:ext cx="385286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근거</a:t>
            </a:r>
            <a:endParaRPr lang="en-US" sz="1080" dirty="0"/>
          </a:p>
        </p:txBody>
      </p:sp>
      <p:sp>
        <p:nvSpPr>
          <p:cNvPr id="6" name="Text 4"/>
          <p:cNvSpPr/>
          <p:nvPr/>
        </p:nvSpPr>
        <p:spPr>
          <a:xfrm>
            <a:off x="8013874" y="307777"/>
            <a:ext cx="813160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kern="0" spc="151" dirty="0">
                <a:solidFill>
                  <a:srgbClr val="B6B1A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조각조각</a:t>
            </a:r>
            <a:endParaRPr lang="en-US" sz="1080" dirty="0"/>
          </a:p>
        </p:txBody>
      </p:sp>
      <p:sp>
        <p:nvSpPr>
          <p:cNvPr id="7" name="Text 5"/>
          <p:cNvSpPr/>
          <p:nvPr/>
        </p:nvSpPr>
        <p:spPr>
          <a:xfrm>
            <a:off x="548580" y="605730"/>
            <a:ext cx="3623407" cy="3095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kern="0" spc="-18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근거 — 규칙마다 출처를 단다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401541" y="691455"/>
            <a:ext cx="3968956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8982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동료검증 저널·표준 매뉴얼만 인용 (학위논문 제외)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7688" y="1047155"/>
            <a:ext cx="8048625" cy="2643188"/>
          </a:xfrm>
          <a:prstGeom prst="roundRect">
            <a:avLst>
              <a:gd name="adj" fmla="val 3805"/>
            </a:avLst>
          </a:prstGeom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547688" y="1046559"/>
            <a:ext cx="8048625" cy="300038"/>
          </a:xfrm>
          <a:prstGeom prst="rect">
            <a:avLst/>
          </a:prstGeom>
          <a:solidFill>
            <a:srgbClr val="4A443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694879" y="1103263"/>
            <a:ext cx="759663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FDFB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우리 규칙</a:t>
            </a: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4791596" y="1103263"/>
            <a:ext cx="71651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FDFB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왜 (기전)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6803231" y="1103263"/>
            <a:ext cx="385286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FDFB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547688" y="1346411"/>
            <a:ext cx="8048625" cy="3238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694879" y="1404417"/>
            <a:ext cx="4282388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가장 쉬운 것부터 — 기본은 낮은 밴드, 미완료면 더 작게</a:t>
            </a:r>
            <a:endParaRPr lang="en-US" sz="1120" dirty="0"/>
          </a:p>
        </p:txBody>
      </p:sp>
      <p:sp>
        <p:nvSpPr>
          <p:cNvPr id="16" name="Text 14"/>
          <p:cNvSpPr/>
          <p:nvPr/>
        </p:nvSpPr>
        <p:spPr>
          <a:xfrm>
            <a:off x="4791596" y="1412602"/>
            <a:ext cx="2469126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8982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단계적 과제 위계 · 성공확률 우선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6803231" y="1412602"/>
            <a:ext cx="1902336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Lejuez 외, BATD (2001)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547688" y="1671042"/>
            <a:ext cx="8048625" cy="52387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6803231" y="1734443"/>
            <a:ext cx="1958831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Martell 외 (2001) · Beck</a:t>
            </a:r>
            <a:endParaRPr lang="en-US" sz="1080" dirty="0"/>
          </a:p>
        </p:txBody>
      </p:sp>
      <p:sp>
        <p:nvSpPr>
          <p:cNvPr id="20" name="Text 18"/>
          <p:cNvSpPr/>
          <p:nvPr/>
        </p:nvSpPr>
        <p:spPr>
          <a:xfrm>
            <a:off x="694879" y="1829023"/>
            <a:ext cx="4730480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기분 아닌 계획대로 — 기분의 개입 방식은 합성 논의로 (18장)</a:t>
            </a:r>
            <a:endParaRPr lang="en-US" sz="1120" dirty="0"/>
          </a:p>
        </p:txBody>
      </p:sp>
      <p:sp>
        <p:nvSpPr>
          <p:cNvPr id="21" name="Text 19"/>
          <p:cNvSpPr/>
          <p:nvPr/>
        </p:nvSpPr>
        <p:spPr>
          <a:xfrm>
            <a:off x="4791596" y="1837283"/>
            <a:ext cx="2305057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8982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기분 의존 행동 차단, 행동 우선</a:t>
            </a:r>
            <a:endParaRPr lang="en-US" sz="1080" dirty="0"/>
          </a:p>
        </p:txBody>
      </p:sp>
      <p:sp>
        <p:nvSpPr>
          <p:cNvPr id="22" name="Text 20"/>
          <p:cNvSpPr/>
          <p:nvPr/>
        </p:nvSpPr>
        <p:spPr>
          <a:xfrm>
            <a:off x="6803231" y="1940123"/>
            <a:ext cx="57208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(1979)</a:t>
            </a:r>
            <a:endParaRPr lang="en-US" sz="1080" dirty="0"/>
          </a:p>
        </p:txBody>
      </p:sp>
      <p:sp>
        <p:nvSpPr>
          <p:cNvPr id="23" name="Shape 21"/>
          <p:cNvSpPr/>
          <p:nvPr/>
        </p:nvSpPr>
        <p:spPr>
          <a:xfrm>
            <a:off x="547688" y="2195699"/>
            <a:ext cx="8048625" cy="3238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694879" y="2253704"/>
            <a:ext cx="4911767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다음날 밴드 조정 — 숙달(M)이 쌓일 때만 상향, 하향은 미완료뿐</a:t>
            </a:r>
            <a:endParaRPr lang="en-US" sz="1120" dirty="0"/>
          </a:p>
        </p:txBody>
      </p:sp>
      <p:sp>
        <p:nvSpPr>
          <p:cNvPr id="25" name="Text 23"/>
          <p:cNvSpPr/>
          <p:nvPr/>
        </p:nvSpPr>
        <p:spPr>
          <a:xfrm>
            <a:off x="4791596" y="2261890"/>
            <a:ext cx="1766612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8982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과부하 방지 · 숙달 축적</a:t>
            </a:r>
            <a:endParaRPr lang="en-US" sz="1080" dirty="0"/>
          </a:p>
        </p:txBody>
      </p:sp>
      <p:sp>
        <p:nvSpPr>
          <p:cNvPr id="26" name="Text 24"/>
          <p:cNvSpPr/>
          <p:nvPr/>
        </p:nvSpPr>
        <p:spPr>
          <a:xfrm>
            <a:off x="6803231" y="2261890"/>
            <a:ext cx="2089912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Lejuez 외, BATD 위계 논리</a:t>
            </a:r>
            <a:endParaRPr lang="en-US" sz="1080" dirty="0"/>
          </a:p>
        </p:txBody>
      </p:sp>
      <p:sp>
        <p:nvSpPr>
          <p:cNvPr id="27" name="Shape 25"/>
          <p:cNvSpPr/>
          <p:nvPr/>
        </p:nvSpPr>
        <p:spPr>
          <a:xfrm>
            <a:off x="547688" y="2520962"/>
            <a:ext cx="8048625" cy="3238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694879" y="2578968"/>
            <a:ext cx="2485958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회복단계 확정 기준 44점 / 60점</a:t>
            </a:r>
            <a:endParaRPr lang="en-US" sz="1120" dirty="0"/>
          </a:p>
        </p:txBody>
      </p:sp>
      <p:sp>
        <p:nvSpPr>
          <p:cNvPr id="29" name="Text 27"/>
          <p:cNvSpPr/>
          <p:nvPr/>
        </p:nvSpPr>
        <p:spPr>
          <a:xfrm>
            <a:off x="4791596" y="2587154"/>
            <a:ext cx="2374999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8982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검증된 고립 척도의 공식 기준점</a:t>
            </a:r>
            <a:endParaRPr lang="en-US" sz="1080" dirty="0"/>
          </a:p>
        </p:txBody>
      </p:sp>
      <p:sp>
        <p:nvSpPr>
          <p:cNvPr id="30" name="Text 28"/>
          <p:cNvSpPr/>
          <p:nvPr/>
        </p:nvSpPr>
        <p:spPr>
          <a:xfrm>
            <a:off x="6803231" y="2587154"/>
            <a:ext cx="1320939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조미형 외 (2022)</a:t>
            </a:r>
            <a:endParaRPr lang="en-US" sz="1080" dirty="0"/>
          </a:p>
        </p:txBody>
      </p:sp>
      <p:sp>
        <p:nvSpPr>
          <p:cNvPr id="31" name="Shape 29"/>
          <p:cNvSpPr/>
          <p:nvPr/>
        </p:nvSpPr>
        <p:spPr>
          <a:xfrm>
            <a:off x="547688" y="2846226"/>
            <a:ext cx="8048625" cy="3238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694879" y="2904232"/>
            <a:ext cx="3280179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실패·스트릭 압박 금지, 응원 메시지로 전환</a:t>
            </a:r>
            <a:endParaRPr lang="en-US" sz="1120" dirty="0"/>
          </a:p>
        </p:txBody>
      </p:sp>
      <p:sp>
        <p:nvSpPr>
          <p:cNvPr id="33" name="Text 31"/>
          <p:cNvSpPr/>
          <p:nvPr/>
        </p:nvSpPr>
        <p:spPr>
          <a:xfrm>
            <a:off x="4791596" y="2912418"/>
            <a:ext cx="2210931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8982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연속 기록 단절의 역효과 보고</a:t>
            </a:r>
            <a:endParaRPr lang="en-US" sz="1080" dirty="0"/>
          </a:p>
        </p:txBody>
      </p:sp>
      <p:sp>
        <p:nvSpPr>
          <p:cNvPr id="34" name="Text 32"/>
          <p:cNvSpPr/>
          <p:nvPr/>
        </p:nvSpPr>
        <p:spPr>
          <a:xfrm>
            <a:off x="6803231" y="2912418"/>
            <a:ext cx="2114870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게이미피케이션 연구 (JMIR)</a:t>
            </a:r>
            <a:endParaRPr lang="en-US" sz="1080" dirty="0"/>
          </a:p>
        </p:txBody>
      </p:sp>
      <p:sp>
        <p:nvSpPr>
          <p:cNvPr id="35" name="Shape 33"/>
          <p:cNvSpPr/>
          <p:nvPr/>
        </p:nvSpPr>
        <p:spPr>
          <a:xfrm>
            <a:off x="547688" y="3170858"/>
            <a:ext cx="8048625" cy="51911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6803231" y="3234258"/>
            <a:ext cx="1965796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Moodivate RCT (Dahne</a:t>
            </a:r>
            <a:endParaRPr lang="en-US" sz="1080" dirty="0"/>
          </a:p>
        </p:txBody>
      </p:sp>
      <p:sp>
        <p:nvSpPr>
          <p:cNvPr id="37" name="Text 35"/>
          <p:cNvSpPr/>
          <p:nvPr/>
        </p:nvSpPr>
        <p:spPr>
          <a:xfrm>
            <a:off x="694879" y="3328839"/>
            <a:ext cx="2697525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BA를 앱으로 옮겨도 효과가 있는가</a:t>
            </a:r>
            <a:endParaRPr lang="en-US" sz="1120" dirty="0"/>
          </a:p>
        </p:txBody>
      </p:sp>
      <p:sp>
        <p:nvSpPr>
          <p:cNvPr id="38" name="Text 36"/>
          <p:cNvSpPr/>
          <p:nvPr/>
        </p:nvSpPr>
        <p:spPr>
          <a:xfrm>
            <a:off x="4791596" y="3337099"/>
            <a:ext cx="2323051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8982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BA 단독 앱의 무작위 대조 시험</a:t>
            </a:r>
            <a:endParaRPr lang="en-US" sz="1080" dirty="0"/>
          </a:p>
        </p:txBody>
      </p:sp>
      <p:sp>
        <p:nvSpPr>
          <p:cNvPr id="39" name="Text 37"/>
          <p:cNvSpPr/>
          <p:nvPr/>
        </p:nvSpPr>
        <p:spPr>
          <a:xfrm>
            <a:off x="6803231" y="3439939"/>
            <a:ext cx="1071257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외) · 메타분석</a:t>
            </a:r>
            <a:endParaRPr lang="en-US" sz="1080" dirty="0"/>
          </a:p>
        </p:txBody>
      </p:sp>
      <p:sp>
        <p:nvSpPr>
          <p:cNvPr id="40" name="Shape 38"/>
          <p:cNvSpPr/>
          <p:nvPr/>
        </p:nvSpPr>
        <p:spPr>
          <a:xfrm>
            <a:off x="547688" y="4186907"/>
            <a:ext cx="8048625" cy="519112"/>
          </a:xfrm>
          <a:prstGeom prst="roundRect">
            <a:avLst>
              <a:gd name="adj" fmla="val 19376"/>
            </a:avLst>
          </a:prstGeom>
          <a:solidFill>
            <a:srgbClr val="F2A15E">
              <a:alpha val="14902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703957" y="4334619"/>
            <a:ext cx="22905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20" b="1" dirty="0">
                <a:solidFill>
                  <a:srgbClr val="F4A2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※</a:t>
            </a:r>
            <a:endParaRPr lang="en-US" sz="1220" dirty="0"/>
          </a:p>
        </p:txBody>
      </p:sp>
      <p:sp>
        <p:nvSpPr>
          <p:cNvPr id="42" name="Text 40"/>
          <p:cNvSpPr/>
          <p:nvPr/>
        </p:nvSpPr>
        <p:spPr>
          <a:xfrm>
            <a:off x="945877" y="4250903"/>
            <a:ext cx="9697023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아직 근거가 없는 값도 있다 — 심각도 구간(0~45 컷)과 영역 가중치(1.0 / 0.3~0.5)는 라우팅용 임시 설계값. </a:t>
            </a:r>
            <a:r>
              <a:rPr lang="en-US" sz="1120" b="1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파일럿 데이터로 보정</a:t>
            </a:r>
            <a:endParaRPr lang="en-US" sz="1120" dirty="0"/>
          </a:p>
        </p:txBody>
      </p:sp>
      <p:sp>
        <p:nvSpPr>
          <p:cNvPr id="43" name="Text 41"/>
          <p:cNvSpPr/>
          <p:nvPr/>
        </p:nvSpPr>
        <p:spPr>
          <a:xfrm>
            <a:off x="1076251" y="4446463"/>
            <a:ext cx="3042880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하기 전까지 '검증됨'이라 말하지 않는다</a:t>
            </a:r>
            <a:endParaRPr lang="en-US" sz="1120" dirty="0"/>
          </a:p>
        </p:txBody>
      </p:sp>
      <p:sp>
        <p:nvSpPr>
          <p:cNvPr id="44" name="Text 42"/>
          <p:cNvSpPr/>
          <p:nvPr/>
        </p:nvSpPr>
        <p:spPr>
          <a:xfrm>
            <a:off x="548580" y="4741664"/>
            <a:ext cx="2112645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8982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BA 챌린지 사이클 개선 보고</a:t>
            </a:r>
            <a:endParaRPr lang="en-US" sz="1080" dirty="0"/>
          </a:p>
        </p:txBody>
      </p:sp>
      <p:sp>
        <p:nvSpPr>
          <p:cNvPr id="45" name="Text 43"/>
          <p:cNvSpPr/>
          <p:nvPr/>
        </p:nvSpPr>
        <p:spPr>
          <a:xfrm>
            <a:off x="8159279" y="4741664"/>
            <a:ext cx="624133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8982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22 / 23</a:t>
            </a:r>
            <a:endParaRPr lang="en-US" sz="1080" dirty="0"/>
          </a:p>
        </p:txBody>
      </p:sp>
      <p:pic>
        <p:nvPicPr>
          <p:cNvPr id="4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7688" y="1346411"/>
            <a:ext cx="8048625" cy="323850"/>
          </a:xfrm>
          <a:prstGeom prst="rect">
            <a:avLst/>
          </a:prstGeom>
        </p:spPr>
      </p:pic>
      <p:pic>
        <p:nvPicPr>
          <p:cNvPr id="4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7688" y="1671042"/>
            <a:ext cx="8048625" cy="523875"/>
          </a:xfrm>
          <a:prstGeom prst="rect">
            <a:avLst/>
          </a:prstGeom>
        </p:spPr>
      </p:pic>
      <p:pic>
        <p:nvPicPr>
          <p:cNvPr id="4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7688" y="2195699"/>
            <a:ext cx="8048625" cy="323850"/>
          </a:xfrm>
          <a:prstGeom prst="rect">
            <a:avLst/>
          </a:prstGeom>
        </p:spPr>
      </p:pic>
      <p:pic>
        <p:nvPicPr>
          <p:cNvPr id="4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47688" y="2520962"/>
            <a:ext cx="8048625" cy="323850"/>
          </a:xfrm>
          <a:prstGeom prst="rect">
            <a:avLst/>
          </a:prstGeom>
        </p:spPr>
      </p:pic>
      <p:pic>
        <p:nvPicPr>
          <p:cNvPr id="50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47688" y="2846226"/>
            <a:ext cx="8048625" cy="32385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6583152" y="2754102"/>
            <a:ext cx="3109913" cy="3109913"/>
          </a:xfrm>
          <a:prstGeom prst="ellipse">
            <a:avLst/>
          </a:prstGeom>
          <a:solidFill>
            <a:srgbClr val="FFD75F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548432" y="283890"/>
            <a:ext cx="781050" cy="285750"/>
          </a:xfrm>
          <a:prstGeom prst="roundRect">
            <a:avLst>
              <a:gd name="adj" fmla="val 50000"/>
            </a:avLst>
          </a:prstGeom>
          <a:solidFill>
            <a:srgbClr val="FFD55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677205" y="386246"/>
            <a:ext cx="80962" cy="80962"/>
          </a:xfrm>
          <a:prstGeom prst="roundRect">
            <a:avLst>
              <a:gd name="adj" fmla="val 28235"/>
            </a:avLst>
          </a:prstGeom>
          <a:solidFill>
            <a:srgbClr val="4A443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22796" y="333449"/>
            <a:ext cx="54925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마무리</a:t>
            </a:r>
            <a:endParaRPr lang="en-US" sz="1080" dirty="0"/>
          </a:p>
        </p:txBody>
      </p:sp>
      <p:sp>
        <p:nvSpPr>
          <p:cNvPr id="7" name="Text 5"/>
          <p:cNvSpPr/>
          <p:nvPr/>
        </p:nvSpPr>
        <p:spPr>
          <a:xfrm>
            <a:off x="8013874" y="333449"/>
            <a:ext cx="813160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kern="0" spc="151" dirty="0">
                <a:solidFill>
                  <a:srgbClr val="B6B1A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조각조각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548580" y="734318"/>
            <a:ext cx="3032239" cy="3476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20" b="1" kern="0" spc="-20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회의 안건과 담당</a:t>
            </a:r>
            <a:endParaRPr lang="en-US" sz="2020" dirty="0"/>
          </a:p>
        </p:txBody>
      </p:sp>
      <p:sp>
        <p:nvSpPr>
          <p:cNvPr id="9" name="Shape 7"/>
          <p:cNvSpPr/>
          <p:nvPr/>
        </p:nvSpPr>
        <p:spPr>
          <a:xfrm>
            <a:off x="549511" y="1237729"/>
            <a:ext cx="5667375" cy="557213"/>
          </a:xfrm>
          <a:prstGeom prst="roundRect">
            <a:avLst>
              <a:gd name="adj" fmla="val 16410"/>
            </a:avLst>
          </a:prstGeom>
          <a:solidFill>
            <a:srgbClr val="FFD55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609204" y="1306413"/>
            <a:ext cx="4926181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난이도 합성 방식 택1 — A 합산 · B 계획 우선 · C 안전 우선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649516" y="1320180"/>
            <a:ext cx="385286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FFD55F"/>
                </a:solidFill>
                <a:highlight>
                  <a:srgbClr val="4A443A"/>
                </a:highlight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최우선</a:t>
            </a: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970955" y="1423020"/>
            <a:ext cx="385286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FDFBF7"/>
                </a:solidFill>
                <a:highlight>
                  <a:srgbClr val="4A443A"/>
                </a:highlight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전원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1609204" y="1525860"/>
            <a:ext cx="578666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(18장)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9511" y="1853059"/>
            <a:ext cx="5667375" cy="366712"/>
          </a:xfrm>
          <a:prstGeom prst="roundRect">
            <a:avLst>
              <a:gd name="adj" fmla="val 24935"/>
            </a:avLst>
          </a:prstGeom>
          <a:solidFill>
            <a:srgbClr val="FFFFFF"/>
          </a:solidFill>
          <a:ln/>
          <a:effectLst>
            <a:outerShdw blurRad="102870" dist="30861" dir="5400000" algn="bl" rotWithShape="0">
              <a:srgbClr val="4A443A">
                <a:alpha val="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844823" y="1943100"/>
            <a:ext cx="713326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4A443A"/>
                </a:solidFill>
                <a:highlight>
                  <a:srgbClr val="A8DADC"/>
                </a:highlight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미션뱅크</a:t>
            </a:r>
            <a:endParaRPr lang="en-US" sz="1080" dirty="0"/>
          </a:p>
        </p:txBody>
      </p:sp>
      <p:sp>
        <p:nvSpPr>
          <p:cNvPr id="16" name="Text 14"/>
          <p:cNvSpPr/>
          <p:nvPr/>
        </p:nvSpPr>
        <p:spPr>
          <a:xfrm>
            <a:off x="1609204" y="1934840"/>
            <a:ext cx="3532086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회피 재축소 하한 시드 · diversity_key 라벨링</a:t>
            </a:r>
            <a:endParaRPr lang="en-US" sz="1120" dirty="0"/>
          </a:p>
        </p:txBody>
      </p:sp>
      <p:sp>
        <p:nvSpPr>
          <p:cNvPr id="17" name="Shape 15"/>
          <p:cNvSpPr/>
          <p:nvPr/>
        </p:nvSpPr>
        <p:spPr>
          <a:xfrm>
            <a:off x="549511" y="2277070"/>
            <a:ext cx="5667375" cy="366712"/>
          </a:xfrm>
          <a:prstGeom prst="roundRect">
            <a:avLst>
              <a:gd name="adj" fmla="val 24935"/>
            </a:avLst>
          </a:prstGeom>
          <a:solidFill>
            <a:srgbClr val="FFFFFF"/>
          </a:solidFill>
          <a:ln/>
          <a:effectLst>
            <a:outerShdw blurRad="102870" dist="30861" dir="5400000" algn="bl" rotWithShape="0">
              <a:srgbClr val="4A443A">
                <a:alpha val="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826963" y="2367111"/>
            <a:ext cx="759663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4A443A"/>
                </a:solidFill>
                <a:highlight>
                  <a:srgbClr val="FFB5A7"/>
                </a:highlight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임상 자문</a:t>
            </a:r>
            <a:endParaRPr lang="en-US" sz="1080" dirty="0"/>
          </a:p>
        </p:txBody>
      </p:sp>
      <p:sp>
        <p:nvSpPr>
          <p:cNvPr id="19" name="Text 17"/>
          <p:cNvSpPr/>
          <p:nvPr/>
        </p:nvSpPr>
        <p:spPr>
          <a:xfrm>
            <a:off x="1609204" y="2358851"/>
            <a:ext cx="1460145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위기 신호 분기 UX</a:t>
            </a:r>
            <a:endParaRPr lang="en-US" sz="1120" dirty="0"/>
          </a:p>
        </p:txBody>
      </p:sp>
      <p:sp>
        <p:nvSpPr>
          <p:cNvPr id="20" name="Shape 18"/>
          <p:cNvSpPr/>
          <p:nvPr/>
        </p:nvSpPr>
        <p:spPr>
          <a:xfrm>
            <a:off x="549511" y="2701082"/>
            <a:ext cx="5667375" cy="366712"/>
          </a:xfrm>
          <a:prstGeom prst="roundRect">
            <a:avLst>
              <a:gd name="adj" fmla="val 24935"/>
            </a:avLst>
          </a:prstGeom>
          <a:solidFill>
            <a:srgbClr val="FFFFFF"/>
          </a:solidFill>
          <a:ln/>
          <a:effectLst>
            <a:outerShdw blurRad="102870" dist="30861" dir="5400000" algn="bl" rotWithShape="0">
              <a:srgbClr val="4A443A">
                <a:alpha val="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907926" y="2791123"/>
            <a:ext cx="54925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4A443A"/>
                </a:solidFill>
                <a:highlight>
                  <a:srgbClr val="A2D2FF"/>
                </a:highlight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사이클</a:t>
            </a:r>
            <a:endParaRPr lang="en-US" sz="1080" dirty="0"/>
          </a:p>
        </p:txBody>
      </p:sp>
      <p:sp>
        <p:nvSpPr>
          <p:cNvPr id="22" name="Text 20"/>
          <p:cNvSpPr/>
          <p:nvPr/>
        </p:nvSpPr>
        <p:spPr>
          <a:xfrm>
            <a:off x="1609204" y="2782863"/>
            <a:ext cx="3337255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리마인더 ↔ 시간대 연동 · 완료율 분모 기준</a:t>
            </a:r>
            <a:endParaRPr lang="en-US" sz="1120" dirty="0"/>
          </a:p>
        </p:txBody>
      </p:sp>
      <p:sp>
        <p:nvSpPr>
          <p:cNvPr id="23" name="Shape 21"/>
          <p:cNvSpPr/>
          <p:nvPr/>
        </p:nvSpPr>
        <p:spPr>
          <a:xfrm>
            <a:off x="549511" y="3125093"/>
            <a:ext cx="5667375" cy="366712"/>
          </a:xfrm>
          <a:prstGeom prst="roundRect">
            <a:avLst>
              <a:gd name="adj" fmla="val 24935"/>
            </a:avLst>
          </a:prstGeom>
          <a:solidFill>
            <a:srgbClr val="FFFFFF"/>
          </a:solidFill>
          <a:ln/>
          <a:effectLst>
            <a:outerShdw blurRad="102870" dist="30861" dir="5400000" algn="bl" rotWithShape="0">
              <a:srgbClr val="4A443A">
                <a:alpha val="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907926" y="3215134"/>
            <a:ext cx="54925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4A443A"/>
                </a:solidFill>
                <a:highlight>
                  <a:srgbClr val="F4A261"/>
                </a:highlight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온보딩</a:t>
            </a:r>
            <a:endParaRPr lang="en-US" sz="1080" dirty="0"/>
          </a:p>
        </p:txBody>
      </p:sp>
      <p:sp>
        <p:nvSpPr>
          <p:cNvPr id="25" name="Text 23"/>
          <p:cNvSpPr/>
          <p:nvPr/>
        </p:nvSpPr>
        <p:spPr>
          <a:xfrm>
            <a:off x="1609204" y="3206874"/>
            <a:ext cx="3984144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인터페이스 5필드 스텁 합의 · 심각도 구간 보정 계획</a:t>
            </a:r>
            <a:endParaRPr lang="en-US" sz="1120" dirty="0"/>
          </a:p>
        </p:txBody>
      </p:sp>
      <p:sp>
        <p:nvSpPr>
          <p:cNvPr id="26" name="Shape 24"/>
          <p:cNvSpPr/>
          <p:nvPr/>
        </p:nvSpPr>
        <p:spPr>
          <a:xfrm>
            <a:off x="549511" y="3549104"/>
            <a:ext cx="5667375" cy="366712"/>
          </a:xfrm>
          <a:prstGeom prst="roundRect">
            <a:avLst>
              <a:gd name="adj" fmla="val 24935"/>
            </a:avLst>
          </a:prstGeom>
          <a:solidFill>
            <a:srgbClr val="FFFFFF"/>
          </a:solidFill>
          <a:ln/>
          <a:effectLst>
            <a:outerShdw blurRad="102870" dist="30861" dir="5400000" algn="bl" rotWithShape="0">
              <a:srgbClr val="4A443A">
                <a:alpha val="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826963" y="3639145"/>
            <a:ext cx="759663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FDFBF7"/>
                </a:solidFill>
                <a:highlight>
                  <a:srgbClr val="4A443A"/>
                </a:highlight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기관 연계</a:t>
            </a:r>
            <a:endParaRPr lang="en-US" sz="1080" dirty="0"/>
          </a:p>
        </p:txBody>
      </p:sp>
      <p:sp>
        <p:nvSpPr>
          <p:cNvPr id="28" name="Text 26"/>
          <p:cNvSpPr/>
          <p:nvPr/>
        </p:nvSpPr>
        <p:spPr>
          <a:xfrm>
            <a:off x="1609204" y="3630885"/>
            <a:ext cx="3143488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대시보드 동의 흐름 (동의 · 철회 · 미성년)</a:t>
            </a:r>
            <a:endParaRPr lang="en-US" sz="1120" dirty="0"/>
          </a:p>
        </p:txBody>
      </p:sp>
      <p:pic>
        <p:nvPicPr>
          <p:cNvPr id="2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7926" y="1737271"/>
            <a:ext cx="1371600" cy="1371600"/>
          </a:xfrm>
          <a:prstGeom prst="rect">
            <a:avLst/>
          </a:prstGeom>
        </p:spPr>
      </p:pic>
      <p:sp>
        <p:nvSpPr>
          <p:cNvPr id="30" name="Shape 27"/>
          <p:cNvSpPr/>
          <p:nvPr/>
        </p:nvSpPr>
        <p:spPr>
          <a:xfrm>
            <a:off x="8046132" y="1828167"/>
            <a:ext cx="366712" cy="366712"/>
          </a:xfrm>
          <a:prstGeom prst="roundRect">
            <a:avLst>
              <a:gd name="adj" fmla="val 24935"/>
            </a:avLst>
          </a:prstGeom>
          <a:solidFill>
            <a:srgbClr val="FFD55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8"/>
          <p:cNvSpPr/>
          <p:nvPr/>
        </p:nvSpPr>
        <p:spPr>
          <a:xfrm>
            <a:off x="6862640" y="3253776"/>
            <a:ext cx="1362246" cy="4639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78"/>
              </a:lnSpc>
              <a:buNone/>
            </a:pPr>
            <a:r>
              <a:rPr lang="en-US" sz="1370" b="1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조각 하나씩,</a:t>
            </a:r>
            <a:endParaRPr lang="en-US" sz="1370" dirty="0"/>
          </a:p>
          <a:p>
            <a:pPr marL="0" indent="0" algn="ctr">
              <a:lnSpc>
                <a:spcPts val="1778"/>
              </a:lnSpc>
              <a:buNone/>
            </a:pPr>
            <a:r>
              <a:rPr lang="en-US" sz="1370" b="1" dirty="0">
                <a:solidFill>
                  <a:srgbClr val="4A44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함께 맞춰가요</a:t>
            </a:r>
            <a:endParaRPr lang="en-US" sz="1370" dirty="0"/>
          </a:p>
        </p:txBody>
      </p:sp>
      <p:sp>
        <p:nvSpPr>
          <p:cNvPr id="32" name="Text 29"/>
          <p:cNvSpPr/>
          <p:nvPr/>
        </p:nvSpPr>
        <p:spPr>
          <a:xfrm>
            <a:off x="548580" y="4715917"/>
            <a:ext cx="2112645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8982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BA 챌린지 사이클 개선 보고</a:t>
            </a:r>
            <a:endParaRPr lang="en-US" sz="1080" dirty="0"/>
          </a:p>
        </p:txBody>
      </p:sp>
      <p:sp>
        <p:nvSpPr>
          <p:cNvPr id="33" name="Text 30"/>
          <p:cNvSpPr/>
          <p:nvPr/>
        </p:nvSpPr>
        <p:spPr>
          <a:xfrm>
            <a:off x="8159279" y="4715917"/>
            <a:ext cx="624133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8982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23 / 23</a:t>
            </a:r>
            <a:endParaRPr lang="en-US" sz="10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3229</Words>
  <Application>Microsoft Macintosh PowerPoint</Application>
  <PresentationFormat>화면 슬라이드 쇼(16:9)</PresentationFormat>
  <Paragraphs>633</Paragraphs>
  <Slides>23</Slides>
  <Notes>23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23</vt:i4>
      </vt:variant>
    </vt:vector>
  </HeadingPairs>
  <TitlesOfParts>
    <vt:vector size="26" baseType="lpstr">
      <vt:lpstr>Pretendard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이예슬</cp:lastModifiedBy>
  <cp:revision>2</cp:revision>
  <dcterms:created xsi:type="dcterms:W3CDTF">2026-07-22T13:07:00Z</dcterms:created>
  <dcterms:modified xsi:type="dcterms:W3CDTF">2026-07-22T13:25:50Z</dcterms:modified>
</cp:coreProperties>
</file>